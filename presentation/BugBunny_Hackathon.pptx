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[0:00 - 0:45] HOOK SLIDE</a:t>
            </a:r>
          </a:p>
          <a:p/>
          <a:p>
            <a:r>
              <a:t>Opening: "What if I told you that most of your security alerts were a complete waste of time?"</a:t>
            </a:r>
          </a:p>
          <a:p/>
          <a:p>
            <a:r>
              <a:t>Pause. Let it sink in.</a:t>
            </a:r>
          </a:p>
          <a:p/>
          <a:p>
            <a:r>
              <a:t>"That's the reality for development teams running static analysis today. Research consistently shows that the majority of SAST findings are false positives. Your security team is drowning in noise, and the real vulnerabilities are hiding in plain sight."</a:t>
            </a:r>
          </a:p>
          <a:p/>
          <a:p>
            <a:r>
              <a:t>"Today, we're going to show you how BugBunny changes that."</a:t>
            </a:r>
          </a:p>
          <a:p/>
          <a:p>
            <a:r>
              <a:t>Transition: "Let me show you exactly how bad the problem is..."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[0:45 - 1:45] THE PROBLEM</a:t>
            </a:r>
          </a:p>
          <a:p/>
          <a:p>
            <a:r>
              <a:t>"Let's talk numbers -- and these are from real research, not marketing."</a:t>
            </a:r>
          </a:p>
          <a:p/>
          <a:p>
            <a:r>
              <a:t>"Ghost Security's 2025 report scanned real open-source projects on GitHub and found that over 91 percent of SAST findings were false positives. For Python Flask apps, it was as high as 99.5 percent."</a:t>
            </a:r>
          </a:p>
          <a:p/>
          <a:p>
            <a:r>
              <a:t>"Ponemon Institute and Exabeam found in 2019 that security teams spend approximately 25 percent of their time chasing false positives. That's a quarter of your security team's capacity wasted on noise."</a:t>
            </a:r>
          </a:p>
          <a:p/>
          <a:p>
            <a:r>
              <a:t>"And when real vulnerabilities DO slip through? IBM's 2024 Cost of a Data Breach report puts the global average at $4.88 million per breach. In the US, it's over $9 million."</a:t>
            </a:r>
          </a:p>
          <a:p/>
          <a:p>
            <a:r>
              <a:t>"NIST's own SATE V study tested ten SAST tools and found false positive rates ranging from 3 to 78 percent depending on tool and language."</a:t>
            </a:r>
          </a:p>
          <a:p/>
          <a:p>
            <a:r>
              <a:t>"This creates a vicious cycle: alert fatigue, tool distrust, and real vulnerabilities slipping through."</a:t>
            </a:r>
          </a:p>
          <a:p/>
          <a:p>
            <a:r>
              <a:t>Transition: "Let me show you what BugBunny does about this..."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[1:45 - 2:35] DEMO RESULTS</a:t>
            </a:r>
          </a:p>
          <a:p/>
          <a:p>
            <a:r>
              <a:t>"Here's what BugBunny does in practice. We ran our full pipeline on a test codebase and this is the result."</a:t>
            </a:r>
          </a:p>
          <a:p/>
          <a:p>
            <a:r>
              <a:t>"On the left: 87 dots. That's the raw SAST output. Every single one of those would land in a developer's queue for manual review."</a:t>
            </a:r>
          </a:p>
          <a:p/>
          <a:p>
            <a:r>
              <a:t>"The red dots are false positives. The green dots are real, exploitable vulnerabilities. Notice how the real issues are completely buried in noise."</a:t>
            </a:r>
          </a:p>
          <a:p/>
          <a:p>
            <a:r>
              <a:t>"On the right -- after BugBunny's intelligence pipeline -- 12 confirmed vulnerabilities. Each one analyzed by AI, verified for exploitability, and where possible, validated at runtime."</a:t>
            </a:r>
          </a:p>
          <a:p/>
          <a:p>
            <a:r>
              <a:t>"That's 86% of the noise eliminated. And critically, zero real vulnerabilities were missed in this scan."</a:t>
            </a:r>
          </a:p>
          <a:p/>
          <a:p>
            <a:r>
              <a:t>"The key difference: AI triage processes each finding in seconds. Manual review of a single false positive takes 3 or more hours according to Contrast Security's 2021 research."</a:t>
            </a:r>
          </a:p>
          <a:p/>
          <a:p>
            <a:r>
              <a:t>Transition: "So how does BugBunny achieve this? Let me walk you through the pipeline..."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[2:35 - 3:50] THE INTELLIGENCE PIPELINE</a:t>
            </a:r>
          </a:p>
          <a:p/>
          <a:p>
            <a:r>
              <a:t>"BugBunny isn't just another scanner. It's a 7-stage intelligence pipeline that mimics how a senior security engineer would review findings."</a:t>
            </a:r>
          </a:p>
          <a:p/>
          <a:p>
            <a:r>
              <a:t>Walk through each stage:</a:t>
            </a:r>
          </a:p>
          <a:p>
            <a:r>
              <a:t>"Stage 1: SAST scanning with Semgrep and its library of over 3,000 rules. We cast a wide net to minimize blind spots."</a:t>
            </a:r>
          </a:p>
          <a:p/>
          <a:p>
            <a:r>
              <a:t>"Stage 2: Context extraction. We parse the AST, trace data flows, and understand HOW the code actually works -- not just pattern match."</a:t>
            </a:r>
          </a:p>
          <a:p/>
          <a:p>
            <a:r>
              <a:t>"Stage 3: AI Triage. This is our core differentiator. An LLM analyzes each finding with full code context and determines if it's actually exploitable."</a:t>
            </a:r>
          </a:p>
          <a:p/>
          <a:p>
            <a:r>
              <a:t>"Stage 4: Reachability analysis. Can an attacker actually REACH this code? We trace call graphs from public entry points."</a:t>
            </a:r>
          </a:p>
          <a:p/>
          <a:p>
            <a:r>
              <a:t>"Stage 5: Targeted DAST. For high-confidence findings, we use ZAP to actually try to exploit them at runtime. Proof, not theory."</a:t>
            </a:r>
          </a:p>
          <a:p/>
          <a:p>
            <a:r>
              <a:t>"Stage 6: Correlation engine. We cross-reference evidence from all stages to produce a final confidence score."</a:t>
            </a:r>
          </a:p>
          <a:p/>
          <a:p>
            <a:r>
              <a:t>"Stage 7: Action layer. AutoFix generates patches, we create PDF reports, and findings get stored in Pinecone for cross-project learning."</a:t>
            </a:r>
          </a:p>
          <a:p/>
          <a:p>
            <a:r>
              <a:t>Transition: "Let me deep-dive into two of our most innovative stages..."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[3:50 - 5:00] TARGETED DAST</a:t>
            </a:r>
          </a:p>
          <a:p/>
          <a:p>
            <a:r>
              <a:t>"This is one of our biggest differentiators. Most tools stop at static analysis. BugBunny doesn't just FIND potential vulnerabilities -- it PROVES they're exploitable."</a:t>
            </a:r>
          </a:p>
          <a:p/>
          <a:p>
            <a:r>
              <a:t>"On the left, a typical SAST finding: SQL injection in a search endpoint. But static analysis alone can't answer the critical questions: Is this endpoint reachable? Is the input user-controlled? Are there sanitizers?"</a:t>
            </a:r>
          </a:p>
          <a:p/>
          <a:p>
            <a:r>
              <a:t>"On the right -- BugBunny's targeted DAST. We spin up the application in a Docker container, and ZAP actually TRIES to exploit the finding. In this example, it confirms the SQL injection is exploitable."</a:t>
            </a:r>
          </a:p>
          <a:p/>
          <a:p>
            <a:r>
              <a:t>"The confidence escalation: Each stage adds evidence. SAST alone is low confidence. Add context, medium. Add AI triage, high. Add runtime DAST proof, and you have critical-level confidence."</a:t>
            </a:r>
          </a:p>
          <a:p/>
          <a:p>
            <a:r>
              <a:t>"This is real ZAP integration -- the service runs as a Docker container alongside our backend."</a:t>
            </a:r>
          </a:p>
          <a:p/>
          <a:p>
            <a:r>
              <a:t>Transition: "Now let me show you how the AI triage engine works..."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[5:00 - 6:00] AI TRIAGE ENGINE</a:t>
            </a:r>
          </a:p>
          <a:p/>
          <a:p>
            <a:r>
              <a:t>"Here's how the AI actually works. On the left, the prompt we send to the LLM. It's not just 'is this a vulnerability?' -- we provide FULL context."</a:t>
            </a:r>
          </a:p>
          <a:p/>
          <a:p>
            <a:r>
              <a:t>"We include the finding details, 50 lines of surrounding code, the complete data flow from input to sink, whether the entry point is public, and what sanitization exists."</a:t>
            </a:r>
          </a:p>
          <a:p/>
          <a:p>
            <a:r>
              <a:t>"On the right, the structured JSON response. It's not a simple yes/no -- it includes exploitability assessment, adjusted severity, confidence score, detailed reasoning, a concrete attack vector, AND a fix suggestion."</a:t>
            </a:r>
          </a:p>
          <a:p/>
          <a:p>
            <a:r>
              <a:t>"Our architecture is LLM-agnostic via OpenRouter -- we can swap between models based on cost, speed, or accuracy needs. The structured output format stays consistent regardless of which model handles the triage."</a:t>
            </a:r>
          </a:p>
          <a:p/>
          <a:p>
            <a:r>
              <a:t>"In this example, the AI escalated severity from HIGH to CRITICAL because the input flows directly into SQL without sanitization and the endpoint is public. That's analysis that would take a human security engineer 15-20 minutes. Our AI does it in seconds."</a:t>
            </a:r>
          </a:p>
          <a:p/>
          <a:p>
            <a:r>
              <a:t>Transition: "Now let me show you this in action..."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[6:00 - 6:45] DEMO - DASHBOARD</a:t>
            </a:r>
          </a:p>
          <a:p/>
          <a:p>
            <a:r>
              <a:t>"This is the BugBunny dashboard -- the command center for your security posture."</a:t>
            </a:r>
          </a:p>
          <a:p/>
          <a:p>
            <a:r>
              <a:t>"Key metrics at a glance: total scans, active issues, fixes applied, and risk score."</a:t>
            </a:r>
          </a:p>
          <a:p/>
          <a:p>
            <a:r>
              <a:t>"On the left, findings by severity -- only CONFIRMED findings. No noise."</a:t>
            </a:r>
          </a:p>
          <a:p/>
          <a:p>
            <a:r>
              <a:t>"On the right, real-time activity feed. Scans completing, AutoFix being applied, reports generated."</a:t>
            </a:r>
          </a:p>
          <a:p/>
          <a:p>
            <a:r>
              <a:t>"The frontend is React with TypeScript and TailwindCSS, with real-time updates via Supabase subscriptions."</a:t>
            </a:r>
          </a:p>
          <a:p/>
          <a:p>
            <a:r>
              <a:t>Transition: "Let me show you how easy it is to trigger a scan..."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[6:45 - 7:30] DEMO - SCAN TRIGGER</a:t>
            </a:r>
          </a:p>
          <a:p/>
          <a:p>
            <a:r>
              <a:t>"Triggering a scan is simple. Enter your repo URL, select a branch, choose your scan profile, and hit Start."</a:t>
            </a:r>
          </a:p>
          <a:p/>
          <a:p>
            <a:r>
              <a:t>"Full Pipeline mode runs SAST, AI triage, AND targeted DAST. Quick Scan runs just SAST + AI triage for speed."</a:t>
            </a:r>
          </a:p>
          <a:p/>
          <a:p>
            <a:r>
              <a:t>"On the right, the pipeline executing in real-time. Each stage reports progress."</a:t>
            </a:r>
          </a:p>
          <a:p/>
          <a:p>
            <a:r>
              <a:t>"Notice the timing: SAST scan 45 seconds, context extraction 12 seconds, AI triage 90 seconds for 87 findings. The full pipeline typically completes in under 5 minutes."</a:t>
            </a:r>
          </a:p>
          <a:p/>
          <a:p>
            <a:r>
              <a:t>Transition: "Now let's look at the results..."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[7:30 - 8:15] DEMO - RESULTS</a:t>
            </a:r>
          </a:p>
          <a:p/>
          <a:p>
            <a:r>
              <a:t>"Each finding card includes the AI's reasoning -- not just a severity label."</a:t>
            </a:r>
          </a:p>
          <a:p/>
          <a:p>
            <a:r>
              <a:t>"SQL injection on the left: the AI explains WHY it's critical -- direct input flow, no sanitization, public endpoint. DAST confirmed it. 99% confidence."</a:t>
            </a:r>
          </a:p>
          <a:p/>
          <a:p>
            <a:r>
              <a:t>"XSS on the right: similar depth. AI notes the endpoint is authenticated but any user can exploit it."</a:t>
            </a:r>
          </a:p>
          <a:p/>
          <a:p>
            <a:r>
              <a:t>"The bottom section is equally important: 75 findings dismissed, each with reasoning. Hardcoded secret? It's in a test file. Path traversal? Middleware validates. This is the noise BugBunny eliminates."</a:t>
            </a:r>
          </a:p>
          <a:p/>
          <a:p>
            <a:r>
              <a:t>Transition: "When we find a real vulnerability, BugBunny also fixes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[8:15 - 9:00] DEMO - AUTOFIX &amp; REPORTS</a:t>
            </a:r>
          </a:p>
          <a:p/>
          <a:p>
            <a:r>
              <a:t>"BugBunny doesn't just find problems -- it fixes them. AutoFix uses AI to generate secure patches with built-in playbooks for common vulnerability types: SQL injection, XSS, command injection, SSRF, path traversal."</a:t>
            </a:r>
          </a:p>
          <a:p/>
          <a:p>
            <a:r>
              <a:t>"In this example: SQL injection fixed by switching to parameterized queries. The fix is validated by re-scanning. The diff is available for code review before merging -- it can even create a GitHub PR automatically."</a:t>
            </a:r>
          </a:p>
          <a:p/>
          <a:p>
            <a:r>
              <a:t>"On the right, our PDF compliance report built with ReportLab. Executive summary, risk scoring, detailed findings with the complete evidence chain. Each finding includes SAST source, AI reasoning, DAST proof, and fix suggestions."</a:t>
            </a:r>
          </a:p>
          <a:p/>
          <a:p>
            <a:r>
              <a:t>"We export in PDF for compliance teams, JSON and SARIF for CI/CD integration, CSV for custom analysis."</a:t>
            </a:r>
          </a:p>
          <a:p/>
          <a:p>
            <a:r>
              <a:t>Transition: "Let me show you how Pinecone powers our semantic intelligence..."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[9:00 - 9:45] SEMANTIC INTELLIGENCE</a:t>
            </a:r>
          </a:p>
          <a:p/>
          <a:p>
            <a:r>
              <a:t>"BugBunny gets smarter with every scan, powered by Pinecone vector search."</a:t>
            </a:r>
          </a:p>
          <a:p/>
          <a:p>
            <a:r>
              <a:t>"We maintain three indexes -- and these are the actual index names from our codebase:"</a:t>
            </a:r>
          </a:p>
          <a:p/>
          <a:p>
            <a:r>
              <a:t>"scanguard-bugs: Every finding gets embedded using the all-MiniLM-L6-v2 sentence transformer model. When a new finding comes in, we search for semantically similar past findings and merge duplicates instead of creating noise."</a:t>
            </a:r>
          </a:p>
          <a:p/>
          <a:p>
            <a:r>
              <a:t>"scanguard-patterns: Successful fix patterns are stored so we can suggest proven fixes for similar vulnerabilities, even across different projects."</a:t>
            </a:r>
          </a:p>
          <a:p/>
          <a:p>
            <a:r>
              <a:t>"scanguard-project-memory: This remembers your project's architecture and tracks which findings you've resolved as false positives. Over time, BugBunny adapts to your specific codebase and generates fewer false positives."</a:t>
            </a:r>
          </a:p>
          <a:p/>
          <a:p>
            <a:r>
              <a:t>Transition: "Let me show you the complete lifecycle..."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[9:45 - 10:30] COMPLETE LIFECYCLE</a:t>
            </a:r>
          </a:p>
          <a:p/>
          <a:p>
            <a:r>
              <a:t>"Here's the complete BugBunny lifecycle in five stages."</a:t>
            </a:r>
          </a:p>
          <a:p/>
          <a:p>
            <a:r>
              <a:t>"DETECT -- under 60 seconds. Semgrep scans your codebase with thousands of rules."</a:t>
            </a:r>
          </a:p>
          <a:p>
            <a:r>
              <a:t>"UNDERSTAND -- under 90 seconds. AI analyzes every finding with full context."</a:t>
            </a:r>
          </a:p>
          <a:p>
            <a:r>
              <a:t>"VERIFY -- under 2 minutes. ZAP DAST validates exploitability at runtime."</a:t>
            </a:r>
          </a:p>
          <a:p>
            <a:r>
              <a:t>"FIX -- under 30 seconds. AutoFix generates secure patches with vulnerability-specific playbooks."</a:t>
            </a:r>
          </a:p>
          <a:p>
            <a:r>
              <a:t>"REPORT -- under 15 seconds. PDF and SARIF reports for compliance teams."</a:t>
            </a:r>
          </a:p>
          <a:p/>
          <a:p>
            <a:r>
              <a:t>"Total: under 5 minutes. From code to a verified, actionable security report. Compare that to Contrast Security's 2021 finding that teams spend 3+ hours investigating a SINGLE false positive."</a:t>
            </a:r>
          </a:p>
          <a:p/>
          <a:p>
            <a:r>
              <a:t>Transition: "Let me show you the tech stack..."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[10:30 - 11:20] TECH STACK</a:t>
            </a:r>
          </a:p>
          <a:p/>
          <a:p>
            <a:r>
              <a:t>"BugBunny is built for production."</a:t>
            </a:r>
          </a:p>
          <a:p/>
          <a:p>
            <a:r>
              <a:t>"Frontend: React with TypeScript and TailwindCSS. Real-time dashboard via Supabase subscriptions."</a:t>
            </a:r>
          </a:p>
          <a:p/>
          <a:p>
            <a:r>
              <a:t>"Backend: FastAPI with Supabase authentication. Pipeline orchestration with progress callbacks."</a:t>
            </a:r>
          </a:p>
          <a:p/>
          <a:p>
            <a:r>
              <a:t>"Intelligence Layer: This is our core. LLM triage via OpenRouter -- which means we're model-agnostic and can swap between Gemini, Claude, GPT, or open-source models. Pinecone for semantic search. Semgrep for SAST. ZAP for DAST."</a:t>
            </a:r>
          </a:p>
          <a:p/>
          <a:p>
            <a:r>
              <a:t>"Infrastructure: Docker Compose for one-command deployment. Supabase for PostgreSQL with real-time subscriptions. GitHub API for repository access."</a:t>
            </a:r>
          </a:p>
          <a:p/>
          <a:p>
            <a:r>
              <a:t>"Key architectural decision: LLM-agnostic design via OpenRouter. We're not locked into any single AI provider."</a:t>
            </a:r>
          </a:p>
          <a:p/>
          <a:p>
            <a:r>
              <a:t>Transition: "Let me show how this maps to the hackathon tracks..."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[11:20 - 12:05] TRACK ALIGNMENT</a:t>
            </a:r>
          </a:p>
          <a:p/>
          <a:p>
            <a:r>
              <a:t>"Let me map BugBunny to the hackathon tracks."</a:t>
            </a:r>
          </a:p>
          <a:p/>
          <a:p>
            <a:r>
              <a:t>"Track 1 -- AI Applications -- at about 70% of our innovation. AI-powered triage, context-aware analysis, AI-generated fixes, semantic search via Pinecone, structured output, and progressive learning. Importantly, we're LLM-agnostic via OpenRouter."</a:t>
            </a:r>
          </a:p>
          <a:p/>
          <a:p>
            <a:r>
              <a:t>"Track 4 -- Security -- at 30%. Semgrep SAST with over 3,000 rules, targeted DAST with ZAP, OWASP Top 10 coverage, compliance reporting, reachability analysis, and secure containerized execution."</a:t>
            </a:r>
          </a:p>
          <a:p/>
          <a:p>
            <a:r>
              <a:t>"Every green checkmark represents a feature that's implemented and working in our codebase."</a:t>
            </a:r>
          </a:p>
          <a:p/>
          <a:p>
            <a:r>
              <a:t>Transition: "How does BugBunny compare to what's out there?"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[12:05 - 13:00] COMPETITIVE COMPARISON</a:t>
            </a:r>
          </a:p>
          <a:p/>
          <a:p>
            <a:r>
              <a:t>"How does BugBunny compare to existing tools?"</a:t>
            </a:r>
          </a:p>
          <a:p/>
          <a:p>
            <a:r>
              <a:t>"Semgrep: excellent SAST, but no AI triage, no DAST. Ghost Security's 2025 study showed up to 91% false positives on default rulesets."</a:t>
            </a:r>
          </a:p>
          <a:p/>
          <a:p>
            <a:r>
              <a:t>"Snyk adds fix suggestions and reachability, but no AI triage, no DAST validation."</a:t>
            </a:r>
          </a:p>
          <a:p/>
          <a:p>
            <a:r>
              <a:t>"SonarQube: great for code quality, limited security context. No AI, no DAST."</a:t>
            </a:r>
          </a:p>
          <a:p/>
          <a:p>
            <a:r>
              <a:t>"LLM wrappers: They bolt AI on top of SAST, but without runtime validation, without semantic dedup, without the full pipeline."</a:t>
            </a:r>
          </a:p>
          <a:p/>
          <a:p>
            <a:r>
              <a:t>"BugBunny uniquely combines SAST, AI triage, targeted DAST, reachability, AutoFix, semantic dedup, AND compliance reporting in one pipeline."</a:t>
            </a:r>
          </a:p>
          <a:p/>
          <a:p>
            <a:r>
              <a:t>"Important note on the false positive row: those rates are from published research on tools with default configs, not vendor marketing numbers."</a:t>
            </a:r>
          </a:p>
          <a:p/>
          <a:p>
            <a:r>
              <a:t>Transition: "Let me summarize the impact..."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[13:00 - 13:45] IMPACT METRICS</a:t>
            </a:r>
          </a:p>
          <a:p/>
          <a:p>
            <a:r>
              <a:t>"Let me walk through the numbers honestly."</a:t>
            </a:r>
          </a:p>
          <a:p/>
          <a:p>
            <a:r>
              <a:t>"86% noise removed: In our demo pipeline scan, 75 of 87 SAST findings were eliminated as false positives with AI reasoning."</a:t>
            </a:r>
          </a:p>
          <a:p/>
          <a:p>
            <a:r>
              <a:t>"12 confirmed vulnerabilities: Each with detailed AI analysis, severity assessment, and evidence chain."</a:t>
            </a:r>
          </a:p>
          <a:p/>
          <a:p>
            <a:r>
              <a:t>"7 pipeline stages: From SAST scan to final report, each adding intelligence."</a:t>
            </a:r>
          </a:p>
          <a:p/>
          <a:p>
            <a:r>
              <a:t>"Under 5 minutes end-to-end: For the full pipeline including DAST."</a:t>
            </a:r>
          </a:p>
          <a:p/>
          <a:p>
            <a:r>
              <a:t>"And here's the industry context: Contrast Security's 2021 research found that 81% of teams spend 3 or more hours investigating a SINGLE false positive. If that holds, eliminating 75 false positives saves over 225 hours of manual review."</a:t>
            </a:r>
          </a:p>
          <a:p/>
          <a:p>
            <a:r>
              <a:t>"We're not claiming made-up ROI numbers. We're showing you verifiable pipeline results combined with published industry research."</a:t>
            </a:r>
          </a:p>
          <a:p/>
          <a:p>
            <a:r>
              <a:t>Transition: "Let me leave you with our vision..."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[13:45 - 15:00] CLOSING</a:t>
            </a:r>
          </a:p>
          <a:p/>
          <a:p>
            <a:r>
              <a:t>"BugBunny: Static Analysis That Actually Works."</a:t>
            </a:r>
          </a:p>
          <a:p/>
          <a:p>
            <a:r>
              <a:t>"We've shown you a platform that reduces SAST noise by 86% in our demo pipeline, combines AI triage with runtime verification -- something no other tool does -- and delivers results in under 5 minutes."</a:t>
            </a:r>
          </a:p>
          <a:p/>
          <a:p>
            <a:r>
              <a:t>"Our roadmap includes IDE plugins for real-time scanning, CI/CD integration, organizational dashboards, and custom compliance rules."</a:t>
            </a:r>
          </a:p>
          <a:p/>
          <a:p>
            <a:r>
              <a:t>"We're Team CSIS. We built BugBunny because security tools should help developers, not drown them in noise."</a:t>
            </a:r>
          </a:p>
          <a:p/>
          <a:p>
            <a:r>
              <a:t>"Thank you. We'd love your questions."</a:t>
            </a:r>
          </a:p>
          <a:p/>
          <a:p>
            <a:r>
              <a:t>[Be ready for questions about:]</a:t>
            </a:r>
          </a:p>
          <a:p>
            <a:r>
              <a:t>- AI model choice: We use OpenRouter (currently Gemini Flash) -- model-agnostic by design</a:t>
            </a:r>
          </a:p>
          <a:p>
            <a:r>
              <a:t>- The 87-to-12 demo data: Transparent about it being our demo pipeline result</a:t>
            </a:r>
          </a:p>
          <a:p>
            <a:r>
              <a:t>- ZAP DAST safety: Runs in Docker containers, isolated environment</a:t>
            </a:r>
          </a:p>
          <a:p>
            <a:r>
              <a:t>- Pinecone scaling: Three indexes, sentence-transformer embeddings</a:t>
            </a:r>
          </a:p>
          <a:p>
            <a:r>
              <a:t>- Language support: Semgrep covers 30+ languages</a:t>
            </a:r>
          </a:p>
          <a:p>
            <a:r>
              <a:t>- Why not just use Snyk/Semgrep Pro? We add AI triage + DAST + semantic dedup layer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184648" y="731520"/>
            <a:ext cx="1828800" cy="1828800"/>
          </a:xfrm>
          <a:prstGeom prst="rect">
            <a:avLst/>
          </a:prstGeom>
        </p:spPr>
      </p:pic>
      <p:sp>
        <p:nvSpPr>
          <p:cNvPr id="4" name="TextBox 3"/>
          <p:cNvSpPr txBox="1"/>
          <p:nvPr/>
        </p:nvSpPr>
        <p:spPr>
          <a:xfrm>
            <a:off x="914400" y="2743200"/>
            <a:ext cx="10362895" cy="1097280"/>
          </a:xfrm>
          <a:prstGeom prst="rect">
            <a:avLst/>
          </a:prstGeom>
          <a:noFill/>
        </p:spPr>
        <p:txBody>
          <a:bodyPr wrap="square"/>
          <a:lstStyle/>
          <a:p>
            <a:pPr algn="ctr">
              <a:defRPr sz="4000" b="1">
                <a:solidFill>
                  <a:srgbClr val="00E676"/>
                </a:solidFill>
                <a:latin typeface="Calibri"/>
              </a:defRPr>
            </a:pPr>
            <a:r>
              <a:t>"What if most of your security alerts</a:t>
            </a:r>
            <a:br/>
            <a:r>
              <a:t>were a waste of time?"</a:t>
            </a:r>
          </a:p>
        </p:txBody>
      </p:sp>
      <p:sp>
        <p:nvSpPr>
          <p:cNvPr id="5" name="TextBox 4"/>
          <p:cNvSpPr txBox="1"/>
          <p:nvPr/>
        </p:nvSpPr>
        <p:spPr>
          <a:xfrm>
            <a:off x="914400" y="4023360"/>
            <a:ext cx="10362895" cy="548640"/>
          </a:xfrm>
          <a:prstGeom prst="rect">
            <a:avLst/>
          </a:prstGeom>
          <a:noFill/>
        </p:spPr>
        <p:txBody>
          <a:bodyPr wrap="square"/>
          <a:lstStyle/>
          <a:p>
            <a:pPr algn="ctr">
              <a:defRPr sz="2800" b="1">
                <a:solidFill>
                  <a:srgbClr val="FFFFFF"/>
                </a:solidFill>
                <a:latin typeface="Calibri"/>
              </a:defRPr>
            </a:pPr>
            <a:r>
              <a:t>For most teams, they are.</a:t>
            </a:r>
          </a:p>
        </p:txBody>
      </p:sp>
      <p:sp>
        <p:nvSpPr>
          <p:cNvPr id="6" name="TextBox 5"/>
          <p:cNvSpPr txBox="1"/>
          <p:nvPr/>
        </p:nvSpPr>
        <p:spPr>
          <a:xfrm>
            <a:off x="914400" y="4663440"/>
            <a:ext cx="10362895" cy="457200"/>
          </a:xfrm>
          <a:prstGeom prst="rect">
            <a:avLst/>
          </a:prstGeom>
          <a:noFill/>
        </p:spPr>
        <p:txBody>
          <a:bodyPr wrap="square"/>
          <a:lstStyle/>
          <a:p>
            <a:pPr algn="ctr">
              <a:defRPr sz="1800" b="0">
                <a:solidFill>
                  <a:srgbClr val="AAAAAA"/>
                </a:solidFill>
                <a:latin typeface="Calibri"/>
              </a:defRPr>
            </a:pPr>
            <a:r>
              <a:t>Meet BugBunny — the AI-powered security platform that eliminates the noise.</a:t>
            </a:r>
          </a:p>
        </p:txBody>
      </p:sp>
      <p:sp>
        <p:nvSpPr>
          <p:cNvPr id="7" name="Rounded Rectangle 6"/>
          <p:cNvSpPr/>
          <p:nvPr/>
        </p:nvSpPr>
        <p:spPr>
          <a:xfrm>
            <a:off x="4114800" y="5394960"/>
            <a:ext cx="1828800" cy="347472"/>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5394960"/>
            <a:ext cx="1828800" cy="347472"/>
          </a:xfrm>
          <a:prstGeom prst="rect">
            <a:avLst/>
          </a:prstGeom>
          <a:noFill/>
        </p:spPr>
        <p:txBody>
          <a:bodyPr wrap="square"/>
          <a:lstStyle/>
          <a:p>
            <a:pPr algn="ctr">
              <a:defRPr sz="1100" b="1">
                <a:solidFill>
                  <a:srgbClr val="00E676"/>
                </a:solidFill>
                <a:latin typeface="Calibri"/>
              </a:defRPr>
            </a:pPr>
            <a:r>
              <a:t>Track 1: AI Apps</a:t>
            </a:r>
          </a:p>
        </p:txBody>
      </p:sp>
      <p:sp>
        <p:nvSpPr>
          <p:cNvPr id="9" name="Rounded Rectangle 8"/>
          <p:cNvSpPr/>
          <p:nvPr/>
        </p:nvSpPr>
        <p:spPr>
          <a:xfrm>
            <a:off x="6217920" y="5394960"/>
            <a:ext cx="2011680" cy="347472"/>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5394960"/>
            <a:ext cx="2011680" cy="347472"/>
          </a:xfrm>
          <a:prstGeom prst="rect">
            <a:avLst/>
          </a:prstGeom>
          <a:noFill/>
        </p:spPr>
        <p:txBody>
          <a:bodyPr wrap="square"/>
          <a:lstStyle/>
          <a:p>
            <a:pPr algn="ctr">
              <a:defRPr sz="1100" b="1">
                <a:solidFill>
                  <a:srgbClr val="00E676"/>
                </a:solidFill>
                <a:latin typeface="Calibri"/>
              </a:defRPr>
            </a:pPr>
            <a:r>
              <a:t>Track 4: Security</a:t>
            </a:r>
          </a:p>
        </p:txBody>
      </p:sp>
      <p:sp>
        <p:nvSpPr>
          <p:cNvPr id="11" name="TextBox 10"/>
          <p:cNvSpPr txBox="1"/>
          <p:nvPr/>
        </p:nvSpPr>
        <p:spPr>
          <a:xfrm>
            <a:off x="914400" y="5943600"/>
            <a:ext cx="10362895" cy="457200"/>
          </a:xfrm>
          <a:prstGeom prst="rect">
            <a:avLst/>
          </a:prstGeom>
          <a:noFill/>
        </p:spPr>
        <p:txBody>
          <a:bodyPr wrap="square"/>
          <a:lstStyle/>
          <a:p>
            <a:pPr algn="ctr">
              <a:defRPr sz="2200" b="1">
                <a:solidFill>
                  <a:srgbClr val="FFFFFF"/>
                </a:solidFill>
                <a:latin typeface="Calibri"/>
              </a:defRPr>
            </a:pPr>
            <a:r>
              <a:t>Team CSIS</a:t>
            </a:r>
          </a:p>
        </p:txBody>
      </p:sp>
      <p:sp>
        <p:nvSpPr>
          <p:cNvPr id="12" name="Rectangle 11"/>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4" name="TextBox 13"/>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572767"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572767" cy="292608"/>
          </a:xfrm>
          <a:prstGeom prst="rect">
            <a:avLst/>
          </a:prstGeom>
          <a:noFill/>
        </p:spPr>
        <p:txBody>
          <a:bodyPr wrap="square"/>
          <a:lstStyle/>
          <a:p>
            <a:pPr algn="ctr">
              <a:defRPr sz="1000" b="1">
                <a:solidFill>
                  <a:srgbClr val="00E676"/>
                </a:solidFill>
                <a:latin typeface="Calibri"/>
              </a:defRPr>
            </a:pPr>
            <a:r>
              <a:t>THE PROBLEM</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The False Positive Tax</a:t>
            </a:r>
          </a:p>
        </p:txBody>
      </p:sp>
      <p:sp>
        <p:nvSpPr>
          <p:cNvPr id="5" name="TextBox 4"/>
          <p:cNvSpPr txBox="1"/>
          <p:nvPr/>
        </p:nvSpPr>
        <p:spPr>
          <a:xfrm>
            <a:off x="548640" y="1325880"/>
            <a:ext cx="10972800" cy="365760"/>
          </a:xfrm>
          <a:prstGeom prst="rect">
            <a:avLst/>
          </a:prstGeom>
          <a:noFill/>
        </p:spPr>
        <p:txBody>
          <a:bodyPr wrap="square"/>
          <a:lstStyle/>
          <a:p>
            <a:pPr algn="l">
              <a:defRPr sz="1600" b="0">
                <a:solidFill>
                  <a:srgbClr val="AAAAAA"/>
                </a:solidFill>
                <a:latin typeface="Calibri"/>
              </a:defRPr>
            </a:pPr>
            <a:r>
              <a:t>Every engineering team pays it. The research quantifies how much.</a:t>
            </a:r>
          </a:p>
        </p:txBody>
      </p:sp>
      <p:sp>
        <p:nvSpPr>
          <p:cNvPr id="6" name="Rounded Rectangle 5"/>
          <p:cNvSpPr/>
          <p:nvPr/>
        </p:nvSpPr>
        <p:spPr>
          <a:xfrm>
            <a:off x="548640" y="2011680"/>
            <a:ext cx="3474720" cy="22860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2926080" cy="731520"/>
          </a:xfrm>
          <a:prstGeom prst="rect">
            <a:avLst/>
          </a:prstGeom>
          <a:noFill/>
        </p:spPr>
        <p:txBody>
          <a:bodyPr wrap="square"/>
          <a:lstStyle/>
          <a:p>
            <a:pPr algn="ctr">
              <a:defRPr sz="4400" b="1">
                <a:solidFill>
                  <a:srgbClr val="00E676"/>
                </a:solidFill>
                <a:latin typeface="Calibri"/>
              </a:defRPr>
            </a:pPr>
            <a:r>
              <a:t>Up to 91%</a:t>
            </a:r>
          </a:p>
        </p:txBody>
      </p:sp>
      <p:sp>
        <p:nvSpPr>
          <p:cNvPr id="8" name="TextBox 7"/>
          <p:cNvSpPr txBox="1"/>
          <p:nvPr/>
        </p:nvSpPr>
        <p:spPr>
          <a:xfrm>
            <a:off x="822960" y="3108960"/>
            <a:ext cx="2926080" cy="731520"/>
          </a:xfrm>
          <a:prstGeom prst="rect">
            <a:avLst/>
          </a:prstGeom>
          <a:noFill/>
        </p:spPr>
        <p:txBody>
          <a:bodyPr wrap="square"/>
          <a:lstStyle/>
          <a:p>
            <a:pPr algn="ctr">
              <a:defRPr sz="1600" b="0">
                <a:solidFill>
                  <a:srgbClr val="FFFFFF"/>
                </a:solidFill>
                <a:latin typeface="Calibri"/>
              </a:defRPr>
            </a:pPr>
            <a:r>
              <a:t>of SAST findings are</a:t>
            </a:r>
            <a:br/>
            <a:r>
              <a:t>false positives</a:t>
            </a:r>
          </a:p>
        </p:txBody>
      </p:sp>
      <p:sp>
        <p:nvSpPr>
          <p:cNvPr id="9" name="TextBox 8"/>
          <p:cNvSpPr txBox="1"/>
          <p:nvPr/>
        </p:nvSpPr>
        <p:spPr>
          <a:xfrm>
            <a:off x="822960" y="3840480"/>
            <a:ext cx="2926080" cy="320040"/>
          </a:xfrm>
          <a:prstGeom prst="rect">
            <a:avLst/>
          </a:prstGeom>
          <a:noFill/>
        </p:spPr>
        <p:txBody>
          <a:bodyPr wrap="square"/>
          <a:lstStyle/>
          <a:p>
            <a:pPr algn="ctr">
              <a:defRPr sz="1100" b="0">
                <a:solidFill>
                  <a:srgbClr val="AAAAAA"/>
                </a:solidFill>
                <a:latin typeface="Calibri"/>
              </a:defRPr>
            </a:pPr>
            <a:r>
              <a:t>Ghost Security, 2025</a:t>
            </a:r>
          </a:p>
        </p:txBody>
      </p:sp>
      <p:sp>
        <p:nvSpPr>
          <p:cNvPr id="10" name="Rounded Rectangle 9"/>
          <p:cNvSpPr/>
          <p:nvPr/>
        </p:nvSpPr>
        <p:spPr>
          <a:xfrm>
            <a:off x="4297679" y="2011680"/>
            <a:ext cx="3474720" cy="22860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1999" y="2286000"/>
            <a:ext cx="2926080" cy="731520"/>
          </a:xfrm>
          <a:prstGeom prst="rect">
            <a:avLst/>
          </a:prstGeom>
          <a:noFill/>
        </p:spPr>
        <p:txBody>
          <a:bodyPr wrap="square"/>
          <a:lstStyle/>
          <a:p>
            <a:pPr algn="ctr">
              <a:defRPr sz="4400" b="1">
                <a:solidFill>
                  <a:srgbClr val="00E676"/>
                </a:solidFill>
                <a:latin typeface="Calibri"/>
              </a:defRPr>
            </a:pPr>
            <a:r>
              <a:t>25%</a:t>
            </a:r>
          </a:p>
        </p:txBody>
      </p:sp>
      <p:sp>
        <p:nvSpPr>
          <p:cNvPr id="12" name="TextBox 11"/>
          <p:cNvSpPr txBox="1"/>
          <p:nvPr/>
        </p:nvSpPr>
        <p:spPr>
          <a:xfrm>
            <a:off x="4571999" y="3108960"/>
            <a:ext cx="2926080" cy="731520"/>
          </a:xfrm>
          <a:prstGeom prst="rect">
            <a:avLst/>
          </a:prstGeom>
          <a:noFill/>
        </p:spPr>
        <p:txBody>
          <a:bodyPr wrap="square"/>
          <a:lstStyle/>
          <a:p>
            <a:pPr algn="ctr">
              <a:defRPr sz="1600" b="0">
                <a:solidFill>
                  <a:srgbClr val="FFFFFF"/>
                </a:solidFill>
                <a:latin typeface="Calibri"/>
              </a:defRPr>
            </a:pPr>
            <a:r>
              <a:t>of security team time</a:t>
            </a:r>
            <a:br/>
            <a:r>
              <a:t>spent chasing false positives</a:t>
            </a:r>
          </a:p>
        </p:txBody>
      </p:sp>
      <p:sp>
        <p:nvSpPr>
          <p:cNvPr id="13" name="TextBox 12"/>
          <p:cNvSpPr txBox="1"/>
          <p:nvPr/>
        </p:nvSpPr>
        <p:spPr>
          <a:xfrm>
            <a:off x="4571999" y="3840480"/>
            <a:ext cx="2926080" cy="320040"/>
          </a:xfrm>
          <a:prstGeom prst="rect">
            <a:avLst/>
          </a:prstGeom>
          <a:noFill/>
        </p:spPr>
        <p:txBody>
          <a:bodyPr wrap="square"/>
          <a:lstStyle/>
          <a:p>
            <a:pPr algn="ctr">
              <a:defRPr sz="1100" b="0">
                <a:solidFill>
                  <a:srgbClr val="AAAAAA"/>
                </a:solidFill>
                <a:latin typeface="Calibri"/>
              </a:defRPr>
            </a:pPr>
            <a:r>
              <a:t>Ponemon / Exabeam, 2019</a:t>
            </a:r>
          </a:p>
        </p:txBody>
      </p:sp>
      <p:sp>
        <p:nvSpPr>
          <p:cNvPr id="14" name="Rounded Rectangle 13"/>
          <p:cNvSpPr/>
          <p:nvPr/>
        </p:nvSpPr>
        <p:spPr>
          <a:xfrm>
            <a:off x="8046719" y="2011680"/>
            <a:ext cx="3474720" cy="22860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39" y="2286000"/>
            <a:ext cx="2926080" cy="731520"/>
          </a:xfrm>
          <a:prstGeom prst="rect">
            <a:avLst/>
          </a:prstGeom>
          <a:noFill/>
        </p:spPr>
        <p:txBody>
          <a:bodyPr wrap="square"/>
          <a:lstStyle/>
          <a:p>
            <a:pPr algn="ctr">
              <a:defRPr sz="4400" b="1">
                <a:solidFill>
                  <a:srgbClr val="00E676"/>
                </a:solidFill>
                <a:latin typeface="Calibri"/>
              </a:defRPr>
            </a:pPr>
            <a:r>
              <a:t>$4.88M</a:t>
            </a:r>
          </a:p>
        </p:txBody>
      </p:sp>
      <p:sp>
        <p:nvSpPr>
          <p:cNvPr id="16" name="TextBox 15"/>
          <p:cNvSpPr txBox="1"/>
          <p:nvPr/>
        </p:nvSpPr>
        <p:spPr>
          <a:xfrm>
            <a:off x="8321039" y="3108960"/>
            <a:ext cx="2926080" cy="731520"/>
          </a:xfrm>
          <a:prstGeom prst="rect">
            <a:avLst/>
          </a:prstGeom>
          <a:noFill/>
        </p:spPr>
        <p:txBody>
          <a:bodyPr wrap="square"/>
          <a:lstStyle/>
          <a:p>
            <a:pPr algn="ctr">
              <a:defRPr sz="1600" b="0">
                <a:solidFill>
                  <a:srgbClr val="FFFFFF"/>
                </a:solidFill>
                <a:latin typeface="Calibri"/>
              </a:defRPr>
            </a:pPr>
            <a:r>
              <a:t>average cost of</a:t>
            </a:r>
            <a:br/>
            <a:r>
              <a:t>a data breach globally</a:t>
            </a:r>
          </a:p>
        </p:txBody>
      </p:sp>
      <p:sp>
        <p:nvSpPr>
          <p:cNvPr id="17" name="TextBox 16"/>
          <p:cNvSpPr txBox="1"/>
          <p:nvPr/>
        </p:nvSpPr>
        <p:spPr>
          <a:xfrm>
            <a:off x="8321039" y="3840480"/>
            <a:ext cx="2926080" cy="320040"/>
          </a:xfrm>
          <a:prstGeom prst="rect">
            <a:avLst/>
          </a:prstGeom>
          <a:noFill/>
        </p:spPr>
        <p:txBody>
          <a:bodyPr wrap="square"/>
          <a:lstStyle/>
          <a:p>
            <a:pPr algn="ctr">
              <a:defRPr sz="1100" b="0">
                <a:solidFill>
                  <a:srgbClr val="AAAAAA"/>
                </a:solidFill>
                <a:latin typeface="Calibri"/>
              </a:defRPr>
            </a:pPr>
            <a:r>
              <a:t>IBM / Ponemon, 2024</a:t>
            </a:r>
          </a:p>
        </p:txBody>
      </p:sp>
      <p:sp>
        <p:nvSpPr>
          <p:cNvPr id="18" name="TextBox 17"/>
          <p:cNvSpPr txBox="1"/>
          <p:nvPr/>
        </p:nvSpPr>
        <p:spPr>
          <a:xfrm>
            <a:off x="731520" y="4572000"/>
            <a:ext cx="10058400" cy="365760"/>
          </a:xfrm>
          <a:prstGeom prst="rect">
            <a:avLst/>
          </a:prstGeom>
          <a:noFill/>
        </p:spPr>
        <p:txBody>
          <a:bodyPr wrap="square"/>
          <a:lstStyle/>
          <a:p>
            <a:pPr algn="l">
              <a:defRPr sz="1500" b="0">
                <a:solidFill>
                  <a:srgbClr val="FFFFFF"/>
                </a:solidFill>
                <a:latin typeface="Calibri"/>
              </a:defRPr>
            </a:pPr>
            <a:r>
              <a:t>⚠  Alert fatigue leads to real vulnerabilities being ignored</a:t>
            </a:r>
          </a:p>
        </p:txBody>
      </p:sp>
      <p:sp>
        <p:nvSpPr>
          <p:cNvPr id="19" name="TextBox 18"/>
          <p:cNvSpPr txBox="1"/>
          <p:nvPr/>
        </p:nvSpPr>
        <p:spPr>
          <a:xfrm>
            <a:off x="731520" y="4956048"/>
            <a:ext cx="10058400" cy="365760"/>
          </a:xfrm>
          <a:prstGeom prst="rect">
            <a:avLst/>
          </a:prstGeom>
          <a:noFill/>
        </p:spPr>
        <p:txBody>
          <a:bodyPr wrap="square"/>
          <a:lstStyle/>
          <a:p>
            <a:pPr algn="l">
              <a:defRPr sz="1500" b="0">
                <a:solidFill>
                  <a:srgbClr val="FFFFFF"/>
                </a:solidFill>
                <a:latin typeface="Calibri"/>
              </a:defRPr>
            </a:pPr>
            <a:r>
              <a:t>⚠  Developers lose trust in security tools and disable them</a:t>
            </a:r>
          </a:p>
        </p:txBody>
      </p:sp>
      <p:sp>
        <p:nvSpPr>
          <p:cNvPr id="20" name="TextBox 19"/>
          <p:cNvSpPr txBox="1"/>
          <p:nvPr/>
        </p:nvSpPr>
        <p:spPr>
          <a:xfrm>
            <a:off x="731520" y="5340096"/>
            <a:ext cx="10058400" cy="365760"/>
          </a:xfrm>
          <a:prstGeom prst="rect">
            <a:avLst/>
          </a:prstGeom>
          <a:noFill/>
        </p:spPr>
        <p:txBody>
          <a:bodyPr wrap="square"/>
          <a:lstStyle/>
          <a:p>
            <a:pPr algn="l">
              <a:defRPr sz="1500" b="0">
                <a:solidFill>
                  <a:srgbClr val="FFFFFF"/>
                </a:solidFill>
                <a:latin typeface="Calibri"/>
              </a:defRPr>
            </a:pPr>
            <a:r>
              <a:t>⚠  Security teams become bottlenecks, not enablers</a:t>
            </a:r>
          </a:p>
        </p:txBody>
      </p:sp>
      <p:sp>
        <p:nvSpPr>
          <p:cNvPr id="21" name="TextBox 20"/>
          <p:cNvSpPr txBox="1"/>
          <p:nvPr/>
        </p:nvSpPr>
        <p:spPr>
          <a:xfrm>
            <a:off x="731520" y="5724144"/>
            <a:ext cx="10058400" cy="365760"/>
          </a:xfrm>
          <a:prstGeom prst="rect">
            <a:avLst/>
          </a:prstGeom>
          <a:noFill/>
        </p:spPr>
        <p:txBody>
          <a:bodyPr wrap="square"/>
          <a:lstStyle/>
          <a:p>
            <a:pPr algn="l">
              <a:defRPr sz="1500" b="0">
                <a:solidFill>
                  <a:srgbClr val="FFFFFF"/>
                </a:solidFill>
                <a:latin typeface="Calibri"/>
              </a:defRPr>
            </a:pPr>
            <a:r>
              <a:t>⚠  NIST SATE V (2018): SAST false positive rates ranged 3–78% across tools and languages</a:t>
            </a:r>
          </a:p>
        </p:txBody>
      </p:sp>
      <p:sp>
        <p:nvSpPr>
          <p:cNvPr id="22" name="TextBox 21"/>
          <p:cNvSpPr txBox="1"/>
          <p:nvPr/>
        </p:nvSpPr>
        <p:spPr>
          <a:xfrm>
            <a:off x="548640" y="6080760"/>
            <a:ext cx="10972800" cy="320040"/>
          </a:xfrm>
          <a:prstGeom prst="rect">
            <a:avLst/>
          </a:prstGeom>
          <a:noFill/>
        </p:spPr>
        <p:txBody>
          <a:bodyPr wrap="square"/>
          <a:lstStyle/>
          <a:p>
            <a:pPr algn="l">
              <a:defRPr sz="900" b="0">
                <a:solidFill>
                  <a:srgbClr val="666666"/>
                </a:solidFill>
                <a:latin typeface="Calibri"/>
              </a:defRPr>
            </a:pPr>
            <a:r>
              <a:t>Sources: Ghost Security 2025 | Ponemon/Exabeam 2019 | IBM Cost of a Data Breach 2024 | NIST SP 500-326</a:t>
            </a:r>
          </a:p>
        </p:txBody>
      </p:sp>
      <p:sp>
        <p:nvSpPr>
          <p:cNvPr id="23" name="Rectangle 22"/>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25" name="TextBox 24"/>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682495"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682495" cy="292608"/>
          </a:xfrm>
          <a:prstGeom prst="rect">
            <a:avLst/>
          </a:prstGeom>
          <a:noFill/>
        </p:spPr>
        <p:txBody>
          <a:bodyPr wrap="square"/>
          <a:lstStyle/>
          <a:p>
            <a:pPr algn="ctr">
              <a:defRPr sz="1000" b="1">
                <a:solidFill>
                  <a:srgbClr val="00E676"/>
                </a:solidFill>
                <a:latin typeface="Calibri"/>
              </a:defRPr>
            </a:pPr>
            <a:r>
              <a:t>DEMO RESULTS</a:t>
            </a:r>
          </a:p>
        </p:txBody>
      </p:sp>
      <p:sp>
        <p:nvSpPr>
          <p:cNvPr id="4" name="TextBox 3"/>
          <p:cNvSpPr txBox="1"/>
          <p:nvPr/>
        </p:nvSpPr>
        <p:spPr>
          <a:xfrm>
            <a:off x="548640" y="731520"/>
            <a:ext cx="10972800" cy="640080"/>
          </a:xfrm>
          <a:prstGeom prst="rect">
            <a:avLst/>
          </a:prstGeom>
          <a:noFill/>
        </p:spPr>
        <p:txBody>
          <a:bodyPr wrap="square"/>
          <a:lstStyle/>
          <a:p>
            <a:pPr algn="ctr">
              <a:defRPr sz="5600" b="1">
                <a:solidFill>
                  <a:srgbClr val="00E676"/>
                </a:solidFill>
                <a:latin typeface="Calibri"/>
              </a:defRPr>
            </a:pPr>
            <a:r>
              <a:t>87 → 12</a:t>
            </a:r>
          </a:p>
        </p:txBody>
      </p:sp>
      <p:sp>
        <p:nvSpPr>
          <p:cNvPr id="5" name="TextBox 4"/>
          <p:cNvSpPr txBox="1"/>
          <p:nvPr/>
        </p:nvSpPr>
        <p:spPr>
          <a:xfrm>
            <a:off x="548640" y="1417320"/>
            <a:ext cx="10972800" cy="365760"/>
          </a:xfrm>
          <a:prstGeom prst="rect">
            <a:avLst/>
          </a:prstGeom>
          <a:noFill/>
        </p:spPr>
        <p:txBody>
          <a:bodyPr wrap="square"/>
          <a:lstStyle/>
          <a:p>
            <a:pPr algn="ctr">
              <a:defRPr sz="1800" b="0">
                <a:solidFill>
                  <a:srgbClr val="AAAAAA"/>
                </a:solidFill>
                <a:latin typeface="Calibri"/>
              </a:defRPr>
            </a:pPr>
            <a:r>
              <a:t>In our demo scan: 87 raw SAST findings reduced to 12 confirmed vulnerabilities</a:t>
            </a:r>
          </a:p>
        </p:txBody>
      </p:sp>
      <p:sp>
        <p:nvSpPr>
          <p:cNvPr id="6" name="TextBox 5"/>
          <p:cNvSpPr txBox="1"/>
          <p:nvPr/>
        </p:nvSpPr>
        <p:spPr>
          <a:xfrm>
            <a:off x="914400" y="2103120"/>
            <a:ext cx="4572000" cy="457200"/>
          </a:xfrm>
          <a:prstGeom prst="rect">
            <a:avLst/>
          </a:prstGeom>
          <a:noFill/>
        </p:spPr>
        <p:txBody>
          <a:bodyPr wrap="square"/>
          <a:lstStyle/>
          <a:p>
            <a:pPr algn="l">
              <a:defRPr sz="1600" b="1">
                <a:solidFill>
                  <a:srgbClr val="FF4444"/>
                </a:solidFill>
                <a:latin typeface="Calibri"/>
              </a:defRPr>
            </a:pPr>
            <a:r>
              <a:t>BEFORE: Raw SAST Output</a:t>
            </a:r>
          </a:p>
        </p:txBody>
      </p:sp>
      <p:sp>
        <p:nvSpPr>
          <p:cNvPr id="7" name="Oval 6"/>
          <p:cNvSpPr/>
          <p:nvPr/>
        </p:nvSpPr>
        <p:spPr>
          <a:xfrm>
            <a:off x="914400"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25296"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36192"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7088"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57984"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68880"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79776"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90672"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01568"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712464"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23360"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34256" y="2606040"/>
            <a:ext cx="164592" cy="164592"/>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645152" y="260604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56048" y="260604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66944" y="260604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25296"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36192"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47088"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157984"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468880"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79776"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090672"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01568"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712464"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023360"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334256"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645152"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956048"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266944" y="2916936"/>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4400"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225296"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536192"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847088"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157984"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468880"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779776"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090672"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401568"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712464"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023360"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334256"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645152"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956048"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266944" y="3227832"/>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14400"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25296"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536192"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847088"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157984"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468880"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779776"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090672"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401568"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712464"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023360"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334256"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645152"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956048"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5266944" y="3538728"/>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14400"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25296"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536192"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847088"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157984"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468880"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779776"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090672"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401568"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712464"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023360"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334256"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645152"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956048"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5266944" y="3849624"/>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14400"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225296"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36192"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847088"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157984"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468880"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779776"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090672"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401568"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712464"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023360"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334256" y="4160520"/>
            <a:ext cx="164592" cy="164592"/>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858000" y="2103120"/>
            <a:ext cx="4572000" cy="457200"/>
          </a:xfrm>
          <a:prstGeom prst="rect">
            <a:avLst/>
          </a:prstGeom>
          <a:noFill/>
        </p:spPr>
        <p:txBody>
          <a:bodyPr wrap="square"/>
          <a:lstStyle/>
          <a:p>
            <a:pPr algn="l">
              <a:defRPr sz="1600" b="1">
                <a:solidFill>
                  <a:srgbClr val="00E676"/>
                </a:solidFill>
                <a:latin typeface="Calibri"/>
              </a:defRPr>
            </a:pPr>
            <a:r>
              <a:t>AFTER: BugBunny Pipeline</a:t>
            </a:r>
          </a:p>
        </p:txBody>
      </p:sp>
      <p:sp>
        <p:nvSpPr>
          <p:cNvPr id="95" name="Oval 94"/>
          <p:cNvSpPr/>
          <p:nvPr/>
        </p:nvSpPr>
        <p:spPr>
          <a:xfrm>
            <a:off x="7315200" y="26060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772400" y="26060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229600" y="26060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686800" y="26060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315200" y="30632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772400" y="30632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229600" y="30632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686800" y="30632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315200" y="35204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772400" y="35204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29600" y="35204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686800" y="3520440"/>
            <a:ext cx="274320" cy="27432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ight Arrow 106"/>
          <p:cNvSpPr/>
          <p:nvPr/>
        </p:nvSpPr>
        <p:spPr>
          <a:xfrm>
            <a:off x="5669280" y="3200400"/>
            <a:ext cx="914400" cy="457200"/>
          </a:xfrm>
          <a:prstGeom prst="rightArrow">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6858000" y="4389120"/>
            <a:ext cx="137160" cy="137160"/>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32320" y="4343400"/>
            <a:ext cx="1828800" cy="274320"/>
          </a:xfrm>
          <a:prstGeom prst="rect">
            <a:avLst/>
          </a:prstGeom>
          <a:noFill/>
        </p:spPr>
        <p:txBody>
          <a:bodyPr wrap="square"/>
          <a:lstStyle/>
          <a:p>
            <a:pPr algn="l">
              <a:defRPr sz="1200" b="0">
                <a:solidFill>
                  <a:srgbClr val="FFFFFF"/>
                </a:solidFill>
                <a:latin typeface="Calibri"/>
              </a:defRPr>
            </a:pPr>
            <a:r>
              <a:t>Confirmed vulnerability</a:t>
            </a:r>
          </a:p>
        </p:txBody>
      </p:sp>
      <p:sp>
        <p:nvSpPr>
          <p:cNvPr id="110" name="Oval 109"/>
          <p:cNvSpPr/>
          <p:nvPr/>
        </p:nvSpPr>
        <p:spPr>
          <a:xfrm>
            <a:off x="6858000" y="4663440"/>
            <a:ext cx="137160" cy="137160"/>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132320" y="4617720"/>
            <a:ext cx="1828800" cy="274320"/>
          </a:xfrm>
          <a:prstGeom prst="rect">
            <a:avLst/>
          </a:prstGeom>
          <a:noFill/>
        </p:spPr>
        <p:txBody>
          <a:bodyPr wrap="square"/>
          <a:lstStyle/>
          <a:p>
            <a:pPr algn="l">
              <a:defRPr sz="1200" b="0">
                <a:solidFill>
                  <a:srgbClr val="AAAAAA"/>
                </a:solidFill>
                <a:latin typeface="Calibri"/>
              </a:defRPr>
            </a:pPr>
            <a:r>
              <a:t>False positive (eliminated)</a:t>
            </a:r>
          </a:p>
        </p:txBody>
      </p:sp>
      <p:sp>
        <p:nvSpPr>
          <p:cNvPr id="112" name="Rounded Rectangle 111"/>
          <p:cNvSpPr/>
          <p:nvPr/>
        </p:nvSpPr>
        <p:spPr>
          <a:xfrm>
            <a:off x="914400" y="5212080"/>
            <a:ext cx="3291840" cy="914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97280" y="5303520"/>
            <a:ext cx="2926080" cy="457200"/>
          </a:xfrm>
          <a:prstGeom prst="rect">
            <a:avLst/>
          </a:prstGeom>
          <a:noFill/>
        </p:spPr>
        <p:txBody>
          <a:bodyPr wrap="square"/>
          <a:lstStyle/>
          <a:p>
            <a:pPr algn="ctr">
              <a:defRPr sz="2200" b="1">
                <a:solidFill>
                  <a:srgbClr val="00E676"/>
                </a:solidFill>
                <a:latin typeface="Calibri"/>
              </a:defRPr>
            </a:pPr>
            <a:r>
              <a:t>86% Noise Removed</a:t>
            </a:r>
          </a:p>
        </p:txBody>
      </p:sp>
      <p:sp>
        <p:nvSpPr>
          <p:cNvPr id="114" name="TextBox 113"/>
          <p:cNvSpPr txBox="1"/>
          <p:nvPr/>
        </p:nvSpPr>
        <p:spPr>
          <a:xfrm>
            <a:off x="1097280" y="5669280"/>
            <a:ext cx="2926080" cy="320040"/>
          </a:xfrm>
          <a:prstGeom prst="rect">
            <a:avLst/>
          </a:prstGeom>
          <a:noFill/>
        </p:spPr>
        <p:txBody>
          <a:bodyPr wrap="square"/>
          <a:lstStyle/>
          <a:p>
            <a:pPr algn="ctr">
              <a:defRPr sz="1300" b="0">
                <a:solidFill>
                  <a:srgbClr val="AAAAAA"/>
                </a:solidFill>
                <a:latin typeface="Calibri"/>
              </a:defRPr>
            </a:pPr>
            <a:r>
              <a:t>75 of 87 findings eliminated</a:t>
            </a:r>
          </a:p>
        </p:txBody>
      </p:sp>
      <p:sp>
        <p:nvSpPr>
          <p:cNvPr id="115" name="Rounded Rectangle 114"/>
          <p:cNvSpPr/>
          <p:nvPr/>
        </p:nvSpPr>
        <p:spPr>
          <a:xfrm>
            <a:off x="4572000" y="5212080"/>
            <a:ext cx="3291840" cy="914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54880" y="5303520"/>
            <a:ext cx="2926080" cy="457200"/>
          </a:xfrm>
          <a:prstGeom prst="rect">
            <a:avLst/>
          </a:prstGeom>
          <a:noFill/>
        </p:spPr>
        <p:txBody>
          <a:bodyPr wrap="square"/>
          <a:lstStyle/>
          <a:p>
            <a:pPr algn="ctr">
              <a:defRPr sz="2200" b="1">
                <a:solidFill>
                  <a:srgbClr val="00E676"/>
                </a:solidFill>
                <a:latin typeface="Calibri"/>
              </a:defRPr>
            </a:pPr>
            <a:r>
              <a:t>Seconds per Finding</a:t>
            </a:r>
          </a:p>
        </p:txBody>
      </p:sp>
      <p:sp>
        <p:nvSpPr>
          <p:cNvPr id="117" name="TextBox 116"/>
          <p:cNvSpPr txBox="1"/>
          <p:nvPr/>
        </p:nvSpPr>
        <p:spPr>
          <a:xfrm>
            <a:off x="4754880" y="5669280"/>
            <a:ext cx="2926080" cy="320040"/>
          </a:xfrm>
          <a:prstGeom prst="rect">
            <a:avLst/>
          </a:prstGeom>
          <a:noFill/>
        </p:spPr>
        <p:txBody>
          <a:bodyPr wrap="square"/>
          <a:lstStyle/>
          <a:p>
            <a:pPr algn="ctr">
              <a:defRPr sz="1300" b="0">
                <a:solidFill>
                  <a:srgbClr val="AAAAAA"/>
                </a:solidFill>
                <a:latin typeface="Calibri"/>
              </a:defRPr>
            </a:pPr>
            <a:r>
              <a:t>AI triage vs hours of manual review</a:t>
            </a:r>
          </a:p>
        </p:txBody>
      </p:sp>
      <p:sp>
        <p:nvSpPr>
          <p:cNvPr id="118" name="Rounded Rectangle 117"/>
          <p:cNvSpPr/>
          <p:nvPr/>
        </p:nvSpPr>
        <p:spPr>
          <a:xfrm>
            <a:off x="8229600" y="5212080"/>
            <a:ext cx="3291840" cy="914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412480" y="5303520"/>
            <a:ext cx="2926080" cy="457200"/>
          </a:xfrm>
          <a:prstGeom prst="rect">
            <a:avLst/>
          </a:prstGeom>
          <a:noFill/>
        </p:spPr>
        <p:txBody>
          <a:bodyPr wrap="square"/>
          <a:lstStyle/>
          <a:p>
            <a:pPr algn="ctr">
              <a:defRPr sz="2200" b="1">
                <a:solidFill>
                  <a:srgbClr val="00E676"/>
                </a:solidFill>
                <a:latin typeface="Calibri"/>
              </a:defRPr>
            </a:pPr>
            <a:r>
              <a:t>Zero Missed</a:t>
            </a:r>
          </a:p>
        </p:txBody>
      </p:sp>
      <p:sp>
        <p:nvSpPr>
          <p:cNvPr id="120" name="TextBox 119"/>
          <p:cNvSpPr txBox="1"/>
          <p:nvPr/>
        </p:nvSpPr>
        <p:spPr>
          <a:xfrm>
            <a:off x="8412480" y="5669280"/>
            <a:ext cx="2926080" cy="320040"/>
          </a:xfrm>
          <a:prstGeom prst="rect">
            <a:avLst/>
          </a:prstGeom>
          <a:noFill/>
        </p:spPr>
        <p:txBody>
          <a:bodyPr wrap="square"/>
          <a:lstStyle/>
          <a:p>
            <a:pPr algn="ctr">
              <a:defRPr sz="1300" b="0">
                <a:solidFill>
                  <a:srgbClr val="AAAAAA"/>
                </a:solidFill>
                <a:latin typeface="Calibri"/>
              </a:defRPr>
            </a:pPr>
            <a:r>
              <a:t>all real vulnerabilities retained</a:t>
            </a:r>
          </a:p>
        </p:txBody>
      </p:sp>
      <p:sp>
        <p:nvSpPr>
          <p:cNvPr id="121" name="Rectangle 120"/>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23" name="TextBox 122"/>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682495"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682495" cy="292608"/>
          </a:xfrm>
          <a:prstGeom prst="rect">
            <a:avLst/>
          </a:prstGeom>
          <a:noFill/>
        </p:spPr>
        <p:txBody>
          <a:bodyPr wrap="square"/>
          <a:lstStyle/>
          <a:p>
            <a:pPr algn="ctr">
              <a:defRPr sz="1000" b="1">
                <a:solidFill>
                  <a:srgbClr val="00E676"/>
                </a:solidFill>
                <a:latin typeface="Calibri"/>
              </a:defRPr>
            </a:pPr>
            <a:r>
              <a:t>ARCHITECTURE</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How BugBunny Works</a:t>
            </a:r>
          </a:p>
        </p:txBody>
      </p:sp>
      <p:sp>
        <p:nvSpPr>
          <p:cNvPr id="5" name="TextBox 4"/>
          <p:cNvSpPr txBox="1"/>
          <p:nvPr/>
        </p:nvSpPr>
        <p:spPr>
          <a:xfrm>
            <a:off x="548640" y="1280160"/>
            <a:ext cx="10972800" cy="365760"/>
          </a:xfrm>
          <a:prstGeom prst="rect">
            <a:avLst/>
          </a:prstGeom>
          <a:noFill/>
        </p:spPr>
        <p:txBody>
          <a:bodyPr wrap="square"/>
          <a:lstStyle/>
          <a:p>
            <a:pPr algn="l">
              <a:defRPr sz="1800" b="0">
                <a:solidFill>
                  <a:srgbClr val="AAAAAA"/>
                </a:solidFill>
                <a:latin typeface="Calibri"/>
              </a:defRPr>
            </a:pPr>
            <a:r>
              <a:t>The 7-Stage Intelligence Pipeline</a:t>
            </a:r>
          </a:p>
        </p:txBody>
      </p:sp>
      <p:sp>
        <p:nvSpPr>
          <p:cNvPr id="6" name="Rounded Rectangle 5"/>
          <p:cNvSpPr/>
          <p:nvPr/>
        </p:nvSpPr>
        <p:spPr>
          <a:xfrm>
            <a:off x="6323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06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0655" y="1865376"/>
            <a:ext cx="329184" cy="329184"/>
          </a:xfrm>
          <a:prstGeom prst="rect">
            <a:avLst/>
          </a:prstGeom>
          <a:noFill/>
        </p:spPr>
        <p:txBody>
          <a:bodyPr wrap="square"/>
          <a:lstStyle/>
          <a:p>
            <a:pPr algn="ctr">
              <a:defRPr sz="1400" b="1">
                <a:solidFill>
                  <a:srgbClr val="000000"/>
                </a:solidFill>
                <a:latin typeface="Calibri"/>
              </a:defRPr>
            </a:pPr>
            <a:r>
              <a:t>1</a:t>
            </a:r>
          </a:p>
        </p:txBody>
      </p:sp>
      <p:sp>
        <p:nvSpPr>
          <p:cNvPr id="9" name="TextBox 8"/>
          <p:cNvSpPr txBox="1"/>
          <p:nvPr/>
        </p:nvSpPr>
        <p:spPr>
          <a:xfrm>
            <a:off x="678027" y="2240280"/>
            <a:ext cx="1234440" cy="594360"/>
          </a:xfrm>
          <a:prstGeom prst="rect">
            <a:avLst/>
          </a:prstGeom>
          <a:noFill/>
        </p:spPr>
        <p:txBody>
          <a:bodyPr wrap="square"/>
          <a:lstStyle/>
          <a:p>
            <a:pPr algn="ctr">
              <a:defRPr sz="1200" b="1">
                <a:solidFill>
                  <a:srgbClr val="FFFFFF"/>
                </a:solidFill>
                <a:latin typeface="Calibri"/>
              </a:defRPr>
            </a:pPr>
            <a:r>
              <a:t>SAST</a:t>
            </a:r>
            <a:br/>
            <a:r>
              <a:t>Scan</a:t>
            </a:r>
          </a:p>
        </p:txBody>
      </p:sp>
      <p:sp>
        <p:nvSpPr>
          <p:cNvPr id="10" name="TextBox 9"/>
          <p:cNvSpPr txBox="1"/>
          <p:nvPr/>
        </p:nvSpPr>
        <p:spPr>
          <a:xfrm>
            <a:off x="678027" y="2880360"/>
            <a:ext cx="1234440" cy="502920"/>
          </a:xfrm>
          <a:prstGeom prst="rect">
            <a:avLst/>
          </a:prstGeom>
          <a:noFill/>
        </p:spPr>
        <p:txBody>
          <a:bodyPr wrap="square"/>
          <a:lstStyle/>
          <a:p>
            <a:pPr algn="ctr">
              <a:defRPr sz="900" b="0">
                <a:solidFill>
                  <a:srgbClr val="AAAAAA"/>
                </a:solidFill>
                <a:latin typeface="Calibri"/>
              </a:defRPr>
            </a:pPr>
            <a:r>
              <a:t>Semgrep with</a:t>
            </a:r>
            <a:br/>
            <a:r>
              <a:t>3,000+ rules</a:t>
            </a:r>
          </a:p>
        </p:txBody>
      </p:sp>
      <p:sp>
        <p:nvSpPr>
          <p:cNvPr id="11" name="TextBox 10"/>
          <p:cNvSpPr txBox="1"/>
          <p:nvPr/>
        </p:nvSpPr>
        <p:spPr>
          <a:xfrm>
            <a:off x="19764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12" name="Rounded Rectangle 11"/>
          <p:cNvSpPr/>
          <p:nvPr/>
        </p:nvSpPr>
        <p:spPr>
          <a:xfrm>
            <a:off x="22325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308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0855" y="1865376"/>
            <a:ext cx="329184" cy="329184"/>
          </a:xfrm>
          <a:prstGeom prst="rect">
            <a:avLst/>
          </a:prstGeom>
          <a:noFill/>
        </p:spPr>
        <p:txBody>
          <a:bodyPr wrap="square"/>
          <a:lstStyle/>
          <a:p>
            <a:pPr algn="ctr">
              <a:defRPr sz="1400" b="1">
                <a:solidFill>
                  <a:srgbClr val="000000"/>
                </a:solidFill>
                <a:latin typeface="Calibri"/>
              </a:defRPr>
            </a:pPr>
            <a:r>
              <a:t>2</a:t>
            </a:r>
          </a:p>
        </p:txBody>
      </p:sp>
      <p:sp>
        <p:nvSpPr>
          <p:cNvPr id="15" name="TextBox 14"/>
          <p:cNvSpPr txBox="1"/>
          <p:nvPr/>
        </p:nvSpPr>
        <p:spPr>
          <a:xfrm>
            <a:off x="2278227" y="2240280"/>
            <a:ext cx="1234440" cy="594360"/>
          </a:xfrm>
          <a:prstGeom prst="rect">
            <a:avLst/>
          </a:prstGeom>
          <a:noFill/>
        </p:spPr>
        <p:txBody>
          <a:bodyPr wrap="square"/>
          <a:lstStyle/>
          <a:p>
            <a:pPr algn="ctr">
              <a:defRPr sz="1200" b="1">
                <a:solidFill>
                  <a:srgbClr val="FFFFFF"/>
                </a:solidFill>
                <a:latin typeface="Calibri"/>
              </a:defRPr>
            </a:pPr>
            <a:r>
              <a:t>Context</a:t>
            </a:r>
            <a:br/>
            <a:r>
              <a:t>Extraction</a:t>
            </a:r>
          </a:p>
        </p:txBody>
      </p:sp>
      <p:sp>
        <p:nvSpPr>
          <p:cNvPr id="16" name="TextBox 15"/>
          <p:cNvSpPr txBox="1"/>
          <p:nvPr/>
        </p:nvSpPr>
        <p:spPr>
          <a:xfrm>
            <a:off x="2278227" y="2880360"/>
            <a:ext cx="1234440" cy="502920"/>
          </a:xfrm>
          <a:prstGeom prst="rect">
            <a:avLst/>
          </a:prstGeom>
          <a:noFill/>
        </p:spPr>
        <p:txBody>
          <a:bodyPr wrap="square"/>
          <a:lstStyle/>
          <a:p>
            <a:pPr algn="ctr">
              <a:defRPr sz="900" b="0">
                <a:solidFill>
                  <a:srgbClr val="AAAAAA"/>
                </a:solidFill>
                <a:latin typeface="Calibri"/>
              </a:defRPr>
            </a:pPr>
            <a:r>
              <a:t>AST parsing,</a:t>
            </a:r>
            <a:br/>
            <a:r>
              <a:t>data flow analysis</a:t>
            </a:r>
          </a:p>
        </p:txBody>
      </p:sp>
      <p:sp>
        <p:nvSpPr>
          <p:cNvPr id="17" name="TextBox 16"/>
          <p:cNvSpPr txBox="1"/>
          <p:nvPr/>
        </p:nvSpPr>
        <p:spPr>
          <a:xfrm>
            <a:off x="35766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18" name="Rounded Rectangle 17"/>
          <p:cNvSpPr/>
          <p:nvPr/>
        </p:nvSpPr>
        <p:spPr>
          <a:xfrm>
            <a:off x="38327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3310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31055" y="1865376"/>
            <a:ext cx="329184" cy="329184"/>
          </a:xfrm>
          <a:prstGeom prst="rect">
            <a:avLst/>
          </a:prstGeom>
          <a:noFill/>
        </p:spPr>
        <p:txBody>
          <a:bodyPr wrap="square"/>
          <a:lstStyle/>
          <a:p>
            <a:pPr algn="ctr">
              <a:defRPr sz="1400" b="1">
                <a:solidFill>
                  <a:srgbClr val="000000"/>
                </a:solidFill>
                <a:latin typeface="Calibri"/>
              </a:defRPr>
            </a:pPr>
            <a:r>
              <a:t>3</a:t>
            </a:r>
          </a:p>
        </p:txBody>
      </p:sp>
      <p:sp>
        <p:nvSpPr>
          <p:cNvPr id="21" name="TextBox 20"/>
          <p:cNvSpPr txBox="1"/>
          <p:nvPr/>
        </p:nvSpPr>
        <p:spPr>
          <a:xfrm>
            <a:off x="3878427" y="2240280"/>
            <a:ext cx="1234440" cy="594360"/>
          </a:xfrm>
          <a:prstGeom prst="rect">
            <a:avLst/>
          </a:prstGeom>
          <a:noFill/>
        </p:spPr>
        <p:txBody>
          <a:bodyPr wrap="square"/>
          <a:lstStyle/>
          <a:p>
            <a:pPr algn="ctr">
              <a:defRPr sz="1200" b="1">
                <a:solidFill>
                  <a:srgbClr val="FFFFFF"/>
                </a:solidFill>
                <a:latin typeface="Calibri"/>
              </a:defRPr>
            </a:pPr>
            <a:r>
              <a:t>AI</a:t>
            </a:r>
            <a:br/>
            <a:r>
              <a:t>Triage</a:t>
            </a:r>
          </a:p>
        </p:txBody>
      </p:sp>
      <p:sp>
        <p:nvSpPr>
          <p:cNvPr id="22" name="TextBox 21"/>
          <p:cNvSpPr txBox="1"/>
          <p:nvPr/>
        </p:nvSpPr>
        <p:spPr>
          <a:xfrm>
            <a:off x="3878427" y="2880360"/>
            <a:ext cx="1234440" cy="502920"/>
          </a:xfrm>
          <a:prstGeom prst="rect">
            <a:avLst/>
          </a:prstGeom>
          <a:noFill/>
        </p:spPr>
        <p:txBody>
          <a:bodyPr wrap="square"/>
          <a:lstStyle/>
          <a:p>
            <a:pPr algn="ctr">
              <a:defRPr sz="900" b="0">
                <a:solidFill>
                  <a:srgbClr val="AAAAAA"/>
                </a:solidFill>
                <a:latin typeface="Calibri"/>
              </a:defRPr>
            </a:pPr>
            <a:r>
              <a:t>LLM analyzes</a:t>
            </a:r>
            <a:br/>
            <a:r>
              <a:t>exploitability</a:t>
            </a:r>
          </a:p>
        </p:txBody>
      </p:sp>
      <p:sp>
        <p:nvSpPr>
          <p:cNvPr id="23" name="TextBox 22"/>
          <p:cNvSpPr txBox="1"/>
          <p:nvPr/>
        </p:nvSpPr>
        <p:spPr>
          <a:xfrm>
            <a:off x="51768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24" name="Rounded Rectangle 23"/>
          <p:cNvSpPr/>
          <p:nvPr/>
        </p:nvSpPr>
        <p:spPr>
          <a:xfrm>
            <a:off x="54329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312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31255" y="1865376"/>
            <a:ext cx="329184" cy="329184"/>
          </a:xfrm>
          <a:prstGeom prst="rect">
            <a:avLst/>
          </a:prstGeom>
          <a:noFill/>
        </p:spPr>
        <p:txBody>
          <a:bodyPr wrap="square"/>
          <a:lstStyle/>
          <a:p>
            <a:pPr algn="ctr">
              <a:defRPr sz="1400" b="1">
                <a:solidFill>
                  <a:srgbClr val="000000"/>
                </a:solidFill>
                <a:latin typeface="Calibri"/>
              </a:defRPr>
            </a:pPr>
            <a:r>
              <a:t>4</a:t>
            </a:r>
          </a:p>
        </p:txBody>
      </p:sp>
      <p:sp>
        <p:nvSpPr>
          <p:cNvPr id="27" name="TextBox 26"/>
          <p:cNvSpPr txBox="1"/>
          <p:nvPr/>
        </p:nvSpPr>
        <p:spPr>
          <a:xfrm>
            <a:off x="5478627" y="2240280"/>
            <a:ext cx="1234440" cy="594360"/>
          </a:xfrm>
          <a:prstGeom prst="rect">
            <a:avLst/>
          </a:prstGeom>
          <a:noFill/>
        </p:spPr>
        <p:txBody>
          <a:bodyPr wrap="square"/>
          <a:lstStyle/>
          <a:p>
            <a:pPr algn="ctr">
              <a:defRPr sz="1200" b="1">
                <a:solidFill>
                  <a:srgbClr val="FFFFFF"/>
                </a:solidFill>
                <a:latin typeface="Calibri"/>
              </a:defRPr>
            </a:pPr>
            <a:r>
              <a:t>Reachability</a:t>
            </a:r>
            <a:br/>
            <a:r>
              <a:t>Analysis</a:t>
            </a:r>
          </a:p>
        </p:txBody>
      </p:sp>
      <p:sp>
        <p:nvSpPr>
          <p:cNvPr id="28" name="TextBox 27"/>
          <p:cNvSpPr txBox="1"/>
          <p:nvPr/>
        </p:nvSpPr>
        <p:spPr>
          <a:xfrm>
            <a:off x="5478627" y="2880360"/>
            <a:ext cx="1234440" cy="502920"/>
          </a:xfrm>
          <a:prstGeom prst="rect">
            <a:avLst/>
          </a:prstGeom>
          <a:noFill/>
        </p:spPr>
        <p:txBody>
          <a:bodyPr wrap="square"/>
          <a:lstStyle/>
          <a:p>
            <a:pPr algn="ctr">
              <a:defRPr sz="900" b="0">
                <a:solidFill>
                  <a:srgbClr val="AAAAAA"/>
                </a:solidFill>
                <a:latin typeface="Calibri"/>
              </a:defRPr>
            </a:pPr>
            <a:r>
              <a:t>Call graph +</a:t>
            </a:r>
            <a:br/>
            <a:r>
              <a:t>entry point check</a:t>
            </a:r>
          </a:p>
        </p:txBody>
      </p:sp>
      <p:sp>
        <p:nvSpPr>
          <p:cNvPr id="29" name="TextBox 28"/>
          <p:cNvSpPr txBox="1"/>
          <p:nvPr/>
        </p:nvSpPr>
        <p:spPr>
          <a:xfrm>
            <a:off x="67770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30" name="Rounded Rectangle 29"/>
          <p:cNvSpPr/>
          <p:nvPr/>
        </p:nvSpPr>
        <p:spPr>
          <a:xfrm>
            <a:off x="70331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314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1455" y="1865376"/>
            <a:ext cx="329184" cy="329184"/>
          </a:xfrm>
          <a:prstGeom prst="rect">
            <a:avLst/>
          </a:prstGeom>
          <a:noFill/>
        </p:spPr>
        <p:txBody>
          <a:bodyPr wrap="square"/>
          <a:lstStyle/>
          <a:p>
            <a:pPr algn="ctr">
              <a:defRPr sz="1400" b="1">
                <a:solidFill>
                  <a:srgbClr val="000000"/>
                </a:solidFill>
                <a:latin typeface="Calibri"/>
              </a:defRPr>
            </a:pPr>
            <a:r>
              <a:t>5</a:t>
            </a:r>
          </a:p>
        </p:txBody>
      </p:sp>
      <p:sp>
        <p:nvSpPr>
          <p:cNvPr id="33" name="TextBox 32"/>
          <p:cNvSpPr txBox="1"/>
          <p:nvPr/>
        </p:nvSpPr>
        <p:spPr>
          <a:xfrm>
            <a:off x="7078827" y="2240280"/>
            <a:ext cx="1234440" cy="594360"/>
          </a:xfrm>
          <a:prstGeom prst="rect">
            <a:avLst/>
          </a:prstGeom>
          <a:noFill/>
        </p:spPr>
        <p:txBody>
          <a:bodyPr wrap="square"/>
          <a:lstStyle/>
          <a:p>
            <a:pPr algn="ctr">
              <a:defRPr sz="1200" b="1">
                <a:solidFill>
                  <a:srgbClr val="FFFFFF"/>
                </a:solidFill>
                <a:latin typeface="Calibri"/>
              </a:defRPr>
            </a:pPr>
            <a:r>
              <a:t>Targeted</a:t>
            </a:r>
            <a:br/>
            <a:r>
              <a:t>DAST</a:t>
            </a:r>
          </a:p>
        </p:txBody>
      </p:sp>
      <p:sp>
        <p:nvSpPr>
          <p:cNvPr id="34" name="TextBox 33"/>
          <p:cNvSpPr txBox="1"/>
          <p:nvPr/>
        </p:nvSpPr>
        <p:spPr>
          <a:xfrm>
            <a:off x="7078827" y="2880360"/>
            <a:ext cx="1234440" cy="502920"/>
          </a:xfrm>
          <a:prstGeom prst="rect">
            <a:avLst/>
          </a:prstGeom>
          <a:noFill/>
        </p:spPr>
        <p:txBody>
          <a:bodyPr wrap="square"/>
          <a:lstStyle/>
          <a:p>
            <a:pPr algn="ctr">
              <a:defRPr sz="900" b="0">
                <a:solidFill>
                  <a:srgbClr val="AAAAAA"/>
                </a:solidFill>
                <a:latin typeface="Calibri"/>
              </a:defRPr>
            </a:pPr>
            <a:r>
              <a:t>ZAP validates</a:t>
            </a:r>
            <a:br/>
            <a:r>
              <a:t>exploitable findings</a:t>
            </a:r>
          </a:p>
        </p:txBody>
      </p:sp>
      <p:sp>
        <p:nvSpPr>
          <p:cNvPr id="35" name="TextBox 34"/>
          <p:cNvSpPr txBox="1"/>
          <p:nvPr/>
        </p:nvSpPr>
        <p:spPr>
          <a:xfrm>
            <a:off x="83772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36" name="Rounded Rectangle 35"/>
          <p:cNvSpPr/>
          <p:nvPr/>
        </p:nvSpPr>
        <p:spPr>
          <a:xfrm>
            <a:off x="86333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316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31655" y="1865376"/>
            <a:ext cx="329184" cy="329184"/>
          </a:xfrm>
          <a:prstGeom prst="rect">
            <a:avLst/>
          </a:prstGeom>
          <a:noFill/>
        </p:spPr>
        <p:txBody>
          <a:bodyPr wrap="square"/>
          <a:lstStyle/>
          <a:p>
            <a:pPr algn="ctr">
              <a:defRPr sz="1400" b="1">
                <a:solidFill>
                  <a:srgbClr val="000000"/>
                </a:solidFill>
                <a:latin typeface="Calibri"/>
              </a:defRPr>
            </a:pPr>
            <a:r>
              <a:t>6</a:t>
            </a:r>
          </a:p>
        </p:txBody>
      </p:sp>
      <p:sp>
        <p:nvSpPr>
          <p:cNvPr id="39" name="TextBox 38"/>
          <p:cNvSpPr txBox="1"/>
          <p:nvPr/>
        </p:nvSpPr>
        <p:spPr>
          <a:xfrm>
            <a:off x="8679027" y="2240280"/>
            <a:ext cx="1234440" cy="594360"/>
          </a:xfrm>
          <a:prstGeom prst="rect">
            <a:avLst/>
          </a:prstGeom>
          <a:noFill/>
        </p:spPr>
        <p:txBody>
          <a:bodyPr wrap="square"/>
          <a:lstStyle/>
          <a:p>
            <a:pPr algn="ctr">
              <a:defRPr sz="1200" b="1">
                <a:solidFill>
                  <a:srgbClr val="FFFFFF"/>
                </a:solidFill>
                <a:latin typeface="Calibri"/>
              </a:defRPr>
            </a:pPr>
            <a:r>
              <a:t>Correlation</a:t>
            </a:r>
            <a:br/>
            <a:r>
              <a:t>Engine</a:t>
            </a:r>
          </a:p>
        </p:txBody>
      </p:sp>
      <p:sp>
        <p:nvSpPr>
          <p:cNvPr id="40" name="TextBox 39"/>
          <p:cNvSpPr txBox="1"/>
          <p:nvPr/>
        </p:nvSpPr>
        <p:spPr>
          <a:xfrm>
            <a:off x="8679027" y="2880360"/>
            <a:ext cx="1234440" cy="502920"/>
          </a:xfrm>
          <a:prstGeom prst="rect">
            <a:avLst/>
          </a:prstGeom>
          <a:noFill/>
        </p:spPr>
        <p:txBody>
          <a:bodyPr wrap="square"/>
          <a:lstStyle/>
          <a:p>
            <a:pPr algn="ctr">
              <a:defRPr sz="900" b="0">
                <a:solidFill>
                  <a:srgbClr val="AAAAAA"/>
                </a:solidFill>
                <a:latin typeface="Calibri"/>
              </a:defRPr>
            </a:pPr>
            <a:r>
              <a:t>Cross-reference</a:t>
            </a:r>
            <a:br/>
            <a:r>
              <a:t>all evidence</a:t>
            </a:r>
          </a:p>
        </p:txBody>
      </p:sp>
      <p:sp>
        <p:nvSpPr>
          <p:cNvPr id="41" name="TextBox 40"/>
          <p:cNvSpPr txBox="1"/>
          <p:nvPr/>
        </p:nvSpPr>
        <p:spPr>
          <a:xfrm>
            <a:off x="9977475" y="2514600"/>
            <a:ext cx="274320" cy="365760"/>
          </a:xfrm>
          <a:prstGeom prst="rect">
            <a:avLst/>
          </a:prstGeom>
          <a:noFill/>
        </p:spPr>
        <p:txBody>
          <a:bodyPr wrap="square"/>
          <a:lstStyle/>
          <a:p>
            <a:pPr algn="ctr">
              <a:defRPr sz="1800" b="0">
                <a:solidFill>
                  <a:srgbClr val="00E676"/>
                </a:solidFill>
                <a:latin typeface="Calibri"/>
              </a:defRPr>
            </a:pPr>
            <a:r>
              <a:t>▶</a:t>
            </a:r>
          </a:p>
        </p:txBody>
      </p:sp>
      <p:sp>
        <p:nvSpPr>
          <p:cNvPr id="42" name="Rounded Rectangle 41"/>
          <p:cNvSpPr/>
          <p:nvPr/>
        </p:nvSpPr>
        <p:spPr>
          <a:xfrm>
            <a:off x="10233507" y="2011680"/>
            <a:ext cx="1325880" cy="146304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731855" y="1847088"/>
            <a:ext cx="329184" cy="329184"/>
          </a:xfrm>
          <a:prstGeom prst="ellipse">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31855" y="1865376"/>
            <a:ext cx="329184" cy="329184"/>
          </a:xfrm>
          <a:prstGeom prst="rect">
            <a:avLst/>
          </a:prstGeom>
          <a:noFill/>
        </p:spPr>
        <p:txBody>
          <a:bodyPr wrap="square"/>
          <a:lstStyle/>
          <a:p>
            <a:pPr algn="ctr">
              <a:defRPr sz="1400" b="1">
                <a:solidFill>
                  <a:srgbClr val="000000"/>
                </a:solidFill>
                <a:latin typeface="Calibri"/>
              </a:defRPr>
            </a:pPr>
            <a:r>
              <a:t>7</a:t>
            </a:r>
          </a:p>
        </p:txBody>
      </p:sp>
      <p:sp>
        <p:nvSpPr>
          <p:cNvPr id="45" name="TextBox 44"/>
          <p:cNvSpPr txBox="1"/>
          <p:nvPr/>
        </p:nvSpPr>
        <p:spPr>
          <a:xfrm>
            <a:off x="10279227" y="2240280"/>
            <a:ext cx="1234440" cy="594360"/>
          </a:xfrm>
          <a:prstGeom prst="rect">
            <a:avLst/>
          </a:prstGeom>
          <a:noFill/>
        </p:spPr>
        <p:txBody>
          <a:bodyPr wrap="square"/>
          <a:lstStyle/>
          <a:p>
            <a:pPr algn="ctr">
              <a:defRPr sz="1200" b="1">
                <a:solidFill>
                  <a:srgbClr val="FFFFFF"/>
                </a:solidFill>
                <a:latin typeface="Calibri"/>
              </a:defRPr>
            </a:pPr>
            <a:r>
              <a:t>Action</a:t>
            </a:r>
            <a:br/>
            <a:r>
              <a:t>Layer</a:t>
            </a:r>
          </a:p>
        </p:txBody>
      </p:sp>
      <p:sp>
        <p:nvSpPr>
          <p:cNvPr id="46" name="TextBox 45"/>
          <p:cNvSpPr txBox="1"/>
          <p:nvPr/>
        </p:nvSpPr>
        <p:spPr>
          <a:xfrm>
            <a:off x="10279227" y="2880360"/>
            <a:ext cx="1234440" cy="502920"/>
          </a:xfrm>
          <a:prstGeom prst="rect">
            <a:avLst/>
          </a:prstGeom>
          <a:noFill/>
        </p:spPr>
        <p:txBody>
          <a:bodyPr wrap="square"/>
          <a:lstStyle/>
          <a:p>
            <a:pPr algn="ctr">
              <a:defRPr sz="900" b="0">
                <a:solidFill>
                  <a:srgbClr val="AAAAAA"/>
                </a:solidFill>
                <a:latin typeface="Calibri"/>
              </a:defRPr>
            </a:pPr>
            <a:r>
              <a:t>AutoFix, Report,</a:t>
            </a:r>
            <a:br/>
            <a:r>
              <a:t>Pinecone store</a:t>
            </a:r>
          </a:p>
        </p:txBody>
      </p:sp>
      <p:sp>
        <p:nvSpPr>
          <p:cNvPr id="47" name="Rounded Rectangle 46"/>
          <p:cNvSpPr/>
          <p:nvPr/>
        </p:nvSpPr>
        <p:spPr>
          <a:xfrm>
            <a:off x="731520" y="4023360"/>
            <a:ext cx="3474720" cy="20116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 y="4160520"/>
            <a:ext cx="3017520" cy="365760"/>
          </a:xfrm>
          <a:prstGeom prst="rect">
            <a:avLst/>
          </a:prstGeom>
          <a:noFill/>
        </p:spPr>
        <p:txBody>
          <a:bodyPr wrap="square"/>
          <a:lstStyle/>
          <a:p>
            <a:pPr algn="l">
              <a:defRPr sz="1600" b="1">
                <a:solidFill>
                  <a:srgbClr val="00E676"/>
                </a:solidFill>
                <a:latin typeface="Calibri"/>
              </a:defRPr>
            </a:pPr>
            <a:r>
              <a:t>Input</a:t>
            </a:r>
          </a:p>
        </p:txBody>
      </p:sp>
      <p:sp>
        <p:nvSpPr>
          <p:cNvPr id="49" name="TextBox 48"/>
          <p:cNvSpPr txBox="1"/>
          <p:nvPr/>
        </p:nvSpPr>
        <p:spPr>
          <a:xfrm>
            <a:off x="960120" y="4572000"/>
            <a:ext cx="3017520" cy="1280160"/>
          </a:xfrm>
          <a:prstGeom prst="rect">
            <a:avLst/>
          </a:prstGeom>
          <a:noFill/>
        </p:spPr>
        <p:txBody>
          <a:bodyPr wrap="square"/>
          <a:lstStyle/>
          <a:p>
            <a:pPr algn="l">
              <a:defRPr sz="1300" b="0">
                <a:solidFill>
                  <a:srgbClr val="FFFFFF"/>
                </a:solidFill>
                <a:latin typeface="Calibri"/>
              </a:defRPr>
            </a:pPr>
            <a:r>
              <a:t>Source code repository</a:t>
            </a:r>
            <a:br/>
            <a:r>
              <a:t>GitHub integration</a:t>
            </a:r>
            <a:br/>
            <a:r>
              <a:t>Multiple language support</a:t>
            </a:r>
          </a:p>
        </p:txBody>
      </p:sp>
      <p:sp>
        <p:nvSpPr>
          <p:cNvPr id="50" name="Rounded Rectangle 49"/>
          <p:cNvSpPr/>
          <p:nvPr/>
        </p:nvSpPr>
        <p:spPr>
          <a:xfrm>
            <a:off x="4480559" y="4023360"/>
            <a:ext cx="3474720" cy="20116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09159" y="4160520"/>
            <a:ext cx="3017520" cy="365760"/>
          </a:xfrm>
          <a:prstGeom prst="rect">
            <a:avLst/>
          </a:prstGeom>
          <a:noFill/>
        </p:spPr>
        <p:txBody>
          <a:bodyPr wrap="square"/>
          <a:lstStyle/>
          <a:p>
            <a:pPr algn="l">
              <a:defRPr sz="1600" b="1">
                <a:solidFill>
                  <a:srgbClr val="00E676"/>
                </a:solidFill>
                <a:latin typeface="Calibri"/>
              </a:defRPr>
            </a:pPr>
            <a:r>
              <a:t>Intelligence</a:t>
            </a:r>
          </a:p>
        </p:txBody>
      </p:sp>
      <p:sp>
        <p:nvSpPr>
          <p:cNvPr id="52" name="TextBox 51"/>
          <p:cNvSpPr txBox="1"/>
          <p:nvPr/>
        </p:nvSpPr>
        <p:spPr>
          <a:xfrm>
            <a:off x="4709159" y="4572000"/>
            <a:ext cx="3017520" cy="1280160"/>
          </a:xfrm>
          <a:prstGeom prst="rect">
            <a:avLst/>
          </a:prstGeom>
          <a:noFill/>
        </p:spPr>
        <p:txBody>
          <a:bodyPr wrap="square"/>
          <a:lstStyle/>
          <a:p>
            <a:pPr algn="l">
              <a:defRPr sz="1300" b="0">
                <a:solidFill>
                  <a:srgbClr val="FFFFFF"/>
                </a:solidFill>
                <a:latin typeface="Calibri"/>
              </a:defRPr>
            </a:pPr>
            <a:r>
              <a:t>Context-aware analysis</a:t>
            </a:r>
            <a:br/>
            <a:r>
              <a:t>Semantic deduplication</a:t>
            </a:r>
            <a:br/>
            <a:r>
              <a:t>Historical learning via Pinecone</a:t>
            </a:r>
          </a:p>
        </p:txBody>
      </p:sp>
      <p:sp>
        <p:nvSpPr>
          <p:cNvPr id="53" name="Rounded Rectangle 52"/>
          <p:cNvSpPr/>
          <p:nvPr/>
        </p:nvSpPr>
        <p:spPr>
          <a:xfrm>
            <a:off x="8229600" y="4023360"/>
            <a:ext cx="3474720" cy="20116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58200" y="4160520"/>
            <a:ext cx="3017520" cy="365760"/>
          </a:xfrm>
          <a:prstGeom prst="rect">
            <a:avLst/>
          </a:prstGeom>
          <a:noFill/>
        </p:spPr>
        <p:txBody>
          <a:bodyPr wrap="square"/>
          <a:lstStyle/>
          <a:p>
            <a:pPr algn="l">
              <a:defRPr sz="1600" b="1">
                <a:solidFill>
                  <a:srgbClr val="00E676"/>
                </a:solidFill>
                <a:latin typeface="Calibri"/>
              </a:defRPr>
            </a:pPr>
            <a:r>
              <a:t>Output</a:t>
            </a:r>
          </a:p>
        </p:txBody>
      </p:sp>
      <p:sp>
        <p:nvSpPr>
          <p:cNvPr id="55" name="TextBox 54"/>
          <p:cNvSpPr txBox="1"/>
          <p:nvPr/>
        </p:nvSpPr>
        <p:spPr>
          <a:xfrm>
            <a:off x="8458200" y="4572000"/>
            <a:ext cx="3017520" cy="1280160"/>
          </a:xfrm>
          <a:prstGeom prst="rect">
            <a:avLst/>
          </a:prstGeom>
          <a:noFill/>
        </p:spPr>
        <p:txBody>
          <a:bodyPr wrap="square"/>
          <a:lstStyle/>
          <a:p>
            <a:pPr algn="l">
              <a:defRPr sz="1300" b="0">
                <a:solidFill>
                  <a:srgbClr val="FFFFFF"/>
                </a:solidFill>
                <a:latin typeface="Calibri"/>
              </a:defRPr>
            </a:pPr>
            <a:r>
              <a:t>Confirmed vulnerabilities only</a:t>
            </a:r>
            <a:br/>
            <a:r>
              <a:t>AI-generated fix suggestions</a:t>
            </a:r>
            <a:br/>
            <a:r>
              <a:t>PDF compliance reports</a:t>
            </a:r>
          </a:p>
        </p:txBody>
      </p:sp>
      <p:sp>
        <p:nvSpPr>
          <p:cNvPr id="56" name="Rectangle 55"/>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58" name="TextBox 57"/>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2340864"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2340864" cy="292608"/>
          </a:xfrm>
          <a:prstGeom prst="rect">
            <a:avLst/>
          </a:prstGeom>
          <a:noFill/>
        </p:spPr>
        <p:txBody>
          <a:bodyPr wrap="square"/>
          <a:lstStyle/>
          <a:p>
            <a:pPr algn="ctr">
              <a:defRPr sz="1000" b="1">
                <a:solidFill>
                  <a:srgbClr val="00E676"/>
                </a:solidFill>
                <a:latin typeface="Calibri"/>
              </a:defRPr>
            </a:pPr>
            <a:r>
              <a:t>KEY DIFFERENTIATOR</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Not Just Static. Proven Exploitable.</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Targeted DAST validates high-confidence SAST findings at runtime</a:t>
            </a:r>
          </a:p>
        </p:txBody>
      </p:sp>
      <p:sp>
        <p:nvSpPr>
          <p:cNvPr id="6" name="Rounded Rectangle 5"/>
          <p:cNvSpPr/>
          <p:nvPr/>
        </p:nvSpPr>
        <p:spPr>
          <a:xfrm>
            <a:off x="548640" y="1920240"/>
            <a:ext cx="5303520" cy="29260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754880" cy="365760"/>
          </a:xfrm>
          <a:prstGeom prst="rect">
            <a:avLst/>
          </a:prstGeom>
          <a:noFill/>
        </p:spPr>
        <p:txBody>
          <a:bodyPr wrap="square"/>
          <a:lstStyle/>
          <a:p>
            <a:pPr algn="l">
              <a:defRPr sz="1800" b="1">
                <a:solidFill>
                  <a:srgbClr val="FFAA00"/>
                </a:solidFill>
                <a:latin typeface="Calibri"/>
              </a:defRPr>
            </a:pPr>
            <a:r>
              <a:t>SAST Finding (Static)</a:t>
            </a:r>
          </a:p>
        </p:txBody>
      </p:sp>
      <p:sp>
        <p:nvSpPr>
          <p:cNvPr id="8" name="TextBox 7"/>
          <p:cNvSpPr txBox="1"/>
          <p:nvPr/>
        </p:nvSpPr>
        <p:spPr>
          <a:xfrm>
            <a:off x="822960" y="2468880"/>
            <a:ext cx="4754880" cy="2286000"/>
          </a:xfrm>
          <a:prstGeom prst="rect">
            <a:avLst/>
          </a:prstGeom>
          <a:noFill/>
        </p:spPr>
        <p:txBody>
          <a:bodyPr wrap="square"/>
          <a:lstStyle/>
          <a:p>
            <a:pPr algn="l">
              <a:spcBef>
                <a:spcPts val="0"/>
              </a:spcBef>
              <a:spcAft>
                <a:spcPts val="400"/>
              </a:spcAft>
              <a:defRPr sz="1400" b="1">
                <a:solidFill>
                  <a:srgbClr val="FFFFFF"/>
                </a:solidFill>
                <a:latin typeface="Calibri"/>
              </a:defRPr>
            </a:pPr>
            <a:r>
              <a:t>SQL Injection in /api/users/search</a:t>
            </a:r>
          </a:p>
          <a:p>
            <a:pPr algn="l">
              <a:spcBef>
                <a:spcPts val="0"/>
              </a:spcBef>
              <a:spcAft>
                <a:spcPts val="400"/>
              </a:spcAft>
              <a:defRPr sz="600" b="0">
                <a:solidFill>
                  <a:srgbClr val="FFFFFF"/>
                </a:solidFill>
                <a:latin typeface="Calibri"/>
              </a:defRPr>
            </a:pPr>
          </a:p>
          <a:p>
            <a:pPr algn="l">
              <a:spcBef>
                <a:spcPts val="0"/>
              </a:spcBef>
              <a:spcAft>
                <a:spcPts val="400"/>
              </a:spcAft>
              <a:defRPr sz="1200" b="0">
                <a:solidFill>
                  <a:srgbClr val="FF7979"/>
                </a:solidFill>
                <a:latin typeface="Calibri"/>
              </a:defRPr>
            </a:pPr>
            <a:r>
              <a:t>query = f"SELECT * FROM users WHERE name = '{input}'"</a:t>
            </a:r>
          </a:p>
          <a:p>
            <a:pPr algn="l">
              <a:spcBef>
                <a:spcPts val="0"/>
              </a:spcBef>
              <a:spcAft>
                <a:spcPts val="400"/>
              </a:spcAft>
              <a:defRPr sz="600" b="0">
                <a:solidFill>
                  <a:srgbClr val="FFFFFF"/>
                </a:solidFill>
                <a:latin typeface="Calibri"/>
              </a:defRPr>
            </a:pPr>
          </a:p>
          <a:p>
            <a:pPr algn="l">
              <a:spcBef>
                <a:spcPts val="0"/>
              </a:spcBef>
              <a:spcAft>
                <a:spcPts val="400"/>
              </a:spcAft>
              <a:defRPr sz="1300" b="0">
                <a:solidFill>
                  <a:srgbClr val="FFAA00"/>
                </a:solidFill>
                <a:latin typeface="Calibri"/>
              </a:defRPr>
            </a:pPr>
            <a:r>
              <a:t>⚠ Severity: HIGH (static estimate)</a:t>
            </a:r>
          </a:p>
          <a:p>
            <a:pPr algn="l">
              <a:spcBef>
                <a:spcPts val="0"/>
              </a:spcBef>
              <a:spcAft>
                <a:spcPts val="400"/>
              </a:spcAft>
              <a:defRPr sz="1300" b="0">
                <a:solidFill>
                  <a:srgbClr val="AAAAAA"/>
                </a:solidFill>
                <a:latin typeface="Calibri"/>
              </a:defRPr>
            </a:pPr>
            <a:r>
              <a:t>❓ But is this endpoint reachable?</a:t>
            </a:r>
          </a:p>
          <a:p>
            <a:pPr algn="l">
              <a:spcBef>
                <a:spcPts val="0"/>
              </a:spcBef>
              <a:spcAft>
                <a:spcPts val="400"/>
              </a:spcAft>
              <a:defRPr sz="1300" b="0">
                <a:solidFill>
                  <a:srgbClr val="AAAAAA"/>
                </a:solidFill>
                <a:latin typeface="Calibri"/>
              </a:defRPr>
            </a:pPr>
            <a:r>
              <a:t>❓ Is the input actually user-controlled?</a:t>
            </a:r>
          </a:p>
          <a:p>
            <a:pPr algn="l">
              <a:spcBef>
                <a:spcPts val="0"/>
              </a:spcBef>
              <a:spcAft>
                <a:spcPts val="400"/>
              </a:spcAft>
              <a:defRPr sz="1300" b="0">
                <a:solidFill>
                  <a:srgbClr val="AAAAAA"/>
                </a:solidFill>
                <a:latin typeface="Calibri"/>
              </a:defRPr>
            </a:pPr>
            <a:r>
              <a:t>❓ Are there middleware sanitizers?</a:t>
            </a:r>
          </a:p>
        </p:txBody>
      </p:sp>
      <p:sp>
        <p:nvSpPr>
          <p:cNvPr id="9" name="Right Arrow 8"/>
          <p:cNvSpPr/>
          <p:nvPr/>
        </p:nvSpPr>
        <p:spPr>
          <a:xfrm>
            <a:off x="5989320" y="3108960"/>
            <a:ext cx="548640" cy="365760"/>
          </a:xfrm>
          <a:prstGeom prst="rightArrow">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0" y="1920240"/>
            <a:ext cx="5029200" cy="29260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2057400"/>
            <a:ext cx="4572000" cy="365760"/>
          </a:xfrm>
          <a:prstGeom prst="rect">
            <a:avLst/>
          </a:prstGeom>
          <a:noFill/>
        </p:spPr>
        <p:txBody>
          <a:bodyPr wrap="square"/>
          <a:lstStyle/>
          <a:p>
            <a:pPr algn="l">
              <a:defRPr sz="1800" b="1">
                <a:solidFill>
                  <a:srgbClr val="00E676"/>
                </a:solidFill>
                <a:latin typeface="Calibri"/>
              </a:defRPr>
            </a:pPr>
            <a:r>
              <a:t>DAST Proof (Runtime)</a:t>
            </a:r>
          </a:p>
        </p:txBody>
      </p:sp>
      <p:sp>
        <p:nvSpPr>
          <p:cNvPr id="12" name="TextBox 11"/>
          <p:cNvSpPr txBox="1"/>
          <p:nvPr/>
        </p:nvSpPr>
        <p:spPr>
          <a:xfrm>
            <a:off x="6949440" y="2468880"/>
            <a:ext cx="4572000" cy="2286000"/>
          </a:xfrm>
          <a:prstGeom prst="rect">
            <a:avLst/>
          </a:prstGeom>
          <a:noFill/>
        </p:spPr>
        <p:txBody>
          <a:bodyPr wrap="square"/>
          <a:lstStyle/>
          <a:p>
            <a:pPr algn="l">
              <a:spcBef>
                <a:spcPts val="0"/>
              </a:spcBef>
              <a:spcAft>
                <a:spcPts val="400"/>
              </a:spcAft>
              <a:defRPr sz="1400" b="1">
                <a:solidFill>
                  <a:srgbClr val="FFFFFF"/>
                </a:solidFill>
                <a:latin typeface="Calibri"/>
              </a:defRPr>
            </a:pPr>
            <a:r>
              <a:t>ZAP Targeted Scan Result</a:t>
            </a:r>
          </a:p>
          <a:p>
            <a:pPr algn="l">
              <a:spcBef>
                <a:spcPts val="0"/>
              </a:spcBef>
              <a:spcAft>
                <a:spcPts val="400"/>
              </a:spcAft>
              <a:defRPr sz="600" b="0">
                <a:solidFill>
                  <a:srgbClr val="FFFFFF"/>
                </a:solidFill>
                <a:latin typeface="Calibri"/>
              </a:defRPr>
            </a:pPr>
          </a:p>
          <a:p>
            <a:pPr algn="l">
              <a:spcBef>
                <a:spcPts val="0"/>
              </a:spcBef>
              <a:spcAft>
                <a:spcPts val="400"/>
              </a:spcAft>
              <a:defRPr sz="1200" b="0">
                <a:solidFill>
                  <a:srgbClr val="00E676"/>
                </a:solidFill>
                <a:latin typeface="Calibri"/>
              </a:defRPr>
            </a:pPr>
            <a:r>
              <a:t>GET /api/users/search?name=' OR 1=1 --</a:t>
            </a:r>
          </a:p>
          <a:p>
            <a:pPr algn="l">
              <a:spcBef>
                <a:spcPts val="0"/>
              </a:spcBef>
              <a:spcAft>
                <a:spcPts val="400"/>
              </a:spcAft>
              <a:defRPr sz="1200" b="0">
                <a:solidFill>
                  <a:srgbClr val="FF4444"/>
                </a:solidFill>
                <a:latin typeface="Calibri"/>
              </a:defRPr>
            </a:pPr>
            <a:r>
              <a:t>Response: 200 OK | All user records returned</a:t>
            </a:r>
          </a:p>
          <a:p>
            <a:pPr algn="l">
              <a:spcBef>
                <a:spcPts val="0"/>
              </a:spcBef>
              <a:spcAft>
                <a:spcPts val="400"/>
              </a:spcAft>
              <a:defRPr sz="600" b="0">
                <a:solidFill>
                  <a:srgbClr val="FFFFFF"/>
                </a:solidFill>
                <a:latin typeface="Calibri"/>
              </a:defRPr>
            </a:pPr>
          </a:p>
          <a:p>
            <a:pPr algn="l">
              <a:spcBef>
                <a:spcPts val="0"/>
              </a:spcBef>
              <a:spcAft>
                <a:spcPts val="400"/>
              </a:spcAft>
              <a:defRPr sz="1400" b="1">
                <a:solidFill>
                  <a:srgbClr val="00E676"/>
                </a:solidFill>
                <a:latin typeface="Calibri"/>
              </a:defRPr>
            </a:pPr>
            <a:r>
              <a:t>✅ CONFIRMED EXPLOITABLE</a:t>
            </a:r>
          </a:p>
          <a:p>
            <a:pPr algn="l">
              <a:spcBef>
                <a:spcPts val="0"/>
              </a:spcBef>
              <a:spcAft>
                <a:spcPts val="400"/>
              </a:spcAft>
              <a:defRPr sz="1300" b="0">
                <a:solidFill>
                  <a:srgbClr val="00E676"/>
                </a:solidFill>
                <a:latin typeface="Calibri"/>
              </a:defRPr>
            </a:pPr>
            <a:r>
              <a:t>↑ Confidence: HIGH → CRITICAL</a:t>
            </a:r>
          </a:p>
        </p:txBody>
      </p:sp>
      <p:sp>
        <p:nvSpPr>
          <p:cNvPr id="13" name="TextBox 12"/>
          <p:cNvSpPr txBox="1"/>
          <p:nvPr/>
        </p:nvSpPr>
        <p:spPr>
          <a:xfrm>
            <a:off x="548640" y="5029200"/>
            <a:ext cx="10972800" cy="365760"/>
          </a:xfrm>
          <a:prstGeom prst="rect">
            <a:avLst/>
          </a:prstGeom>
          <a:noFill/>
        </p:spPr>
        <p:txBody>
          <a:bodyPr wrap="square"/>
          <a:lstStyle/>
          <a:p>
            <a:pPr algn="l">
              <a:defRPr sz="1600" b="1">
                <a:solidFill>
                  <a:srgbClr val="00E676"/>
                </a:solidFill>
                <a:latin typeface="Calibri"/>
              </a:defRPr>
            </a:pPr>
            <a:r>
              <a:t>Confidence Escalation Matrix</a:t>
            </a:r>
          </a:p>
        </p:txBody>
      </p:sp>
      <p:sp>
        <p:nvSpPr>
          <p:cNvPr id="14" name="Rectangle 13"/>
          <p:cNvSpPr/>
          <p:nvPr/>
        </p:nvSpPr>
        <p:spPr>
          <a:xfrm>
            <a:off x="548640" y="5440680"/>
            <a:ext cx="11064240" cy="347472"/>
          </a:xfrm>
          <a:prstGeom prst="rect">
            <a:avLst/>
          </a:prstGeom>
          <a:solidFill>
            <a:srgbClr val="003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440680"/>
            <a:ext cx="2766060" cy="347472"/>
          </a:xfrm>
          <a:prstGeom prst="rect">
            <a:avLst/>
          </a:prstGeom>
          <a:noFill/>
        </p:spPr>
        <p:txBody>
          <a:bodyPr wrap="square"/>
          <a:lstStyle/>
          <a:p>
            <a:pPr algn="ctr">
              <a:defRPr sz="1200" b="1">
                <a:solidFill>
                  <a:srgbClr val="00E676"/>
                </a:solidFill>
                <a:latin typeface="Calibri"/>
              </a:defRPr>
            </a:pPr>
            <a:r>
              <a:t>SAST Only</a:t>
            </a:r>
          </a:p>
        </p:txBody>
      </p:sp>
      <p:sp>
        <p:nvSpPr>
          <p:cNvPr id="16" name="TextBox 15"/>
          <p:cNvSpPr txBox="1"/>
          <p:nvPr/>
        </p:nvSpPr>
        <p:spPr>
          <a:xfrm>
            <a:off x="3314700" y="5440680"/>
            <a:ext cx="2766060" cy="347472"/>
          </a:xfrm>
          <a:prstGeom prst="rect">
            <a:avLst/>
          </a:prstGeom>
          <a:noFill/>
        </p:spPr>
        <p:txBody>
          <a:bodyPr wrap="square"/>
          <a:lstStyle/>
          <a:p>
            <a:pPr algn="ctr">
              <a:defRPr sz="1200" b="1">
                <a:solidFill>
                  <a:srgbClr val="00E676"/>
                </a:solidFill>
                <a:latin typeface="Calibri"/>
              </a:defRPr>
            </a:pPr>
            <a:r>
              <a:t>SAST + Context</a:t>
            </a:r>
          </a:p>
        </p:txBody>
      </p:sp>
      <p:sp>
        <p:nvSpPr>
          <p:cNvPr id="17" name="TextBox 16"/>
          <p:cNvSpPr txBox="1"/>
          <p:nvPr/>
        </p:nvSpPr>
        <p:spPr>
          <a:xfrm>
            <a:off x="6080759" y="5440680"/>
            <a:ext cx="2766060" cy="347472"/>
          </a:xfrm>
          <a:prstGeom prst="rect">
            <a:avLst/>
          </a:prstGeom>
          <a:noFill/>
        </p:spPr>
        <p:txBody>
          <a:bodyPr wrap="square"/>
          <a:lstStyle/>
          <a:p>
            <a:pPr algn="ctr">
              <a:defRPr sz="1200" b="1">
                <a:solidFill>
                  <a:srgbClr val="00E676"/>
                </a:solidFill>
                <a:latin typeface="Calibri"/>
              </a:defRPr>
            </a:pPr>
            <a:r>
              <a:t>SAST + AI Triage</a:t>
            </a:r>
          </a:p>
        </p:txBody>
      </p:sp>
      <p:sp>
        <p:nvSpPr>
          <p:cNvPr id="18" name="TextBox 17"/>
          <p:cNvSpPr txBox="1"/>
          <p:nvPr/>
        </p:nvSpPr>
        <p:spPr>
          <a:xfrm>
            <a:off x="8846819" y="5440680"/>
            <a:ext cx="2766060" cy="347472"/>
          </a:xfrm>
          <a:prstGeom prst="rect">
            <a:avLst/>
          </a:prstGeom>
          <a:noFill/>
        </p:spPr>
        <p:txBody>
          <a:bodyPr wrap="square"/>
          <a:lstStyle/>
          <a:p>
            <a:pPr algn="ctr">
              <a:defRPr sz="1200" b="1">
                <a:solidFill>
                  <a:srgbClr val="00E676"/>
                </a:solidFill>
                <a:latin typeface="Calibri"/>
              </a:defRPr>
            </a:pPr>
            <a:r>
              <a:t>SAST + AI + DAST</a:t>
            </a:r>
          </a:p>
        </p:txBody>
      </p:sp>
      <p:sp>
        <p:nvSpPr>
          <p:cNvPr id="19" name="Rectangle 18"/>
          <p:cNvSpPr/>
          <p:nvPr/>
        </p:nvSpPr>
        <p:spPr>
          <a:xfrm>
            <a:off x="548640" y="5788152"/>
            <a:ext cx="11064240" cy="347472"/>
          </a:xfrm>
          <a:prstGeom prst="rect">
            <a:avLst/>
          </a:prstGeom>
          <a:solidFill>
            <a:srgbClr val="111111"/>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88152"/>
            <a:ext cx="2766060" cy="347472"/>
          </a:xfrm>
          <a:prstGeom prst="rect">
            <a:avLst/>
          </a:prstGeom>
          <a:noFill/>
        </p:spPr>
        <p:txBody>
          <a:bodyPr wrap="square"/>
          <a:lstStyle/>
          <a:p>
            <a:pPr algn="ctr">
              <a:defRPr sz="1200" b="1">
                <a:solidFill>
                  <a:srgbClr val="FFAA00"/>
                </a:solidFill>
                <a:latin typeface="Calibri"/>
              </a:defRPr>
            </a:pPr>
            <a:r>
              <a:t>LOW</a:t>
            </a:r>
          </a:p>
        </p:txBody>
      </p:sp>
      <p:sp>
        <p:nvSpPr>
          <p:cNvPr id="21" name="TextBox 20"/>
          <p:cNvSpPr txBox="1"/>
          <p:nvPr/>
        </p:nvSpPr>
        <p:spPr>
          <a:xfrm>
            <a:off x="3314700" y="5788152"/>
            <a:ext cx="2766060" cy="347472"/>
          </a:xfrm>
          <a:prstGeom prst="rect">
            <a:avLst/>
          </a:prstGeom>
          <a:noFill/>
        </p:spPr>
        <p:txBody>
          <a:bodyPr wrap="square"/>
          <a:lstStyle/>
          <a:p>
            <a:pPr algn="ctr">
              <a:defRPr sz="1200" b="1">
                <a:solidFill>
                  <a:srgbClr val="FFCC00"/>
                </a:solidFill>
                <a:latin typeface="Calibri"/>
              </a:defRPr>
            </a:pPr>
            <a:r>
              <a:t>MEDIUM</a:t>
            </a:r>
          </a:p>
        </p:txBody>
      </p:sp>
      <p:sp>
        <p:nvSpPr>
          <p:cNvPr id="22" name="TextBox 21"/>
          <p:cNvSpPr txBox="1"/>
          <p:nvPr/>
        </p:nvSpPr>
        <p:spPr>
          <a:xfrm>
            <a:off x="6080759" y="5788152"/>
            <a:ext cx="2766060" cy="347472"/>
          </a:xfrm>
          <a:prstGeom prst="rect">
            <a:avLst/>
          </a:prstGeom>
          <a:noFill/>
        </p:spPr>
        <p:txBody>
          <a:bodyPr wrap="square"/>
          <a:lstStyle/>
          <a:p>
            <a:pPr algn="ctr">
              <a:defRPr sz="1200" b="1">
                <a:solidFill>
                  <a:srgbClr val="00E676"/>
                </a:solidFill>
                <a:latin typeface="Calibri"/>
              </a:defRPr>
            </a:pPr>
            <a:r>
              <a:t>HIGH</a:t>
            </a:r>
          </a:p>
        </p:txBody>
      </p:sp>
      <p:sp>
        <p:nvSpPr>
          <p:cNvPr id="23" name="TextBox 22"/>
          <p:cNvSpPr txBox="1"/>
          <p:nvPr/>
        </p:nvSpPr>
        <p:spPr>
          <a:xfrm>
            <a:off x="8846819" y="5788152"/>
            <a:ext cx="2766060" cy="347472"/>
          </a:xfrm>
          <a:prstGeom prst="rect">
            <a:avLst/>
          </a:prstGeom>
          <a:noFill/>
        </p:spPr>
        <p:txBody>
          <a:bodyPr wrap="square"/>
          <a:lstStyle/>
          <a:p>
            <a:pPr algn="ctr">
              <a:defRPr sz="1200" b="1">
                <a:solidFill>
                  <a:srgbClr val="00E676"/>
                </a:solidFill>
                <a:latin typeface="Calibri"/>
              </a:defRPr>
            </a:pPr>
            <a:r>
              <a:t>CRITICAL</a:t>
            </a:r>
          </a:p>
        </p:txBody>
      </p:sp>
      <p:sp>
        <p:nvSpPr>
          <p:cNvPr id="24" name="Rectangle 23"/>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26" name="TextBox 25"/>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353312"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353312" cy="292608"/>
          </a:xfrm>
          <a:prstGeom prst="rect">
            <a:avLst/>
          </a:prstGeom>
          <a:noFill/>
        </p:spPr>
        <p:txBody>
          <a:bodyPr wrap="square"/>
          <a:lstStyle/>
          <a:p>
            <a:pPr algn="ctr">
              <a:defRPr sz="1000" b="1">
                <a:solidFill>
                  <a:srgbClr val="00E676"/>
                </a:solidFill>
                <a:latin typeface="Calibri"/>
              </a:defRPr>
            </a:pPr>
            <a:r>
              <a:t>AI ENGINE</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AI That Reads Code Like a Security Engineer</a:t>
            </a:r>
          </a:p>
        </p:txBody>
      </p:sp>
      <p:sp>
        <p:nvSpPr>
          <p:cNvPr id="5" name="TextBox 4"/>
          <p:cNvSpPr txBox="1"/>
          <p:nvPr/>
        </p:nvSpPr>
        <p:spPr>
          <a:xfrm>
            <a:off x="548640" y="1280160"/>
            <a:ext cx="10972800" cy="365760"/>
          </a:xfrm>
          <a:prstGeom prst="rect">
            <a:avLst/>
          </a:prstGeom>
          <a:noFill/>
        </p:spPr>
        <p:txBody>
          <a:bodyPr wrap="square"/>
          <a:lstStyle/>
          <a:p>
            <a:pPr algn="l">
              <a:defRPr sz="1500" b="0">
                <a:solidFill>
                  <a:srgbClr val="AAAAAA"/>
                </a:solidFill>
                <a:latin typeface="Calibri"/>
              </a:defRPr>
            </a:pPr>
            <a:r>
              <a:t>LLM analyzes each finding with full code context, data flow, and security semantics</a:t>
            </a:r>
          </a:p>
        </p:txBody>
      </p:sp>
      <p:sp>
        <p:nvSpPr>
          <p:cNvPr id="6" name="Rounded Rectangle 5"/>
          <p:cNvSpPr/>
          <p:nvPr/>
        </p:nvSpPr>
        <p:spPr>
          <a:xfrm>
            <a:off x="548640" y="1828800"/>
            <a:ext cx="5486400" cy="402336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4937760" cy="320040"/>
          </a:xfrm>
          <a:prstGeom prst="rect">
            <a:avLst/>
          </a:prstGeom>
          <a:noFill/>
        </p:spPr>
        <p:txBody>
          <a:bodyPr wrap="square"/>
          <a:lstStyle/>
          <a:p>
            <a:pPr algn="l">
              <a:defRPr sz="1500" b="1">
                <a:solidFill>
                  <a:srgbClr val="00E676"/>
                </a:solidFill>
                <a:latin typeface="Calibri"/>
              </a:defRPr>
            </a:pPr>
            <a:r>
              <a:t>AI Triage Prompt (Simplified)</a:t>
            </a:r>
          </a:p>
        </p:txBody>
      </p:sp>
      <p:sp>
        <p:nvSpPr>
          <p:cNvPr id="8" name="TextBox 7"/>
          <p:cNvSpPr txBox="1"/>
          <p:nvPr/>
        </p:nvSpPr>
        <p:spPr>
          <a:xfrm>
            <a:off x="822960" y="2331720"/>
            <a:ext cx="4937760" cy="3383280"/>
          </a:xfrm>
          <a:prstGeom prst="rect">
            <a:avLst/>
          </a:prstGeom>
          <a:noFill/>
        </p:spPr>
        <p:txBody>
          <a:bodyPr wrap="square"/>
          <a:lstStyle/>
          <a:p>
            <a:pPr algn="l">
              <a:spcBef>
                <a:spcPts val="0"/>
              </a:spcBef>
              <a:spcAft>
                <a:spcPts val="400"/>
              </a:spcAft>
              <a:defRPr sz="1100" b="0">
                <a:solidFill>
                  <a:srgbClr val="AAAAAA"/>
                </a:solidFill>
                <a:latin typeface="Calibri"/>
              </a:defRPr>
            </a:pPr>
            <a:r>
              <a:t>You are a security engineer reviewing a SAST finding.</a:t>
            </a:r>
          </a:p>
          <a:p>
            <a:pPr algn="l">
              <a:spcBef>
                <a:spcPts val="0"/>
              </a:spcBef>
              <a:spcAft>
                <a:spcPts val="400"/>
              </a:spcAft>
              <a:defRPr sz="400" b="0">
                <a:solidFill>
                  <a:srgbClr val="FFFFFF"/>
                </a:solidFill>
                <a:latin typeface="Calibri"/>
              </a:defRPr>
            </a:pPr>
          </a:p>
          <a:p>
            <a:pPr algn="l">
              <a:spcBef>
                <a:spcPts val="0"/>
              </a:spcBef>
              <a:spcAft>
                <a:spcPts val="400"/>
              </a:spcAft>
              <a:defRPr sz="1200" b="1">
                <a:solidFill>
                  <a:srgbClr val="FFFFFF"/>
                </a:solidFill>
                <a:latin typeface="Calibri"/>
              </a:defRPr>
            </a:pPr>
            <a:r>
              <a:t>Finding: SQL Injection in user_search()</a:t>
            </a:r>
          </a:p>
          <a:p>
            <a:pPr algn="l">
              <a:spcBef>
                <a:spcPts val="0"/>
              </a:spcBef>
              <a:spcAft>
                <a:spcPts val="400"/>
              </a:spcAft>
              <a:defRPr sz="1100" b="0">
                <a:solidFill>
                  <a:srgbClr val="AAAAAA"/>
                </a:solidFill>
                <a:latin typeface="Calibri"/>
              </a:defRPr>
            </a:pPr>
            <a:r>
              <a:t>File: api/routes/users.py:47</a:t>
            </a:r>
          </a:p>
          <a:p>
            <a:pPr algn="l">
              <a:spcBef>
                <a:spcPts val="0"/>
              </a:spcBef>
              <a:spcAft>
                <a:spcPts val="400"/>
              </a:spcAft>
              <a:defRPr sz="1100" b="0">
                <a:solidFill>
                  <a:srgbClr val="FFAA00"/>
                </a:solidFill>
                <a:latin typeface="Calibri"/>
              </a:defRPr>
            </a:pPr>
            <a:r>
              <a:t>Severity: HIGH</a:t>
            </a:r>
          </a:p>
          <a:p>
            <a:pPr algn="l">
              <a:spcBef>
                <a:spcPts val="0"/>
              </a:spcBef>
              <a:spcAft>
                <a:spcPts val="400"/>
              </a:spcAft>
              <a:defRPr sz="400" b="0">
                <a:solidFill>
                  <a:srgbClr val="FFFFFF"/>
                </a:solidFill>
                <a:latin typeface="Calibri"/>
              </a:defRPr>
            </a:pPr>
          </a:p>
          <a:p>
            <a:pPr algn="l">
              <a:spcBef>
                <a:spcPts val="0"/>
              </a:spcBef>
              <a:spcAft>
                <a:spcPts val="400"/>
              </a:spcAft>
              <a:defRPr sz="1200" b="1">
                <a:solidFill>
                  <a:srgbClr val="FFFFFF"/>
                </a:solidFill>
                <a:latin typeface="Calibri"/>
              </a:defRPr>
            </a:pPr>
            <a:r>
              <a:t>Code Context (50 lines surrounding):</a:t>
            </a:r>
          </a:p>
          <a:p>
            <a:pPr algn="l">
              <a:spcBef>
                <a:spcPts val="0"/>
              </a:spcBef>
              <a:spcAft>
                <a:spcPts val="400"/>
              </a:spcAft>
              <a:defRPr sz="1100" b="0">
                <a:solidFill>
                  <a:srgbClr val="79C0FF"/>
                </a:solidFill>
                <a:latin typeface="Calibri"/>
              </a:defRPr>
            </a:pPr>
            <a:r>
              <a:t>  def user_search(request):</a:t>
            </a:r>
          </a:p>
          <a:p>
            <a:pPr algn="l">
              <a:spcBef>
                <a:spcPts val="0"/>
              </a:spcBef>
              <a:spcAft>
                <a:spcPts val="400"/>
              </a:spcAft>
              <a:defRPr sz="1100" b="0">
                <a:solidFill>
                  <a:srgbClr val="79C0FF"/>
                </a:solidFill>
                <a:latin typeface="Calibri"/>
              </a:defRPr>
            </a:pPr>
            <a:r>
              <a:t>    name = request.args.get('name')</a:t>
            </a:r>
          </a:p>
          <a:p>
            <a:pPr algn="l">
              <a:spcBef>
                <a:spcPts val="0"/>
              </a:spcBef>
              <a:spcAft>
                <a:spcPts val="400"/>
              </a:spcAft>
              <a:defRPr sz="1100" b="0">
                <a:solidFill>
                  <a:srgbClr val="FF7979"/>
                </a:solidFill>
                <a:latin typeface="Calibri"/>
              </a:defRPr>
            </a:pPr>
            <a:r>
              <a:t>    query = f"SELECT * FROM users</a:t>
            </a:r>
          </a:p>
          <a:p>
            <a:pPr algn="l">
              <a:spcBef>
                <a:spcPts val="0"/>
              </a:spcBef>
              <a:spcAft>
                <a:spcPts val="400"/>
              </a:spcAft>
              <a:defRPr sz="1100" b="0">
                <a:solidFill>
                  <a:srgbClr val="FF7979"/>
                </a:solidFill>
                <a:latin typeface="Calibri"/>
              </a:defRPr>
            </a:pPr>
            <a:r>
              <a:t>            WHERE name = '{name}'"</a:t>
            </a:r>
          </a:p>
          <a:p>
            <a:pPr algn="l">
              <a:spcBef>
                <a:spcPts val="0"/>
              </a:spcBef>
              <a:spcAft>
                <a:spcPts val="400"/>
              </a:spcAft>
              <a:defRPr sz="400" b="0">
                <a:solidFill>
                  <a:srgbClr val="FFFFFF"/>
                </a:solidFill>
                <a:latin typeface="Calibri"/>
              </a:defRPr>
            </a:pPr>
          </a:p>
          <a:p>
            <a:pPr algn="l">
              <a:spcBef>
                <a:spcPts val="0"/>
              </a:spcBef>
              <a:spcAft>
                <a:spcPts val="400"/>
              </a:spcAft>
              <a:defRPr sz="1100" b="0">
                <a:solidFill>
                  <a:srgbClr val="FFFFFF"/>
                </a:solidFill>
                <a:latin typeface="Calibri"/>
              </a:defRPr>
            </a:pPr>
            <a:r>
              <a:t>Data Flow: request.args → name → query → db.execute()</a:t>
            </a:r>
          </a:p>
          <a:p>
            <a:pPr algn="l">
              <a:spcBef>
                <a:spcPts val="0"/>
              </a:spcBef>
              <a:spcAft>
                <a:spcPts val="400"/>
              </a:spcAft>
              <a:defRPr sz="1100" b="0">
                <a:solidFill>
                  <a:srgbClr val="FFFFFF"/>
                </a:solidFill>
                <a:latin typeface="Calibri"/>
              </a:defRPr>
            </a:pPr>
            <a:r>
              <a:t>Entry Point: /api/users/search (public, no auth)</a:t>
            </a:r>
          </a:p>
          <a:p>
            <a:pPr algn="l">
              <a:spcBef>
                <a:spcPts val="0"/>
              </a:spcBef>
              <a:spcAft>
                <a:spcPts val="400"/>
              </a:spcAft>
              <a:defRPr sz="1100" b="0">
                <a:solidFill>
                  <a:srgbClr val="FF4444"/>
                </a:solidFill>
                <a:latin typeface="Calibri"/>
              </a:defRPr>
            </a:pPr>
            <a:r>
              <a:t>Sanitization: None detected</a:t>
            </a:r>
          </a:p>
          <a:p>
            <a:pPr algn="l">
              <a:spcBef>
                <a:spcPts val="0"/>
              </a:spcBef>
              <a:spcAft>
                <a:spcPts val="400"/>
              </a:spcAft>
              <a:defRPr sz="400" b="0">
                <a:solidFill>
                  <a:srgbClr val="FFFFFF"/>
                </a:solidFill>
                <a:latin typeface="Calibri"/>
              </a:defRPr>
            </a:pPr>
          </a:p>
          <a:p>
            <a:pPr algn="l">
              <a:spcBef>
                <a:spcPts val="0"/>
              </a:spcBef>
              <a:spcAft>
                <a:spcPts val="400"/>
              </a:spcAft>
              <a:defRPr sz="1200" b="1">
                <a:solidFill>
                  <a:srgbClr val="00E676"/>
                </a:solidFill>
                <a:latin typeface="Calibri"/>
              </a:defRPr>
            </a:pPr>
            <a:r>
              <a:t>Analyze: Is this exploitable? Adjust severity.</a:t>
            </a:r>
          </a:p>
        </p:txBody>
      </p:sp>
      <p:sp>
        <p:nvSpPr>
          <p:cNvPr id="9" name="Rounded Rectangle 8"/>
          <p:cNvSpPr/>
          <p:nvPr/>
        </p:nvSpPr>
        <p:spPr>
          <a:xfrm>
            <a:off x="6309360" y="1828800"/>
            <a:ext cx="5394960" cy="402336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965960"/>
            <a:ext cx="4846320" cy="320040"/>
          </a:xfrm>
          <a:prstGeom prst="rect">
            <a:avLst/>
          </a:prstGeom>
          <a:noFill/>
        </p:spPr>
        <p:txBody>
          <a:bodyPr wrap="square"/>
          <a:lstStyle/>
          <a:p>
            <a:pPr algn="l">
              <a:defRPr sz="1500" b="1">
                <a:solidFill>
                  <a:srgbClr val="00E676"/>
                </a:solidFill>
                <a:latin typeface="Calibri"/>
              </a:defRPr>
            </a:pPr>
            <a:r>
              <a:t>AI Response (Structured JSON)</a:t>
            </a:r>
          </a:p>
        </p:txBody>
      </p:sp>
      <p:sp>
        <p:nvSpPr>
          <p:cNvPr id="11" name="TextBox 10"/>
          <p:cNvSpPr txBox="1"/>
          <p:nvPr/>
        </p:nvSpPr>
        <p:spPr>
          <a:xfrm>
            <a:off x="6583680" y="2331720"/>
            <a:ext cx="4846320" cy="3383280"/>
          </a:xfrm>
          <a:prstGeom prst="rect">
            <a:avLst/>
          </a:prstGeom>
          <a:noFill/>
        </p:spPr>
        <p:txBody>
          <a:bodyPr wrap="square"/>
          <a:lstStyle/>
          <a:p>
            <a:pPr algn="l">
              <a:spcBef>
                <a:spcPts val="0"/>
              </a:spcBef>
              <a:spcAft>
                <a:spcPts val="400"/>
              </a:spcAft>
              <a:defRPr sz="1100" b="0">
                <a:solidFill>
                  <a:srgbClr val="AAAAAA"/>
                </a:solidFill>
                <a:latin typeface="Calibri"/>
              </a:defRPr>
            </a:pPr>
            <a:r>
              <a:t>{</a:t>
            </a:r>
          </a:p>
          <a:p>
            <a:pPr algn="l">
              <a:spcBef>
                <a:spcPts val="0"/>
              </a:spcBef>
              <a:spcAft>
                <a:spcPts val="400"/>
              </a:spcAft>
              <a:defRPr sz="1100" b="0">
                <a:solidFill>
                  <a:srgbClr val="00E676"/>
                </a:solidFill>
                <a:latin typeface="Calibri"/>
              </a:defRPr>
            </a:pPr>
            <a:r>
              <a:t>  "is_exploitable": true,</a:t>
            </a:r>
          </a:p>
          <a:p>
            <a:pPr algn="l">
              <a:spcBef>
                <a:spcPts val="0"/>
              </a:spcBef>
              <a:spcAft>
                <a:spcPts val="400"/>
              </a:spcAft>
              <a:defRPr sz="1100" b="0">
                <a:solidFill>
                  <a:srgbClr val="FF4444"/>
                </a:solidFill>
                <a:latin typeface="Calibri"/>
              </a:defRPr>
            </a:pPr>
            <a:r>
              <a:t>  "adjusted_severity": "CRITICAL",</a:t>
            </a:r>
          </a:p>
          <a:p>
            <a:pPr algn="l">
              <a:spcBef>
                <a:spcPts val="0"/>
              </a:spcBef>
              <a:spcAft>
                <a:spcPts val="400"/>
              </a:spcAft>
              <a:defRPr sz="1100" b="0">
                <a:solidFill>
                  <a:srgbClr val="FFFFFF"/>
                </a:solidFill>
                <a:latin typeface="Calibri"/>
              </a:defRPr>
            </a:pPr>
            <a:r>
              <a:t>  "confidence": 0.95,</a:t>
            </a:r>
          </a:p>
          <a:p>
            <a:pPr algn="l">
              <a:spcBef>
                <a:spcPts val="0"/>
              </a:spcBef>
              <a:spcAft>
                <a:spcPts val="400"/>
              </a:spcAft>
              <a:defRPr sz="1100" b="0">
                <a:solidFill>
                  <a:srgbClr val="FFFFFF"/>
                </a:solidFill>
                <a:latin typeface="Calibri"/>
              </a:defRPr>
            </a:pPr>
            <a:r>
              <a:t>  "reasoning": "User input flows</a:t>
            </a:r>
          </a:p>
          <a:p>
            <a:pPr algn="l">
              <a:spcBef>
                <a:spcPts val="0"/>
              </a:spcBef>
              <a:spcAft>
                <a:spcPts val="400"/>
              </a:spcAft>
              <a:defRPr sz="1100" b="0">
                <a:solidFill>
                  <a:srgbClr val="FFFFFF"/>
                </a:solidFill>
                <a:latin typeface="Calibri"/>
              </a:defRPr>
            </a:pPr>
            <a:r>
              <a:t>    directly into SQL query without</a:t>
            </a:r>
          </a:p>
          <a:p>
            <a:pPr algn="l">
              <a:spcBef>
                <a:spcPts val="0"/>
              </a:spcBef>
              <a:spcAft>
                <a:spcPts val="400"/>
              </a:spcAft>
              <a:defRPr sz="1100" b="0">
                <a:solidFill>
                  <a:srgbClr val="FFFFFF"/>
                </a:solidFill>
                <a:latin typeface="Calibri"/>
              </a:defRPr>
            </a:pPr>
            <a:r>
              <a:t>    any sanitization or parameterization.</a:t>
            </a:r>
          </a:p>
          <a:p>
            <a:pPr algn="l">
              <a:spcBef>
                <a:spcPts val="0"/>
              </a:spcBef>
              <a:spcAft>
                <a:spcPts val="400"/>
              </a:spcAft>
              <a:defRPr sz="1100" b="0">
                <a:solidFill>
                  <a:srgbClr val="FFFFFF"/>
                </a:solidFill>
                <a:latin typeface="Calibri"/>
              </a:defRPr>
            </a:pPr>
            <a:r>
              <a:t>    Endpoint is publicly accessible,</a:t>
            </a:r>
          </a:p>
          <a:p>
            <a:pPr algn="l">
              <a:spcBef>
                <a:spcPts val="0"/>
              </a:spcBef>
              <a:spcAft>
                <a:spcPts val="400"/>
              </a:spcAft>
              <a:defRPr sz="1100" b="0">
                <a:solidFill>
                  <a:srgbClr val="FFFFFF"/>
                </a:solidFill>
                <a:latin typeface="Calibri"/>
              </a:defRPr>
            </a:pPr>
            <a:r>
              <a:t>    no authentication required.",</a:t>
            </a:r>
          </a:p>
          <a:p>
            <a:pPr algn="l">
              <a:spcBef>
                <a:spcPts val="0"/>
              </a:spcBef>
              <a:spcAft>
                <a:spcPts val="400"/>
              </a:spcAft>
              <a:defRPr sz="1100" b="0">
                <a:solidFill>
                  <a:srgbClr val="FF7979"/>
                </a:solidFill>
                <a:latin typeface="Calibri"/>
              </a:defRPr>
            </a:pPr>
            <a:r>
              <a:t>  "attack_vector": "GET /api/users/</a:t>
            </a:r>
          </a:p>
          <a:p>
            <a:pPr algn="l">
              <a:spcBef>
                <a:spcPts val="0"/>
              </a:spcBef>
              <a:spcAft>
                <a:spcPts val="400"/>
              </a:spcAft>
              <a:defRPr sz="1100" b="0">
                <a:solidFill>
                  <a:srgbClr val="FF7979"/>
                </a:solidFill>
                <a:latin typeface="Calibri"/>
              </a:defRPr>
            </a:pPr>
            <a:r>
              <a:t>    search?name=' OR 1=1 --",</a:t>
            </a:r>
          </a:p>
          <a:p>
            <a:pPr algn="l">
              <a:spcBef>
                <a:spcPts val="0"/>
              </a:spcBef>
              <a:spcAft>
                <a:spcPts val="400"/>
              </a:spcAft>
              <a:defRPr sz="1100" b="0">
                <a:solidFill>
                  <a:srgbClr val="79C0FF"/>
                </a:solidFill>
                <a:latin typeface="Calibri"/>
              </a:defRPr>
            </a:pPr>
            <a:r>
              <a:t>  "fix_suggestion": "Use parameterized</a:t>
            </a:r>
          </a:p>
          <a:p>
            <a:pPr algn="l">
              <a:spcBef>
                <a:spcPts val="0"/>
              </a:spcBef>
              <a:spcAft>
                <a:spcPts val="400"/>
              </a:spcAft>
              <a:defRPr sz="1100" b="0">
                <a:solidFill>
                  <a:srgbClr val="79C0FF"/>
                </a:solidFill>
                <a:latin typeface="Calibri"/>
              </a:defRPr>
            </a:pPr>
            <a:r>
              <a:t>    queries: db.execute(sql, [name])"</a:t>
            </a:r>
          </a:p>
          <a:p>
            <a:pPr algn="l">
              <a:spcBef>
                <a:spcPts val="0"/>
              </a:spcBef>
              <a:spcAft>
                <a:spcPts val="400"/>
              </a:spcAft>
              <a:defRPr sz="1100" b="0">
                <a:solidFill>
                  <a:srgbClr val="AAAAAA"/>
                </a:solidFill>
                <a:latin typeface="Calibri"/>
              </a:defRPr>
            </a:pPr>
            <a:r>
              <a:t>}</a:t>
            </a:r>
          </a:p>
        </p:txBody>
      </p:sp>
      <p:sp>
        <p:nvSpPr>
          <p:cNvPr id="12" name="Rounded Rectangle 11"/>
          <p:cNvSpPr/>
          <p:nvPr/>
        </p:nvSpPr>
        <p:spPr>
          <a:xfrm>
            <a:off x="3200400" y="5989320"/>
            <a:ext cx="5943600" cy="36576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5989320"/>
            <a:ext cx="5943600" cy="365760"/>
          </a:xfrm>
          <a:prstGeom prst="rect">
            <a:avLst/>
          </a:prstGeom>
          <a:noFill/>
        </p:spPr>
        <p:txBody>
          <a:bodyPr wrap="square"/>
          <a:lstStyle/>
          <a:p>
            <a:pPr algn="ctr">
              <a:defRPr sz="1200" b="1">
                <a:solidFill>
                  <a:srgbClr val="00E676"/>
                </a:solidFill>
                <a:latin typeface="Calibri"/>
              </a:defRPr>
            </a:pPr>
            <a:r>
              <a:t>Not just severity — reasoning, attack vectors, and fix suggestions in one response</a:t>
            </a:r>
          </a:p>
        </p:txBody>
      </p:sp>
      <p:sp>
        <p:nvSpPr>
          <p:cNvPr id="14" name="Rectangle 13"/>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6" name="TextBox 15"/>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353312"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353312" cy="292608"/>
          </a:xfrm>
          <a:prstGeom prst="rect">
            <a:avLst/>
          </a:prstGeom>
          <a:noFill/>
        </p:spPr>
        <p:txBody>
          <a:bodyPr wrap="square"/>
          <a:lstStyle/>
          <a:p>
            <a:pPr algn="ctr">
              <a:defRPr sz="1000" b="1">
                <a:solidFill>
                  <a:srgbClr val="00E676"/>
                </a:solidFill>
                <a:latin typeface="Calibri"/>
              </a:defRPr>
            </a:pPr>
            <a:r>
              <a:t>LIVE DEMO</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Product Walkthrough: Dashboard</a:t>
            </a:r>
          </a:p>
        </p:txBody>
      </p:sp>
      <p:sp>
        <p:nvSpPr>
          <p:cNvPr id="5" name="Rounded Rectangle 4"/>
          <p:cNvSpPr/>
          <p:nvPr/>
        </p:nvSpPr>
        <p:spPr>
          <a:xfrm>
            <a:off x="548640" y="1554480"/>
            <a:ext cx="2560320" cy="1188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2194560" cy="274320"/>
          </a:xfrm>
          <a:prstGeom prst="rect">
            <a:avLst/>
          </a:prstGeom>
          <a:noFill/>
        </p:spPr>
        <p:txBody>
          <a:bodyPr wrap="square"/>
          <a:lstStyle/>
          <a:p>
            <a:pPr algn="l">
              <a:defRPr sz="1200" b="0">
                <a:solidFill>
                  <a:srgbClr val="AAAAAA"/>
                </a:solidFill>
                <a:latin typeface="Calibri"/>
              </a:defRPr>
            </a:pPr>
            <a:r>
              <a:t>Total Scans</a:t>
            </a:r>
          </a:p>
        </p:txBody>
      </p:sp>
      <p:sp>
        <p:nvSpPr>
          <p:cNvPr id="7" name="TextBox 6"/>
          <p:cNvSpPr txBox="1"/>
          <p:nvPr/>
        </p:nvSpPr>
        <p:spPr>
          <a:xfrm>
            <a:off x="731520" y="2011680"/>
            <a:ext cx="2194560" cy="548640"/>
          </a:xfrm>
          <a:prstGeom prst="rect">
            <a:avLst/>
          </a:prstGeom>
          <a:noFill/>
        </p:spPr>
        <p:txBody>
          <a:bodyPr wrap="square"/>
          <a:lstStyle/>
          <a:p>
            <a:pPr algn="ctr">
              <a:defRPr sz="3600" b="1">
                <a:solidFill>
                  <a:srgbClr val="00E676"/>
                </a:solidFill>
                <a:latin typeface="Calibri"/>
              </a:defRPr>
            </a:pPr>
            <a:r>
              <a:t>24</a:t>
            </a:r>
          </a:p>
        </p:txBody>
      </p:sp>
      <p:sp>
        <p:nvSpPr>
          <p:cNvPr id="8" name="Rounded Rectangle 7"/>
          <p:cNvSpPr/>
          <p:nvPr/>
        </p:nvSpPr>
        <p:spPr>
          <a:xfrm>
            <a:off x="3383280" y="1554480"/>
            <a:ext cx="2560320" cy="1188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691640"/>
            <a:ext cx="2194560" cy="274320"/>
          </a:xfrm>
          <a:prstGeom prst="rect">
            <a:avLst/>
          </a:prstGeom>
          <a:noFill/>
        </p:spPr>
        <p:txBody>
          <a:bodyPr wrap="square"/>
          <a:lstStyle/>
          <a:p>
            <a:pPr algn="l">
              <a:defRPr sz="1200" b="0">
                <a:solidFill>
                  <a:srgbClr val="AAAAAA"/>
                </a:solidFill>
                <a:latin typeface="Calibri"/>
              </a:defRPr>
            </a:pPr>
            <a:r>
              <a:t>Active Issues</a:t>
            </a:r>
          </a:p>
        </p:txBody>
      </p:sp>
      <p:sp>
        <p:nvSpPr>
          <p:cNvPr id="10" name="TextBox 9"/>
          <p:cNvSpPr txBox="1"/>
          <p:nvPr/>
        </p:nvSpPr>
        <p:spPr>
          <a:xfrm>
            <a:off x="3566160" y="2011680"/>
            <a:ext cx="2194560" cy="548640"/>
          </a:xfrm>
          <a:prstGeom prst="rect">
            <a:avLst/>
          </a:prstGeom>
          <a:noFill/>
        </p:spPr>
        <p:txBody>
          <a:bodyPr wrap="square"/>
          <a:lstStyle/>
          <a:p>
            <a:pPr algn="ctr">
              <a:defRPr sz="3600" b="1">
                <a:solidFill>
                  <a:srgbClr val="00E676"/>
                </a:solidFill>
                <a:latin typeface="Calibri"/>
              </a:defRPr>
            </a:pPr>
            <a:r>
              <a:t>12</a:t>
            </a:r>
          </a:p>
        </p:txBody>
      </p:sp>
      <p:sp>
        <p:nvSpPr>
          <p:cNvPr id="11" name="Rounded Rectangle 10"/>
          <p:cNvSpPr/>
          <p:nvPr/>
        </p:nvSpPr>
        <p:spPr>
          <a:xfrm>
            <a:off x="6217920" y="1554480"/>
            <a:ext cx="2560320" cy="1188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91640"/>
            <a:ext cx="2194560" cy="274320"/>
          </a:xfrm>
          <a:prstGeom prst="rect">
            <a:avLst/>
          </a:prstGeom>
          <a:noFill/>
        </p:spPr>
        <p:txBody>
          <a:bodyPr wrap="square"/>
          <a:lstStyle/>
          <a:p>
            <a:pPr algn="l">
              <a:defRPr sz="1200" b="0">
                <a:solidFill>
                  <a:srgbClr val="AAAAAA"/>
                </a:solidFill>
                <a:latin typeface="Calibri"/>
              </a:defRPr>
            </a:pPr>
            <a:r>
              <a:t>Fixed This Week</a:t>
            </a:r>
          </a:p>
        </p:txBody>
      </p:sp>
      <p:sp>
        <p:nvSpPr>
          <p:cNvPr id="13" name="TextBox 12"/>
          <p:cNvSpPr txBox="1"/>
          <p:nvPr/>
        </p:nvSpPr>
        <p:spPr>
          <a:xfrm>
            <a:off x="6400800" y="2011680"/>
            <a:ext cx="2194560" cy="548640"/>
          </a:xfrm>
          <a:prstGeom prst="rect">
            <a:avLst/>
          </a:prstGeom>
          <a:noFill/>
        </p:spPr>
        <p:txBody>
          <a:bodyPr wrap="square"/>
          <a:lstStyle/>
          <a:p>
            <a:pPr algn="ctr">
              <a:defRPr sz="3600" b="1">
                <a:solidFill>
                  <a:srgbClr val="00E676"/>
                </a:solidFill>
                <a:latin typeface="Calibri"/>
              </a:defRPr>
            </a:pPr>
            <a:r>
              <a:t>8</a:t>
            </a:r>
          </a:p>
        </p:txBody>
      </p:sp>
      <p:sp>
        <p:nvSpPr>
          <p:cNvPr id="14" name="Rounded Rectangle 13"/>
          <p:cNvSpPr/>
          <p:nvPr/>
        </p:nvSpPr>
        <p:spPr>
          <a:xfrm>
            <a:off x="9052560" y="1554480"/>
            <a:ext cx="2560320" cy="1188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691640"/>
            <a:ext cx="2194560" cy="274320"/>
          </a:xfrm>
          <a:prstGeom prst="rect">
            <a:avLst/>
          </a:prstGeom>
          <a:noFill/>
        </p:spPr>
        <p:txBody>
          <a:bodyPr wrap="square"/>
          <a:lstStyle/>
          <a:p>
            <a:pPr algn="l">
              <a:defRPr sz="1200" b="0">
                <a:solidFill>
                  <a:srgbClr val="AAAAAA"/>
                </a:solidFill>
                <a:latin typeface="Calibri"/>
              </a:defRPr>
            </a:pPr>
            <a:r>
              <a:t>Risk Score</a:t>
            </a:r>
          </a:p>
        </p:txBody>
      </p:sp>
      <p:sp>
        <p:nvSpPr>
          <p:cNvPr id="16" name="TextBox 15"/>
          <p:cNvSpPr txBox="1"/>
          <p:nvPr/>
        </p:nvSpPr>
        <p:spPr>
          <a:xfrm>
            <a:off x="9235440" y="2011680"/>
            <a:ext cx="2194560" cy="548640"/>
          </a:xfrm>
          <a:prstGeom prst="rect">
            <a:avLst/>
          </a:prstGeom>
          <a:noFill/>
        </p:spPr>
        <p:txBody>
          <a:bodyPr wrap="square"/>
          <a:lstStyle/>
          <a:p>
            <a:pPr algn="ctr">
              <a:defRPr sz="3600" b="1">
                <a:solidFill>
                  <a:srgbClr val="00E676"/>
                </a:solidFill>
                <a:latin typeface="Calibri"/>
              </a:defRPr>
            </a:pPr>
            <a:r>
              <a:t>B+</a:t>
            </a:r>
          </a:p>
        </p:txBody>
      </p:sp>
      <p:sp>
        <p:nvSpPr>
          <p:cNvPr id="17" name="Rounded Rectangle 16"/>
          <p:cNvSpPr/>
          <p:nvPr/>
        </p:nvSpPr>
        <p:spPr>
          <a:xfrm>
            <a:off x="548640" y="3017520"/>
            <a:ext cx="5303520" cy="29260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54680"/>
            <a:ext cx="4754880" cy="320040"/>
          </a:xfrm>
          <a:prstGeom prst="rect">
            <a:avLst/>
          </a:prstGeom>
          <a:noFill/>
        </p:spPr>
        <p:txBody>
          <a:bodyPr wrap="square"/>
          <a:lstStyle/>
          <a:p>
            <a:pPr algn="l">
              <a:defRPr sz="1600" b="1">
                <a:solidFill>
                  <a:srgbClr val="00E676"/>
                </a:solidFill>
                <a:latin typeface="Calibri"/>
              </a:defRPr>
            </a:pPr>
            <a:r>
              <a:t>Findings by Severity</a:t>
            </a:r>
          </a:p>
        </p:txBody>
      </p:sp>
      <p:sp>
        <p:nvSpPr>
          <p:cNvPr id="19" name="TextBox 18"/>
          <p:cNvSpPr txBox="1"/>
          <p:nvPr/>
        </p:nvSpPr>
        <p:spPr>
          <a:xfrm>
            <a:off x="822960" y="3657600"/>
            <a:ext cx="1097280" cy="320040"/>
          </a:xfrm>
          <a:prstGeom prst="rect">
            <a:avLst/>
          </a:prstGeom>
          <a:noFill/>
        </p:spPr>
        <p:txBody>
          <a:bodyPr wrap="square"/>
          <a:lstStyle/>
          <a:p>
            <a:pPr algn="l">
              <a:defRPr sz="1200" b="1">
                <a:solidFill>
                  <a:srgbClr val="FF4444"/>
                </a:solidFill>
                <a:latin typeface="Calibri"/>
              </a:defRPr>
            </a:pPr>
            <a:r>
              <a:t>CRITICAL</a:t>
            </a:r>
          </a:p>
        </p:txBody>
      </p:sp>
      <p:sp>
        <p:nvSpPr>
          <p:cNvPr id="20" name="Rectangle 19"/>
          <p:cNvSpPr/>
          <p:nvPr/>
        </p:nvSpPr>
        <p:spPr>
          <a:xfrm>
            <a:off x="2103120" y="3703320"/>
            <a:ext cx="3200400" cy="228600"/>
          </a:xfrm>
          <a:prstGeom prst="rect">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40680" y="3657600"/>
            <a:ext cx="457200" cy="320040"/>
          </a:xfrm>
          <a:prstGeom prst="rect">
            <a:avLst/>
          </a:prstGeom>
          <a:noFill/>
        </p:spPr>
        <p:txBody>
          <a:bodyPr wrap="square"/>
          <a:lstStyle/>
          <a:p>
            <a:pPr algn="l">
              <a:defRPr sz="1200" b="0">
                <a:solidFill>
                  <a:srgbClr val="FFFFFF"/>
                </a:solidFill>
                <a:latin typeface="Calibri"/>
              </a:defRPr>
            </a:pPr>
            <a:r>
              <a:t>3</a:t>
            </a:r>
          </a:p>
        </p:txBody>
      </p:sp>
      <p:sp>
        <p:nvSpPr>
          <p:cNvPr id="22" name="TextBox 21"/>
          <p:cNvSpPr txBox="1"/>
          <p:nvPr/>
        </p:nvSpPr>
        <p:spPr>
          <a:xfrm>
            <a:off x="822960" y="4206240"/>
            <a:ext cx="1097280" cy="320040"/>
          </a:xfrm>
          <a:prstGeom prst="rect">
            <a:avLst/>
          </a:prstGeom>
          <a:noFill/>
        </p:spPr>
        <p:txBody>
          <a:bodyPr wrap="square"/>
          <a:lstStyle/>
          <a:p>
            <a:pPr algn="l">
              <a:defRPr sz="1200" b="1">
                <a:solidFill>
                  <a:srgbClr val="FFAA00"/>
                </a:solidFill>
                <a:latin typeface="Calibri"/>
              </a:defRPr>
            </a:pPr>
            <a:r>
              <a:t>HIGH</a:t>
            </a:r>
          </a:p>
        </p:txBody>
      </p:sp>
      <p:sp>
        <p:nvSpPr>
          <p:cNvPr id="23" name="Rectangle 22"/>
          <p:cNvSpPr/>
          <p:nvPr/>
        </p:nvSpPr>
        <p:spPr>
          <a:xfrm>
            <a:off x="2103120" y="4251960"/>
            <a:ext cx="2560320" cy="228600"/>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206240"/>
            <a:ext cx="457200" cy="320040"/>
          </a:xfrm>
          <a:prstGeom prst="rect">
            <a:avLst/>
          </a:prstGeom>
          <a:noFill/>
        </p:spPr>
        <p:txBody>
          <a:bodyPr wrap="square"/>
          <a:lstStyle/>
          <a:p>
            <a:pPr algn="l">
              <a:defRPr sz="1200" b="0">
                <a:solidFill>
                  <a:srgbClr val="FFFFFF"/>
                </a:solidFill>
                <a:latin typeface="Calibri"/>
              </a:defRPr>
            </a:pPr>
            <a:r>
              <a:t>5</a:t>
            </a:r>
          </a:p>
        </p:txBody>
      </p:sp>
      <p:sp>
        <p:nvSpPr>
          <p:cNvPr id="25" name="TextBox 24"/>
          <p:cNvSpPr txBox="1"/>
          <p:nvPr/>
        </p:nvSpPr>
        <p:spPr>
          <a:xfrm>
            <a:off x="822960" y="4754880"/>
            <a:ext cx="1097280" cy="320040"/>
          </a:xfrm>
          <a:prstGeom prst="rect">
            <a:avLst/>
          </a:prstGeom>
          <a:noFill/>
        </p:spPr>
        <p:txBody>
          <a:bodyPr wrap="square"/>
          <a:lstStyle/>
          <a:p>
            <a:pPr algn="l">
              <a:defRPr sz="1200" b="1">
                <a:solidFill>
                  <a:srgbClr val="FFCC00"/>
                </a:solidFill>
                <a:latin typeface="Calibri"/>
              </a:defRPr>
            </a:pPr>
            <a:r>
              <a:t>MEDIUM</a:t>
            </a:r>
          </a:p>
        </p:txBody>
      </p:sp>
      <p:sp>
        <p:nvSpPr>
          <p:cNvPr id="26" name="Rectangle 25"/>
          <p:cNvSpPr/>
          <p:nvPr/>
        </p:nvSpPr>
        <p:spPr>
          <a:xfrm>
            <a:off x="2103120" y="4800600"/>
            <a:ext cx="1371600" cy="22860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11880" y="4754880"/>
            <a:ext cx="457200" cy="320040"/>
          </a:xfrm>
          <a:prstGeom prst="rect">
            <a:avLst/>
          </a:prstGeom>
          <a:noFill/>
        </p:spPr>
        <p:txBody>
          <a:bodyPr wrap="square"/>
          <a:lstStyle/>
          <a:p>
            <a:pPr algn="l">
              <a:defRPr sz="1200" b="0">
                <a:solidFill>
                  <a:srgbClr val="FFFFFF"/>
                </a:solidFill>
                <a:latin typeface="Calibri"/>
              </a:defRPr>
            </a:pPr>
            <a:r>
              <a:t>2</a:t>
            </a:r>
          </a:p>
        </p:txBody>
      </p:sp>
      <p:sp>
        <p:nvSpPr>
          <p:cNvPr id="28" name="TextBox 27"/>
          <p:cNvSpPr txBox="1"/>
          <p:nvPr/>
        </p:nvSpPr>
        <p:spPr>
          <a:xfrm>
            <a:off x="822960" y="5303520"/>
            <a:ext cx="1097280" cy="320040"/>
          </a:xfrm>
          <a:prstGeom prst="rect">
            <a:avLst/>
          </a:prstGeom>
          <a:noFill/>
        </p:spPr>
        <p:txBody>
          <a:bodyPr wrap="square"/>
          <a:lstStyle/>
          <a:p>
            <a:pPr algn="l">
              <a:defRPr sz="1200" b="1">
                <a:solidFill>
                  <a:srgbClr val="66BB6A"/>
                </a:solidFill>
                <a:latin typeface="Calibri"/>
              </a:defRPr>
            </a:pPr>
            <a:r>
              <a:t>LOW</a:t>
            </a:r>
          </a:p>
        </p:txBody>
      </p:sp>
      <p:sp>
        <p:nvSpPr>
          <p:cNvPr id="29" name="Rectangle 28"/>
          <p:cNvSpPr/>
          <p:nvPr/>
        </p:nvSpPr>
        <p:spPr>
          <a:xfrm>
            <a:off x="2103120" y="5349240"/>
            <a:ext cx="731520" cy="22860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71800" y="5303520"/>
            <a:ext cx="457200" cy="320040"/>
          </a:xfrm>
          <a:prstGeom prst="rect">
            <a:avLst/>
          </a:prstGeom>
          <a:noFill/>
        </p:spPr>
        <p:txBody>
          <a:bodyPr wrap="square"/>
          <a:lstStyle/>
          <a:p>
            <a:pPr algn="l">
              <a:defRPr sz="1200" b="0">
                <a:solidFill>
                  <a:srgbClr val="FFFFFF"/>
                </a:solidFill>
                <a:latin typeface="Calibri"/>
              </a:defRPr>
            </a:pPr>
            <a:r>
              <a:t>2</a:t>
            </a:r>
          </a:p>
        </p:txBody>
      </p:sp>
      <p:sp>
        <p:nvSpPr>
          <p:cNvPr id="31" name="Rounded Rectangle 30"/>
          <p:cNvSpPr/>
          <p:nvPr/>
        </p:nvSpPr>
        <p:spPr>
          <a:xfrm>
            <a:off x="6126480" y="3017520"/>
            <a:ext cx="5577840" cy="29260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154680"/>
            <a:ext cx="5029200" cy="320040"/>
          </a:xfrm>
          <a:prstGeom prst="rect">
            <a:avLst/>
          </a:prstGeom>
          <a:noFill/>
        </p:spPr>
        <p:txBody>
          <a:bodyPr wrap="square"/>
          <a:lstStyle/>
          <a:p>
            <a:pPr algn="l">
              <a:defRPr sz="1600" b="1">
                <a:solidFill>
                  <a:srgbClr val="00E676"/>
                </a:solidFill>
                <a:latin typeface="Calibri"/>
              </a:defRPr>
            </a:pPr>
            <a:r>
              <a:t>Recent Scan Activity</a:t>
            </a:r>
          </a:p>
        </p:txBody>
      </p:sp>
      <p:sp>
        <p:nvSpPr>
          <p:cNvPr id="33" name="TextBox 32"/>
          <p:cNvSpPr txBox="1"/>
          <p:nvPr/>
        </p:nvSpPr>
        <p:spPr>
          <a:xfrm>
            <a:off x="6400800" y="3657600"/>
            <a:ext cx="4114800" cy="320040"/>
          </a:xfrm>
          <a:prstGeom prst="rect">
            <a:avLst/>
          </a:prstGeom>
          <a:noFill/>
        </p:spPr>
        <p:txBody>
          <a:bodyPr wrap="square"/>
          <a:lstStyle/>
          <a:p>
            <a:pPr algn="l">
              <a:defRPr sz="1100" b="0">
                <a:solidFill>
                  <a:srgbClr val="FFFFFF"/>
                </a:solidFill>
                <a:latin typeface="Calibri"/>
              </a:defRPr>
            </a:pPr>
            <a:r>
              <a:t>✅  Scan #24 completed — 3 critical findings</a:t>
            </a:r>
          </a:p>
        </p:txBody>
      </p:sp>
      <p:sp>
        <p:nvSpPr>
          <p:cNvPr id="34" name="TextBox 33"/>
          <p:cNvSpPr txBox="1"/>
          <p:nvPr/>
        </p:nvSpPr>
        <p:spPr>
          <a:xfrm>
            <a:off x="10515600" y="3657600"/>
            <a:ext cx="1188720" cy="320040"/>
          </a:xfrm>
          <a:prstGeom prst="rect">
            <a:avLst/>
          </a:prstGeom>
          <a:noFill/>
        </p:spPr>
        <p:txBody>
          <a:bodyPr wrap="square"/>
          <a:lstStyle/>
          <a:p>
            <a:pPr algn="r">
              <a:defRPr sz="1000" b="0">
                <a:solidFill>
                  <a:srgbClr val="AAAAAA"/>
                </a:solidFill>
                <a:latin typeface="Calibri"/>
              </a:defRPr>
            </a:pPr>
            <a:r>
              <a:t>2 min ago</a:t>
            </a:r>
          </a:p>
        </p:txBody>
      </p:sp>
      <p:sp>
        <p:nvSpPr>
          <p:cNvPr id="35" name="TextBox 34"/>
          <p:cNvSpPr txBox="1"/>
          <p:nvPr/>
        </p:nvSpPr>
        <p:spPr>
          <a:xfrm>
            <a:off x="6400800" y="4096512"/>
            <a:ext cx="4114800" cy="320040"/>
          </a:xfrm>
          <a:prstGeom prst="rect">
            <a:avLst/>
          </a:prstGeom>
          <a:noFill/>
        </p:spPr>
        <p:txBody>
          <a:bodyPr wrap="square"/>
          <a:lstStyle/>
          <a:p>
            <a:pPr algn="l">
              <a:defRPr sz="1100" b="0">
                <a:solidFill>
                  <a:srgbClr val="FFFFFF"/>
                </a:solidFill>
                <a:latin typeface="Calibri"/>
              </a:defRPr>
            </a:pPr>
            <a:r>
              <a:t>🔧  AutoFix applied to XSS in /api/comments</a:t>
            </a:r>
          </a:p>
        </p:txBody>
      </p:sp>
      <p:sp>
        <p:nvSpPr>
          <p:cNvPr id="36" name="TextBox 35"/>
          <p:cNvSpPr txBox="1"/>
          <p:nvPr/>
        </p:nvSpPr>
        <p:spPr>
          <a:xfrm>
            <a:off x="10515600" y="4096512"/>
            <a:ext cx="1188720" cy="320040"/>
          </a:xfrm>
          <a:prstGeom prst="rect">
            <a:avLst/>
          </a:prstGeom>
          <a:noFill/>
        </p:spPr>
        <p:txBody>
          <a:bodyPr wrap="square"/>
          <a:lstStyle/>
          <a:p>
            <a:pPr algn="r">
              <a:defRPr sz="1000" b="0">
                <a:solidFill>
                  <a:srgbClr val="AAAAAA"/>
                </a:solidFill>
                <a:latin typeface="Calibri"/>
              </a:defRPr>
            </a:pPr>
            <a:r>
              <a:t>15 min ago</a:t>
            </a:r>
          </a:p>
        </p:txBody>
      </p:sp>
      <p:sp>
        <p:nvSpPr>
          <p:cNvPr id="37" name="TextBox 36"/>
          <p:cNvSpPr txBox="1"/>
          <p:nvPr/>
        </p:nvSpPr>
        <p:spPr>
          <a:xfrm>
            <a:off x="6400800" y="4535424"/>
            <a:ext cx="4114800" cy="320040"/>
          </a:xfrm>
          <a:prstGeom prst="rect">
            <a:avLst/>
          </a:prstGeom>
          <a:noFill/>
        </p:spPr>
        <p:txBody>
          <a:bodyPr wrap="square"/>
          <a:lstStyle/>
          <a:p>
            <a:pPr algn="l">
              <a:defRPr sz="1100" b="0">
                <a:solidFill>
                  <a:srgbClr val="FFFFFF"/>
                </a:solidFill>
                <a:latin typeface="Calibri"/>
              </a:defRPr>
            </a:pPr>
            <a:r>
              <a:t>📋  PDF Report generated for Scan #23</a:t>
            </a:r>
          </a:p>
        </p:txBody>
      </p:sp>
      <p:sp>
        <p:nvSpPr>
          <p:cNvPr id="38" name="TextBox 37"/>
          <p:cNvSpPr txBox="1"/>
          <p:nvPr/>
        </p:nvSpPr>
        <p:spPr>
          <a:xfrm>
            <a:off x="10515600" y="4535424"/>
            <a:ext cx="1188720" cy="320040"/>
          </a:xfrm>
          <a:prstGeom prst="rect">
            <a:avLst/>
          </a:prstGeom>
          <a:noFill/>
        </p:spPr>
        <p:txBody>
          <a:bodyPr wrap="square"/>
          <a:lstStyle/>
          <a:p>
            <a:pPr algn="r">
              <a:defRPr sz="1000" b="0">
                <a:solidFill>
                  <a:srgbClr val="AAAAAA"/>
                </a:solidFill>
                <a:latin typeface="Calibri"/>
              </a:defRPr>
            </a:pPr>
            <a:r>
              <a:t>1 hour ago</a:t>
            </a:r>
          </a:p>
        </p:txBody>
      </p:sp>
      <p:sp>
        <p:nvSpPr>
          <p:cNvPr id="39" name="TextBox 38"/>
          <p:cNvSpPr txBox="1"/>
          <p:nvPr/>
        </p:nvSpPr>
        <p:spPr>
          <a:xfrm>
            <a:off x="6400800" y="4974336"/>
            <a:ext cx="4114800" cy="320040"/>
          </a:xfrm>
          <a:prstGeom prst="rect">
            <a:avLst/>
          </a:prstGeom>
          <a:noFill/>
        </p:spPr>
        <p:txBody>
          <a:bodyPr wrap="square"/>
          <a:lstStyle/>
          <a:p>
            <a:pPr algn="l">
              <a:defRPr sz="1100" b="0">
                <a:solidFill>
                  <a:srgbClr val="FFFFFF"/>
                </a:solidFill>
                <a:latin typeface="Calibri"/>
              </a:defRPr>
            </a:pPr>
            <a:r>
              <a:t>⚠️  New finding: SSRF in /api/proxy</a:t>
            </a:r>
          </a:p>
        </p:txBody>
      </p:sp>
      <p:sp>
        <p:nvSpPr>
          <p:cNvPr id="40" name="TextBox 39"/>
          <p:cNvSpPr txBox="1"/>
          <p:nvPr/>
        </p:nvSpPr>
        <p:spPr>
          <a:xfrm>
            <a:off x="10515600" y="4974336"/>
            <a:ext cx="1188720" cy="320040"/>
          </a:xfrm>
          <a:prstGeom prst="rect">
            <a:avLst/>
          </a:prstGeom>
          <a:noFill/>
        </p:spPr>
        <p:txBody>
          <a:bodyPr wrap="square"/>
          <a:lstStyle/>
          <a:p>
            <a:pPr algn="r">
              <a:defRPr sz="1000" b="0">
                <a:solidFill>
                  <a:srgbClr val="AAAAAA"/>
                </a:solidFill>
                <a:latin typeface="Calibri"/>
              </a:defRPr>
            </a:pPr>
            <a:r>
              <a:t>3 hours ago</a:t>
            </a:r>
          </a:p>
        </p:txBody>
      </p:sp>
      <p:sp>
        <p:nvSpPr>
          <p:cNvPr id="41" name="TextBox 40"/>
          <p:cNvSpPr txBox="1"/>
          <p:nvPr/>
        </p:nvSpPr>
        <p:spPr>
          <a:xfrm>
            <a:off x="6400800" y="5413248"/>
            <a:ext cx="4114800" cy="320040"/>
          </a:xfrm>
          <a:prstGeom prst="rect">
            <a:avLst/>
          </a:prstGeom>
          <a:noFill/>
        </p:spPr>
        <p:txBody>
          <a:bodyPr wrap="square"/>
          <a:lstStyle/>
          <a:p>
            <a:pPr algn="l">
              <a:defRPr sz="1100" b="0">
                <a:solidFill>
                  <a:srgbClr val="FFFFFF"/>
                </a:solidFill>
                <a:latin typeface="Calibri"/>
              </a:defRPr>
            </a:pPr>
            <a:r>
              <a:t>✅  Scan #22 completed — 0 critical findings</a:t>
            </a:r>
          </a:p>
        </p:txBody>
      </p:sp>
      <p:sp>
        <p:nvSpPr>
          <p:cNvPr id="42" name="TextBox 41"/>
          <p:cNvSpPr txBox="1"/>
          <p:nvPr/>
        </p:nvSpPr>
        <p:spPr>
          <a:xfrm>
            <a:off x="10515600" y="5413248"/>
            <a:ext cx="1188720" cy="320040"/>
          </a:xfrm>
          <a:prstGeom prst="rect">
            <a:avLst/>
          </a:prstGeom>
          <a:noFill/>
        </p:spPr>
        <p:txBody>
          <a:bodyPr wrap="square"/>
          <a:lstStyle/>
          <a:p>
            <a:pPr algn="r">
              <a:defRPr sz="1000" b="0">
                <a:solidFill>
                  <a:srgbClr val="AAAAAA"/>
                </a:solidFill>
                <a:latin typeface="Calibri"/>
              </a:defRPr>
            </a:pPr>
            <a:r>
              <a:t>Yesterday</a:t>
            </a:r>
          </a:p>
        </p:txBody>
      </p:sp>
      <p:sp>
        <p:nvSpPr>
          <p:cNvPr id="43" name="Rectangle 42"/>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45" name="TextBox 44"/>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7a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353312"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353312" cy="292608"/>
          </a:xfrm>
          <a:prstGeom prst="rect">
            <a:avLst/>
          </a:prstGeom>
          <a:noFill/>
        </p:spPr>
        <p:txBody>
          <a:bodyPr wrap="square"/>
          <a:lstStyle/>
          <a:p>
            <a:pPr algn="ctr">
              <a:defRPr sz="1000" b="1">
                <a:solidFill>
                  <a:srgbClr val="00E676"/>
                </a:solidFill>
                <a:latin typeface="Calibri"/>
              </a:defRPr>
            </a:pPr>
            <a:r>
              <a:t>LIVE DEMO</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Product Walkthrough: Scan Trigger</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One-click scanning with full pipeline orchestration</a:t>
            </a:r>
          </a:p>
        </p:txBody>
      </p:sp>
      <p:sp>
        <p:nvSpPr>
          <p:cNvPr id="6" name="Rounded Rectangle 5"/>
          <p:cNvSpPr/>
          <p:nvPr/>
        </p:nvSpPr>
        <p:spPr>
          <a:xfrm>
            <a:off x="914400" y="1920240"/>
            <a:ext cx="5029200" cy="38404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103120"/>
            <a:ext cx="4572000" cy="365760"/>
          </a:xfrm>
          <a:prstGeom prst="rect">
            <a:avLst/>
          </a:prstGeom>
          <a:noFill/>
        </p:spPr>
        <p:txBody>
          <a:bodyPr wrap="square"/>
          <a:lstStyle/>
          <a:p>
            <a:pPr algn="l">
              <a:defRPr sz="2000" b="1">
                <a:solidFill>
                  <a:srgbClr val="00E676"/>
                </a:solidFill>
                <a:latin typeface="Calibri"/>
              </a:defRPr>
            </a:pPr>
            <a:r>
              <a:t>New Scan</a:t>
            </a:r>
          </a:p>
        </p:txBody>
      </p:sp>
      <p:sp>
        <p:nvSpPr>
          <p:cNvPr id="8" name="TextBox 7"/>
          <p:cNvSpPr txBox="1"/>
          <p:nvPr/>
        </p:nvSpPr>
        <p:spPr>
          <a:xfrm>
            <a:off x="1188720" y="2651760"/>
            <a:ext cx="4389120" cy="228600"/>
          </a:xfrm>
          <a:prstGeom prst="rect">
            <a:avLst/>
          </a:prstGeom>
          <a:noFill/>
        </p:spPr>
        <p:txBody>
          <a:bodyPr wrap="square"/>
          <a:lstStyle/>
          <a:p>
            <a:pPr algn="l">
              <a:defRPr sz="1100" b="0">
                <a:solidFill>
                  <a:srgbClr val="AAAAAA"/>
                </a:solidFill>
                <a:latin typeface="Calibri"/>
              </a:defRPr>
            </a:pPr>
            <a:r>
              <a:t>Repository URL</a:t>
            </a:r>
          </a:p>
        </p:txBody>
      </p:sp>
      <p:sp>
        <p:nvSpPr>
          <p:cNvPr id="9" name="Rounded Rectangle 8"/>
          <p:cNvSpPr/>
          <p:nvPr/>
        </p:nvSpPr>
        <p:spPr>
          <a:xfrm>
            <a:off x="1188720" y="2880360"/>
            <a:ext cx="4389120" cy="320040"/>
          </a:xfrm>
          <a:prstGeom prst="roundRect">
            <a:avLst>
              <a:gd name="adj" fmla="val 5000"/>
            </a:avLst>
          </a:prstGeom>
          <a:solidFill>
            <a:srgbClr val="1A1A1A"/>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880360"/>
            <a:ext cx="4023360" cy="320040"/>
          </a:xfrm>
          <a:prstGeom prst="rect">
            <a:avLst/>
          </a:prstGeom>
          <a:noFill/>
        </p:spPr>
        <p:txBody>
          <a:bodyPr wrap="square"/>
          <a:lstStyle/>
          <a:p>
            <a:pPr algn="l">
              <a:defRPr sz="1200" b="0">
                <a:solidFill>
                  <a:srgbClr val="FFFFFF"/>
                </a:solidFill>
                <a:latin typeface="Calibri"/>
              </a:defRPr>
            </a:pPr>
            <a:r>
              <a:t>github.com/acme/web-app</a:t>
            </a:r>
          </a:p>
        </p:txBody>
      </p:sp>
      <p:sp>
        <p:nvSpPr>
          <p:cNvPr id="11" name="TextBox 10"/>
          <p:cNvSpPr txBox="1"/>
          <p:nvPr/>
        </p:nvSpPr>
        <p:spPr>
          <a:xfrm>
            <a:off x="1188720" y="3291839"/>
            <a:ext cx="4389120" cy="228600"/>
          </a:xfrm>
          <a:prstGeom prst="rect">
            <a:avLst/>
          </a:prstGeom>
          <a:noFill/>
        </p:spPr>
        <p:txBody>
          <a:bodyPr wrap="square"/>
          <a:lstStyle/>
          <a:p>
            <a:pPr algn="l">
              <a:defRPr sz="1100" b="0">
                <a:solidFill>
                  <a:srgbClr val="AAAAAA"/>
                </a:solidFill>
                <a:latin typeface="Calibri"/>
              </a:defRPr>
            </a:pPr>
            <a:r>
              <a:t>Branch</a:t>
            </a:r>
          </a:p>
        </p:txBody>
      </p:sp>
      <p:sp>
        <p:nvSpPr>
          <p:cNvPr id="12" name="Rounded Rectangle 11"/>
          <p:cNvSpPr/>
          <p:nvPr/>
        </p:nvSpPr>
        <p:spPr>
          <a:xfrm>
            <a:off x="1188720" y="3520439"/>
            <a:ext cx="4389120" cy="320040"/>
          </a:xfrm>
          <a:prstGeom prst="roundRect">
            <a:avLst>
              <a:gd name="adj" fmla="val 5000"/>
            </a:avLst>
          </a:prstGeom>
          <a:solidFill>
            <a:srgbClr val="1A1A1A"/>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3520439"/>
            <a:ext cx="4023360" cy="320040"/>
          </a:xfrm>
          <a:prstGeom prst="rect">
            <a:avLst/>
          </a:prstGeom>
          <a:noFill/>
        </p:spPr>
        <p:txBody>
          <a:bodyPr wrap="square"/>
          <a:lstStyle/>
          <a:p>
            <a:pPr algn="l">
              <a:defRPr sz="1200" b="0">
                <a:solidFill>
                  <a:srgbClr val="FFFFFF"/>
                </a:solidFill>
                <a:latin typeface="Calibri"/>
              </a:defRPr>
            </a:pPr>
            <a:r>
              <a:t>main</a:t>
            </a:r>
          </a:p>
        </p:txBody>
      </p:sp>
      <p:sp>
        <p:nvSpPr>
          <p:cNvPr id="14" name="TextBox 13"/>
          <p:cNvSpPr txBox="1"/>
          <p:nvPr/>
        </p:nvSpPr>
        <p:spPr>
          <a:xfrm>
            <a:off x="1188720" y="3931920"/>
            <a:ext cx="4389120" cy="228600"/>
          </a:xfrm>
          <a:prstGeom prst="rect">
            <a:avLst/>
          </a:prstGeom>
          <a:noFill/>
        </p:spPr>
        <p:txBody>
          <a:bodyPr wrap="square"/>
          <a:lstStyle/>
          <a:p>
            <a:pPr algn="l">
              <a:defRPr sz="1100" b="0">
                <a:solidFill>
                  <a:srgbClr val="AAAAAA"/>
                </a:solidFill>
                <a:latin typeface="Calibri"/>
              </a:defRPr>
            </a:pPr>
            <a:r>
              <a:t>Scan Profile</a:t>
            </a:r>
          </a:p>
        </p:txBody>
      </p:sp>
      <p:sp>
        <p:nvSpPr>
          <p:cNvPr id="15" name="Rounded Rectangle 14"/>
          <p:cNvSpPr/>
          <p:nvPr/>
        </p:nvSpPr>
        <p:spPr>
          <a:xfrm>
            <a:off x="1188720" y="4160520"/>
            <a:ext cx="4389120" cy="320040"/>
          </a:xfrm>
          <a:prstGeom prst="roundRect">
            <a:avLst>
              <a:gd name="adj" fmla="val 5000"/>
            </a:avLst>
          </a:prstGeom>
          <a:solidFill>
            <a:srgbClr val="1A1A1A"/>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160520"/>
            <a:ext cx="4023360" cy="320040"/>
          </a:xfrm>
          <a:prstGeom prst="rect">
            <a:avLst/>
          </a:prstGeom>
          <a:noFill/>
        </p:spPr>
        <p:txBody>
          <a:bodyPr wrap="square"/>
          <a:lstStyle/>
          <a:p>
            <a:pPr algn="l">
              <a:defRPr sz="1200" b="0">
                <a:solidFill>
                  <a:srgbClr val="FFFFFF"/>
                </a:solidFill>
                <a:latin typeface="Calibri"/>
              </a:defRPr>
            </a:pPr>
            <a:r>
              <a:t>Full Pipeline (SAST + DAST)</a:t>
            </a:r>
          </a:p>
        </p:txBody>
      </p:sp>
      <p:sp>
        <p:nvSpPr>
          <p:cNvPr id="17" name="TextBox 16"/>
          <p:cNvSpPr txBox="1"/>
          <p:nvPr/>
        </p:nvSpPr>
        <p:spPr>
          <a:xfrm>
            <a:off x="1188720" y="4572000"/>
            <a:ext cx="4389120" cy="228600"/>
          </a:xfrm>
          <a:prstGeom prst="rect">
            <a:avLst/>
          </a:prstGeom>
          <a:noFill/>
        </p:spPr>
        <p:txBody>
          <a:bodyPr wrap="square"/>
          <a:lstStyle/>
          <a:p>
            <a:pPr algn="l">
              <a:defRPr sz="1100" b="0">
                <a:solidFill>
                  <a:srgbClr val="AAAAAA"/>
                </a:solidFill>
                <a:latin typeface="Calibri"/>
              </a:defRPr>
            </a:pPr>
            <a:r>
              <a:t>Language</a:t>
            </a:r>
          </a:p>
        </p:txBody>
      </p:sp>
      <p:sp>
        <p:nvSpPr>
          <p:cNvPr id="18" name="Rounded Rectangle 17"/>
          <p:cNvSpPr/>
          <p:nvPr/>
        </p:nvSpPr>
        <p:spPr>
          <a:xfrm>
            <a:off x="1188720" y="4800600"/>
            <a:ext cx="4389120" cy="320040"/>
          </a:xfrm>
          <a:prstGeom prst="roundRect">
            <a:avLst>
              <a:gd name="adj" fmla="val 5000"/>
            </a:avLst>
          </a:prstGeom>
          <a:solidFill>
            <a:srgbClr val="1A1A1A"/>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800600"/>
            <a:ext cx="4023360" cy="320040"/>
          </a:xfrm>
          <a:prstGeom prst="rect">
            <a:avLst/>
          </a:prstGeom>
          <a:noFill/>
        </p:spPr>
        <p:txBody>
          <a:bodyPr wrap="square"/>
          <a:lstStyle/>
          <a:p>
            <a:pPr algn="l">
              <a:defRPr sz="1200" b="0">
                <a:solidFill>
                  <a:srgbClr val="FFFFFF"/>
                </a:solidFill>
                <a:latin typeface="Calibri"/>
              </a:defRPr>
            </a:pPr>
            <a:r>
              <a:t>Auto-detect (Python, JS, Java...)</a:t>
            </a:r>
          </a:p>
        </p:txBody>
      </p:sp>
      <p:sp>
        <p:nvSpPr>
          <p:cNvPr id="20" name="Rounded Rectangle 19"/>
          <p:cNvSpPr/>
          <p:nvPr/>
        </p:nvSpPr>
        <p:spPr>
          <a:xfrm>
            <a:off x="1188720" y="5212080"/>
            <a:ext cx="4389120" cy="411480"/>
          </a:xfrm>
          <a:prstGeom prst="roundRect">
            <a:avLst>
              <a:gd name="adj" fmla="val 50000"/>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212080"/>
            <a:ext cx="4389120" cy="411480"/>
          </a:xfrm>
          <a:prstGeom prst="rect">
            <a:avLst/>
          </a:prstGeom>
          <a:noFill/>
        </p:spPr>
        <p:txBody>
          <a:bodyPr wrap="square"/>
          <a:lstStyle/>
          <a:p>
            <a:pPr algn="ctr">
              <a:defRPr sz="1600" b="1">
                <a:solidFill>
                  <a:srgbClr val="000000"/>
                </a:solidFill>
                <a:latin typeface="Calibri"/>
              </a:defRPr>
            </a:pPr>
            <a:r>
              <a:t>▶  Start Scan</a:t>
            </a:r>
          </a:p>
        </p:txBody>
      </p:sp>
      <p:sp>
        <p:nvSpPr>
          <p:cNvPr id="22" name="Rounded Rectangle 21"/>
          <p:cNvSpPr/>
          <p:nvPr/>
        </p:nvSpPr>
        <p:spPr>
          <a:xfrm>
            <a:off x="6400800" y="1920240"/>
            <a:ext cx="5303520" cy="38404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103120"/>
            <a:ext cx="4754880" cy="365760"/>
          </a:xfrm>
          <a:prstGeom prst="rect">
            <a:avLst/>
          </a:prstGeom>
          <a:noFill/>
        </p:spPr>
        <p:txBody>
          <a:bodyPr wrap="square"/>
          <a:lstStyle/>
          <a:p>
            <a:pPr algn="l">
              <a:defRPr sz="2000" b="1">
                <a:solidFill>
                  <a:srgbClr val="00E676"/>
                </a:solidFill>
                <a:latin typeface="Calibri"/>
              </a:defRPr>
            </a:pPr>
            <a:r>
              <a:t>Pipeline Progress</a:t>
            </a:r>
          </a:p>
        </p:txBody>
      </p:sp>
      <p:sp>
        <p:nvSpPr>
          <p:cNvPr id="24" name="TextBox 23"/>
          <p:cNvSpPr txBox="1"/>
          <p:nvPr/>
        </p:nvSpPr>
        <p:spPr>
          <a:xfrm>
            <a:off x="6675120" y="2651760"/>
            <a:ext cx="365760" cy="320040"/>
          </a:xfrm>
          <a:prstGeom prst="rect">
            <a:avLst/>
          </a:prstGeom>
          <a:noFill/>
        </p:spPr>
        <p:txBody>
          <a:bodyPr wrap="square"/>
          <a:lstStyle/>
          <a:p>
            <a:pPr algn="l">
              <a:defRPr sz="1400" b="0">
                <a:solidFill>
                  <a:srgbClr val="00E676"/>
                </a:solidFill>
                <a:latin typeface="Calibri"/>
              </a:defRPr>
            </a:pPr>
            <a:r>
              <a:t>✅</a:t>
            </a:r>
          </a:p>
        </p:txBody>
      </p:sp>
      <p:sp>
        <p:nvSpPr>
          <p:cNvPr id="25" name="TextBox 24"/>
          <p:cNvSpPr txBox="1"/>
          <p:nvPr/>
        </p:nvSpPr>
        <p:spPr>
          <a:xfrm>
            <a:off x="7132320" y="2651760"/>
            <a:ext cx="3474720" cy="320040"/>
          </a:xfrm>
          <a:prstGeom prst="rect">
            <a:avLst/>
          </a:prstGeom>
          <a:noFill/>
        </p:spPr>
        <p:txBody>
          <a:bodyPr wrap="square"/>
          <a:lstStyle/>
          <a:p>
            <a:pPr algn="l">
              <a:defRPr sz="1300" b="0">
                <a:solidFill>
                  <a:srgbClr val="00E676"/>
                </a:solidFill>
                <a:latin typeface="Calibri"/>
              </a:defRPr>
            </a:pPr>
            <a:r>
              <a:t>Repository cloned</a:t>
            </a:r>
          </a:p>
        </p:txBody>
      </p:sp>
      <p:sp>
        <p:nvSpPr>
          <p:cNvPr id="26" name="TextBox 25"/>
          <p:cNvSpPr txBox="1"/>
          <p:nvPr/>
        </p:nvSpPr>
        <p:spPr>
          <a:xfrm>
            <a:off x="10607040" y="2651760"/>
            <a:ext cx="914400" cy="320040"/>
          </a:xfrm>
          <a:prstGeom prst="rect">
            <a:avLst/>
          </a:prstGeom>
          <a:noFill/>
        </p:spPr>
        <p:txBody>
          <a:bodyPr wrap="square"/>
          <a:lstStyle/>
          <a:p>
            <a:pPr algn="r">
              <a:defRPr sz="1100" b="0">
                <a:solidFill>
                  <a:srgbClr val="AAAAAA"/>
                </a:solidFill>
                <a:latin typeface="Calibri"/>
              </a:defRPr>
            </a:pPr>
            <a:r>
              <a:t>3s</a:t>
            </a:r>
          </a:p>
        </p:txBody>
      </p:sp>
      <p:sp>
        <p:nvSpPr>
          <p:cNvPr id="27" name="TextBox 26"/>
          <p:cNvSpPr txBox="1"/>
          <p:nvPr/>
        </p:nvSpPr>
        <p:spPr>
          <a:xfrm>
            <a:off x="6675120" y="3090672"/>
            <a:ext cx="365760" cy="320040"/>
          </a:xfrm>
          <a:prstGeom prst="rect">
            <a:avLst/>
          </a:prstGeom>
          <a:noFill/>
        </p:spPr>
        <p:txBody>
          <a:bodyPr wrap="square"/>
          <a:lstStyle/>
          <a:p>
            <a:pPr algn="l">
              <a:defRPr sz="1400" b="0">
                <a:solidFill>
                  <a:srgbClr val="00E676"/>
                </a:solidFill>
                <a:latin typeface="Calibri"/>
              </a:defRPr>
            </a:pPr>
            <a:r>
              <a:t>✅</a:t>
            </a:r>
          </a:p>
        </p:txBody>
      </p:sp>
      <p:sp>
        <p:nvSpPr>
          <p:cNvPr id="28" name="TextBox 27"/>
          <p:cNvSpPr txBox="1"/>
          <p:nvPr/>
        </p:nvSpPr>
        <p:spPr>
          <a:xfrm>
            <a:off x="7132320" y="3090672"/>
            <a:ext cx="3474720" cy="320040"/>
          </a:xfrm>
          <a:prstGeom prst="rect">
            <a:avLst/>
          </a:prstGeom>
          <a:noFill/>
        </p:spPr>
        <p:txBody>
          <a:bodyPr wrap="square"/>
          <a:lstStyle/>
          <a:p>
            <a:pPr algn="l">
              <a:defRPr sz="1300" b="0">
                <a:solidFill>
                  <a:srgbClr val="00E676"/>
                </a:solidFill>
                <a:latin typeface="Calibri"/>
              </a:defRPr>
            </a:pPr>
            <a:r>
              <a:t>SAST scan (Semgrep)</a:t>
            </a:r>
          </a:p>
        </p:txBody>
      </p:sp>
      <p:sp>
        <p:nvSpPr>
          <p:cNvPr id="29" name="TextBox 28"/>
          <p:cNvSpPr txBox="1"/>
          <p:nvPr/>
        </p:nvSpPr>
        <p:spPr>
          <a:xfrm>
            <a:off x="10607040" y="3090672"/>
            <a:ext cx="914400" cy="320040"/>
          </a:xfrm>
          <a:prstGeom prst="rect">
            <a:avLst/>
          </a:prstGeom>
          <a:noFill/>
        </p:spPr>
        <p:txBody>
          <a:bodyPr wrap="square"/>
          <a:lstStyle/>
          <a:p>
            <a:pPr algn="r">
              <a:defRPr sz="1100" b="0">
                <a:solidFill>
                  <a:srgbClr val="AAAAAA"/>
                </a:solidFill>
                <a:latin typeface="Calibri"/>
              </a:defRPr>
            </a:pPr>
            <a:r>
              <a:t>45s</a:t>
            </a:r>
          </a:p>
        </p:txBody>
      </p:sp>
      <p:sp>
        <p:nvSpPr>
          <p:cNvPr id="30" name="TextBox 29"/>
          <p:cNvSpPr txBox="1"/>
          <p:nvPr/>
        </p:nvSpPr>
        <p:spPr>
          <a:xfrm>
            <a:off x="6675120" y="3529584"/>
            <a:ext cx="365760" cy="320040"/>
          </a:xfrm>
          <a:prstGeom prst="rect">
            <a:avLst/>
          </a:prstGeom>
          <a:noFill/>
        </p:spPr>
        <p:txBody>
          <a:bodyPr wrap="square"/>
          <a:lstStyle/>
          <a:p>
            <a:pPr algn="l">
              <a:defRPr sz="1400" b="0">
                <a:solidFill>
                  <a:srgbClr val="00E676"/>
                </a:solidFill>
                <a:latin typeface="Calibri"/>
              </a:defRPr>
            </a:pPr>
            <a:r>
              <a:t>✅</a:t>
            </a:r>
          </a:p>
        </p:txBody>
      </p:sp>
      <p:sp>
        <p:nvSpPr>
          <p:cNvPr id="31" name="TextBox 30"/>
          <p:cNvSpPr txBox="1"/>
          <p:nvPr/>
        </p:nvSpPr>
        <p:spPr>
          <a:xfrm>
            <a:off x="7132320" y="3529584"/>
            <a:ext cx="3474720" cy="320040"/>
          </a:xfrm>
          <a:prstGeom prst="rect">
            <a:avLst/>
          </a:prstGeom>
          <a:noFill/>
        </p:spPr>
        <p:txBody>
          <a:bodyPr wrap="square"/>
          <a:lstStyle/>
          <a:p>
            <a:pPr algn="l">
              <a:defRPr sz="1300" b="0">
                <a:solidFill>
                  <a:srgbClr val="00E676"/>
                </a:solidFill>
                <a:latin typeface="Calibri"/>
              </a:defRPr>
            </a:pPr>
            <a:r>
              <a:t>Context extraction complete</a:t>
            </a:r>
          </a:p>
        </p:txBody>
      </p:sp>
      <p:sp>
        <p:nvSpPr>
          <p:cNvPr id="32" name="TextBox 31"/>
          <p:cNvSpPr txBox="1"/>
          <p:nvPr/>
        </p:nvSpPr>
        <p:spPr>
          <a:xfrm>
            <a:off x="10607040" y="3529584"/>
            <a:ext cx="914400" cy="320040"/>
          </a:xfrm>
          <a:prstGeom prst="rect">
            <a:avLst/>
          </a:prstGeom>
          <a:noFill/>
        </p:spPr>
        <p:txBody>
          <a:bodyPr wrap="square"/>
          <a:lstStyle/>
          <a:p>
            <a:pPr algn="r">
              <a:defRPr sz="1100" b="0">
                <a:solidFill>
                  <a:srgbClr val="AAAAAA"/>
                </a:solidFill>
                <a:latin typeface="Calibri"/>
              </a:defRPr>
            </a:pPr>
            <a:r>
              <a:t>12s</a:t>
            </a:r>
          </a:p>
        </p:txBody>
      </p:sp>
      <p:sp>
        <p:nvSpPr>
          <p:cNvPr id="33" name="TextBox 32"/>
          <p:cNvSpPr txBox="1"/>
          <p:nvPr/>
        </p:nvSpPr>
        <p:spPr>
          <a:xfrm>
            <a:off x="6675120" y="3968496"/>
            <a:ext cx="365760" cy="320040"/>
          </a:xfrm>
          <a:prstGeom prst="rect">
            <a:avLst/>
          </a:prstGeom>
          <a:noFill/>
        </p:spPr>
        <p:txBody>
          <a:bodyPr wrap="square"/>
          <a:lstStyle/>
          <a:p>
            <a:pPr algn="l">
              <a:defRPr sz="1400" b="0">
                <a:solidFill>
                  <a:srgbClr val="00E676"/>
                </a:solidFill>
                <a:latin typeface="Calibri"/>
              </a:defRPr>
            </a:pPr>
            <a:r>
              <a:t>✅</a:t>
            </a:r>
          </a:p>
        </p:txBody>
      </p:sp>
      <p:sp>
        <p:nvSpPr>
          <p:cNvPr id="34" name="TextBox 33"/>
          <p:cNvSpPr txBox="1"/>
          <p:nvPr/>
        </p:nvSpPr>
        <p:spPr>
          <a:xfrm>
            <a:off x="7132320" y="3968496"/>
            <a:ext cx="3474720" cy="320040"/>
          </a:xfrm>
          <a:prstGeom prst="rect">
            <a:avLst/>
          </a:prstGeom>
          <a:noFill/>
        </p:spPr>
        <p:txBody>
          <a:bodyPr wrap="square"/>
          <a:lstStyle/>
          <a:p>
            <a:pPr algn="l">
              <a:defRPr sz="1300" b="0">
                <a:solidFill>
                  <a:srgbClr val="00E676"/>
                </a:solidFill>
                <a:latin typeface="Calibri"/>
              </a:defRPr>
            </a:pPr>
            <a:r>
              <a:t>AI triage (87 findings)</a:t>
            </a:r>
          </a:p>
        </p:txBody>
      </p:sp>
      <p:sp>
        <p:nvSpPr>
          <p:cNvPr id="35" name="TextBox 34"/>
          <p:cNvSpPr txBox="1"/>
          <p:nvPr/>
        </p:nvSpPr>
        <p:spPr>
          <a:xfrm>
            <a:off x="10607040" y="3968496"/>
            <a:ext cx="914400" cy="320040"/>
          </a:xfrm>
          <a:prstGeom prst="rect">
            <a:avLst/>
          </a:prstGeom>
          <a:noFill/>
        </p:spPr>
        <p:txBody>
          <a:bodyPr wrap="square"/>
          <a:lstStyle/>
          <a:p>
            <a:pPr algn="r">
              <a:defRPr sz="1100" b="0">
                <a:solidFill>
                  <a:srgbClr val="AAAAAA"/>
                </a:solidFill>
                <a:latin typeface="Calibri"/>
              </a:defRPr>
            </a:pPr>
            <a:r>
              <a:t>90s</a:t>
            </a:r>
          </a:p>
        </p:txBody>
      </p:sp>
      <p:sp>
        <p:nvSpPr>
          <p:cNvPr id="36" name="TextBox 35"/>
          <p:cNvSpPr txBox="1"/>
          <p:nvPr/>
        </p:nvSpPr>
        <p:spPr>
          <a:xfrm>
            <a:off x="6675120" y="4407408"/>
            <a:ext cx="365760" cy="320040"/>
          </a:xfrm>
          <a:prstGeom prst="rect">
            <a:avLst/>
          </a:prstGeom>
          <a:noFill/>
        </p:spPr>
        <p:txBody>
          <a:bodyPr wrap="square"/>
          <a:lstStyle/>
          <a:p>
            <a:pPr algn="l">
              <a:defRPr sz="1400" b="0">
                <a:solidFill>
                  <a:srgbClr val="FFFFFF"/>
                </a:solidFill>
                <a:latin typeface="Calibri"/>
              </a:defRPr>
            </a:pPr>
            <a:r>
              <a:t>⏳</a:t>
            </a:r>
          </a:p>
        </p:txBody>
      </p:sp>
      <p:sp>
        <p:nvSpPr>
          <p:cNvPr id="37" name="TextBox 36"/>
          <p:cNvSpPr txBox="1"/>
          <p:nvPr/>
        </p:nvSpPr>
        <p:spPr>
          <a:xfrm>
            <a:off x="7132320" y="4407408"/>
            <a:ext cx="3474720" cy="320040"/>
          </a:xfrm>
          <a:prstGeom prst="rect">
            <a:avLst/>
          </a:prstGeom>
          <a:noFill/>
        </p:spPr>
        <p:txBody>
          <a:bodyPr wrap="square"/>
          <a:lstStyle/>
          <a:p>
            <a:pPr algn="l">
              <a:defRPr sz="1300" b="1">
                <a:solidFill>
                  <a:srgbClr val="FFFFFF"/>
                </a:solidFill>
                <a:latin typeface="Calibri"/>
              </a:defRPr>
            </a:pPr>
            <a:r>
              <a:t>Targeted DAST running...</a:t>
            </a:r>
          </a:p>
        </p:txBody>
      </p:sp>
      <p:sp>
        <p:nvSpPr>
          <p:cNvPr id="38" name="TextBox 37"/>
          <p:cNvSpPr txBox="1"/>
          <p:nvPr/>
        </p:nvSpPr>
        <p:spPr>
          <a:xfrm>
            <a:off x="10607040" y="4407408"/>
            <a:ext cx="914400" cy="320040"/>
          </a:xfrm>
          <a:prstGeom prst="rect">
            <a:avLst/>
          </a:prstGeom>
          <a:noFill/>
        </p:spPr>
        <p:txBody>
          <a:bodyPr wrap="square"/>
          <a:lstStyle/>
          <a:p>
            <a:pPr algn="r">
              <a:defRPr sz="1100" b="0">
                <a:solidFill>
                  <a:srgbClr val="AAAAAA"/>
                </a:solidFill>
                <a:latin typeface="Calibri"/>
              </a:defRPr>
            </a:pPr>
            <a:r>
              <a:t>~60s</a:t>
            </a:r>
          </a:p>
        </p:txBody>
      </p:sp>
      <p:sp>
        <p:nvSpPr>
          <p:cNvPr id="39" name="TextBox 38"/>
          <p:cNvSpPr txBox="1"/>
          <p:nvPr/>
        </p:nvSpPr>
        <p:spPr>
          <a:xfrm>
            <a:off x="6675120" y="4846320"/>
            <a:ext cx="365760" cy="320040"/>
          </a:xfrm>
          <a:prstGeom prst="rect">
            <a:avLst/>
          </a:prstGeom>
          <a:noFill/>
        </p:spPr>
        <p:txBody>
          <a:bodyPr wrap="square"/>
          <a:lstStyle/>
          <a:p>
            <a:pPr algn="l">
              <a:defRPr sz="1400" b="0">
                <a:solidFill>
                  <a:srgbClr val="FFFFFF"/>
                </a:solidFill>
                <a:latin typeface="Calibri"/>
              </a:defRPr>
            </a:pPr>
            <a:r>
              <a:t>⏳</a:t>
            </a:r>
          </a:p>
        </p:txBody>
      </p:sp>
      <p:sp>
        <p:nvSpPr>
          <p:cNvPr id="40" name="TextBox 39"/>
          <p:cNvSpPr txBox="1"/>
          <p:nvPr/>
        </p:nvSpPr>
        <p:spPr>
          <a:xfrm>
            <a:off x="7132320" y="4846320"/>
            <a:ext cx="3474720" cy="320040"/>
          </a:xfrm>
          <a:prstGeom prst="rect">
            <a:avLst/>
          </a:prstGeom>
          <a:noFill/>
        </p:spPr>
        <p:txBody>
          <a:bodyPr wrap="square"/>
          <a:lstStyle/>
          <a:p>
            <a:pPr algn="l">
              <a:defRPr sz="1300" b="1">
                <a:solidFill>
                  <a:srgbClr val="FFFFFF"/>
                </a:solidFill>
                <a:latin typeface="Calibri"/>
              </a:defRPr>
            </a:pPr>
            <a:r>
              <a:t>Correlation engine</a:t>
            </a:r>
          </a:p>
        </p:txBody>
      </p:sp>
      <p:sp>
        <p:nvSpPr>
          <p:cNvPr id="41" name="TextBox 40"/>
          <p:cNvSpPr txBox="1"/>
          <p:nvPr/>
        </p:nvSpPr>
        <p:spPr>
          <a:xfrm>
            <a:off x="10607040" y="4846320"/>
            <a:ext cx="914400" cy="320040"/>
          </a:xfrm>
          <a:prstGeom prst="rect">
            <a:avLst/>
          </a:prstGeom>
          <a:noFill/>
        </p:spPr>
        <p:txBody>
          <a:bodyPr wrap="square"/>
          <a:lstStyle/>
          <a:p>
            <a:pPr algn="r">
              <a:defRPr sz="1100" b="0">
                <a:solidFill>
                  <a:srgbClr val="AAAAAA"/>
                </a:solidFill>
                <a:latin typeface="Calibri"/>
              </a:defRPr>
            </a:pPr>
            <a:r>
              <a:t>pending</a:t>
            </a:r>
          </a:p>
        </p:txBody>
      </p:sp>
      <p:sp>
        <p:nvSpPr>
          <p:cNvPr id="42" name="TextBox 41"/>
          <p:cNvSpPr txBox="1"/>
          <p:nvPr/>
        </p:nvSpPr>
        <p:spPr>
          <a:xfrm>
            <a:off x="6675120" y="5285231"/>
            <a:ext cx="365760" cy="320040"/>
          </a:xfrm>
          <a:prstGeom prst="rect">
            <a:avLst/>
          </a:prstGeom>
          <a:noFill/>
        </p:spPr>
        <p:txBody>
          <a:bodyPr wrap="square"/>
          <a:lstStyle/>
          <a:p>
            <a:pPr algn="l">
              <a:defRPr sz="1400" b="0">
                <a:solidFill>
                  <a:srgbClr val="AAAAAA"/>
                </a:solidFill>
                <a:latin typeface="Calibri"/>
              </a:defRPr>
            </a:pPr>
            <a:r>
              <a:t>⭕</a:t>
            </a:r>
          </a:p>
        </p:txBody>
      </p:sp>
      <p:sp>
        <p:nvSpPr>
          <p:cNvPr id="43" name="TextBox 42"/>
          <p:cNvSpPr txBox="1"/>
          <p:nvPr/>
        </p:nvSpPr>
        <p:spPr>
          <a:xfrm>
            <a:off x="7132320" y="5285231"/>
            <a:ext cx="3474720" cy="320040"/>
          </a:xfrm>
          <a:prstGeom prst="rect">
            <a:avLst/>
          </a:prstGeom>
          <a:noFill/>
        </p:spPr>
        <p:txBody>
          <a:bodyPr wrap="square"/>
          <a:lstStyle/>
          <a:p>
            <a:pPr algn="l">
              <a:defRPr sz="1300" b="0">
                <a:solidFill>
                  <a:srgbClr val="AAAAAA"/>
                </a:solidFill>
                <a:latin typeface="Calibri"/>
              </a:defRPr>
            </a:pPr>
            <a:r>
              <a:t>Report generation</a:t>
            </a:r>
          </a:p>
        </p:txBody>
      </p:sp>
      <p:sp>
        <p:nvSpPr>
          <p:cNvPr id="44" name="TextBox 43"/>
          <p:cNvSpPr txBox="1"/>
          <p:nvPr/>
        </p:nvSpPr>
        <p:spPr>
          <a:xfrm>
            <a:off x="10607040" y="5285231"/>
            <a:ext cx="914400" cy="320040"/>
          </a:xfrm>
          <a:prstGeom prst="rect">
            <a:avLst/>
          </a:prstGeom>
          <a:noFill/>
        </p:spPr>
        <p:txBody>
          <a:bodyPr wrap="square"/>
          <a:lstStyle/>
          <a:p>
            <a:pPr algn="r">
              <a:defRPr sz="1100" b="0">
                <a:solidFill>
                  <a:srgbClr val="AAAAAA"/>
                </a:solidFill>
                <a:latin typeface="Calibri"/>
              </a:defRPr>
            </a:pPr>
            <a:r>
              <a:t>pending</a:t>
            </a:r>
          </a:p>
        </p:txBody>
      </p:sp>
      <p:sp>
        <p:nvSpPr>
          <p:cNvPr id="45" name="Rectangle 44"/>
          <p:cNvSpPr/>
          <p:nvPr/>
        </p:nvSpPr>
        <p:spPr>
          <a:xfrm>
            <a:off x="6675120" y="5486400"/>
            <a:ext cx="4754880" cy="109728"/>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675120" y="5486400"/>
            <a:ext cx="2834640" cy="109728"/>
          </a:xfrm>
          <a:prstGeom prst="rect">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49" name="TextBox 48"/>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7b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353312"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353312" cy="292608"/>
          </a:xfrm>
          <a:prstGeom prst="rect">
            <a:avLst/>
          </a:prstGeom>
          <a:noFill/>
        </p:spPr>
        <p:txBody>
          <a:bodyPr wrap="square"/>
          <a:lstStyle/>
          <a:p>
            <a:pPr algn="ctr">
              <a:defRPr sz="1000" b="1">
                <a:solidFill>
                  <a:srgbClr val="00E676"/>
                </a:solidFill>
                <a:latin typeface="Calibri"/>
              </a:defRPr>
            </a:pPr>
            <a:r>
              <a:t>LIVE DEMO</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Product Walkthrough: AI-Powered Results</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Every finding comes with AI reasoning, not just a severity label</a:t>
            </a:r>
          </a:p>
        </p:txBody>
      </p:sp>
      <p:sp>
        <p:nvSpPr>
          <p:cNvPr id="6" name="Rounded Rectangle 5"/>
          <p:cNvSpPr/>
          <p:nvPr/>
        </p:nvSpPr>
        <p:spPr>
          <a:xfrm>
            <a:off x="548640" y="1828800"/>
            <a:ext cx="5486400" cy="20116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73152" cy="2011680"/>
          </a:xfrm>
          <a:prstGeom prst="rect">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3657600" cy="274320"/>
          </a:xfrm>
          <a:prstGeom prst="rect">
            <a:avLst/>
          </a:prstGeom>
          <a:noFill/>
        </p:spPr>
        <p:txBody>
          <a:bodyPr wrap="square"/>
          <a:lstStyle/>
          <a:p>
            <a:pPr algn="l">
              <a:defRPr sz="1500" b="1">
                <a:solidFill>
                  <a:srgbClr val="FFFFFF"/>
                </a:solidFill>
                <a:latin typeface="Calibri"/>
              </a:defRPr>
            </a:pPr>
            <a:r>
              <a:t>SQL Injection — /api/users/search</a:t>
            </a:r>
          </a:p>
        </p:txBody>
      </p:sp>
      <p:sp>
        <p:nvSpPr>
          <p:cNvPr id="9" name="Rounded Rectangle 8"/>
          <p:cNvSpPr/>
          <p:nvPr/>
        </p:nvSpPr>
        <p:spPr>
          <a:xfrm>
            <a:off x="4663440" y="1920240"/>
            <a:ext cx="1097280" cy="274320"/>
          </a:xfrm>
          <a:prstGeom prst="roundRect">
            <a:avLst>
              <a:gd name="adj" fmla="val 50000"/>
            </a:avLst>
          </a:prstGeom>
          <a:solidFill>
            <a:srgbClr val="440000"/>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920240"/>
            <a:ext cx="1097280" cy="274320"/>
          </a:xfrm>
          <a:prstGeom prst="rect">
            <a:avLst/>
          </a:prstGeom>
          <a:noFill/>
        </p:spPr>
        <p:txBody>
          <a:bodyPr wrap="square"/>
          <a:lstStyle/>
          <a:p>
            <a:pPr algn="ctr">
              <a:defRPr sz="1000" b="1">
                <a:solidFill>
                  <a:srgbClr val="FF4444"/>
                </a:solidFill>
                <a:latin typeface="Calibri"/>
              </a:defRPr>
            </a:pPr>
            <a:r>
              <a:t>CRITICAL</a:t>
            </a:r>
          </a:p>
        </p:txBody>
      </p:sp>
      <p:sp>
        <p:nvSpPr>
          <p:cNvPr id="11" name="TextBox 10"/>
          <p:cNvSpPr txBox="1"/>
          <p:nvPr/>
        </p:nvSpPr>
        <p:spPr>
          <a:xfrm>
            <a:off x="822960" y="2286000"/>
            <a:ext cx="5029200" cy="1371600"/>
          </a:xfrm>
          <a:prstGeom prst="rect">
            <a:avLst/>
          </a:prstGeom>
          <a:noFill/>
        </p:spPr>
        <p:txBody>
          <a:bodyPr wrap="square"/>
          <a:lstStyle/>
          <a:p>
            <a:pPr algn="l">
              <a:spcBef>
                <a:spcPts val="0"/>
              </a:spcBef>
              <a:spcAft>
                <a:spcPts val="400"/>
              </a:spcAft>
              <a:defRPr sz="1100" b="1">
                <a:solidFill>
                  <a:srgbClr val="00E676"/>
                </a:solidFill>
                <a:latin typeface="Calibri"/>
              </a:defRPr>
            </a:pPr>
            <a:r>
              <a:t>AI Reasoning:</a:t>
            </a:r>
          </a:p>
          <a:p>
            <a:pPr algn="l">
              <a:spcBef>
                <a:spcPts val="0"/>
              </a:spcBef>
              <a:spcAft>
                <a:spcPts val="400"/>
              </a:spcAft>
              <a:defRPr sz="1100" b="0">
                <a:solidFill>
                  <a:srgbClr val="FFFFFF"/>
                </a:solidFill>
                <a:latin typeface="Calibri"/>
              </a:defRPr>
            </a:pPr>
            <a:r>
              <a:t>User input from request.args flows directly into SQL query</a:t>
            </a:r>
          </a:p>
          <a:p>
            <a:pPr algn="l">
              <a:spcBef>
                <a:spcPts val="0"/>
              </a:spcBef>
              <a:spcAft>
                <a:spcPts val="400"/>
              </a:spcAft>
              <a:defRPr sz="1100" b="0">
                <a:solidFill>
                  <a:srgbClr val="FFFFFF"/>
                </a:solidFill>
                <a:latin typeface="Calibri"/>
              </a:defRPr>
            </a:pPr>
            <a:r>
              <a:t>without parameterization. Endpoint is public, no auth required.</a:t>
            </a:r>
          </a:p>
          <a:p>
            <a:pPr algn="l">
              <a:spcBef>
                <a:spcPts val="0"/>
              </a:spcBef>
              <a:spcAft>
                <a:spcPts val="400"/>
              </a:spcAft>
              <a:defRPr sz="1100" b="0">
                <a:solidFill>
                  <a:srgbClr val="FF7979"/>
                </a:solidFill>
                <a:latin typeface="Calibri"/>
              </a:defRPr>
            </a:pPr>
            <a:r>
              <a:t>DAST confirmed: payload returned all records.</a:t>
            </a:r>
          </a:p>
          <a:p>
            <a:pPr algn="l">
              <a:spcBef>
                <a:spcPts val="0"/>
              </a:spcBef>
              <a:spcAft>
                <a:spcPts val="400"/>
              </a:spcAft>
              <a:defRPr sz="1000" b="0">
                <a:solidFill>
                  <a:srgbClr val="AAAAAA"/>
                </a:solidFill>
                <a:latin typeface="Calibri"/>
              </a:defRPr>
            </a:pPr>
            <a:r>
              <a:t>Confidence: 99% | SAST + AI + DAST verified</a:t>
            </a:r>
          </a:p>
        </p:txBody>
      </p:sp>
      <p:sp>
        <p:nvSpPr>
          <p:cNvPr id="12" name="Rounded Rectangle 11"/>
          <p:cNvSpPr/>
          <p:nvPr/>
        </p:nvSpPr>
        <p:spPr>
          <a:xfrm>
            <a:off x="6217920" y="1828800"/>
            <a:ext cx="5486400" cy="201168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28800"/>
            <a:ext cx="73152" cy="2011680"/>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3657600" cy="274320"/>
          </a:xfrm>
          <a:prstGeom prst="rect">
            <a:avLst/>
          </a:prstGeom>
          <a:noFill/>
        </p:spPr>
        <p:txBody>
          <a:bodyPr wrap="square"/>
          <a:lstStyle/>
          <a:p>
            <a:pPr algn="l">
              <a:defRPr sz="1500" b="1">
                <a:solidFill>
                  <a:srgbClr val="FFFFFF"/>
                </a:solidFill>
                <a:latin typeface="Calibri"/>
              </a:defRPr>
            </a:pPr>
            <a:r>
              <a:t>XSS — /api/comments/render</a:t>
            </a:r>
          </a:p>
        </p:txBody>
      </p:sp>
      <p:sp>
        <p:nvSpPr>
          <p:cNvPr id="15" name="Rounded Rectangle 14"/>
          <p:cNvSpPr/>
          <p:nvPr/>
        </p:nvSpPr>
        <p:spPr>
          <a:xfrm>
            <a:off x="10332720" y="1920240"/>
            <a:ext cx="1097280" cy="274320"/>
          </a:xfrm>
          <a:prstGeom prst="roundRect">
            <a:avLst>
              <a:gd name="adj" fmla="val 50000"/>
            </a:avLst>
          </a:prstGeom>
          <a:solidFill>
            <a:srgbClr val="442A00"/>
          </a:solidFill>
          <a:ln w="19050">
            <a:solidFill>
              <a:srgbClr val="FFA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20" y="1920240"/>
            <a:ext cx="1097280" cy="274320"/>
          </a:xfrm>
          <a:prstGeom prst="rect">
            <a:avLst/>
          </a:prstGeom>
          <a:noFill/>
        </p:spPr>
        <p:txBody>
          <a:bodyPr wrap="square"/>
          <a:lstStyle/>
          <a:p>
            <a:pPr algn="ctr">
              <a:defRPr sz="1000" b="1">
                <a:solidFill>
                  <a:srgbClr val="FFAA00"/>
                </a:solidFill>
                <a:latin typeface="Calibri"/>
              </a:defRPr>
            </a:pPr>
            <a:r>
              <a:t>HIGH</a:t>
            </a:r>
          </a:p>
        </p:txBody>
      </p:sp>
      <p:sp>
        <p:nvSpPr>
          <p:cNvPr id="17" name="TextBox 16"/>
          <p:cNvSpPr txBox="1"/>
          <p:nvPr/>
        </p:nvSpPr>
        <p:spPr>
          <a:xfrm>
            <a:off x="6492240" y="2286000"/>
            <a:ext cx="5029200" cy="1371600"/>
          </a:xfrm>
          <a:prstGeom prst="rect">
            <a:avLst/>
          </a:prstGeom>
          <a:noFill/>
        </p:spPr>
        <p:txBody>
          <a:bodyPr wrap="square"/>
          <a:lstStyle/>
          <a:p>
            <a:pPr algn="l">
              <a:spcBef>
                <a:spcPts val="0"/>
              </a:spcBef>
              <a:spcAft>
                <a:spcPts val="400"/>
              </a:spcAft>
              <a:defRPr sz="1100" b="1">
                <a:solidFill>
                  <a:srgbClr val="00E676"/>
                </a:solidFill>
                <a:latin typeface="Calibri"/>
              </a:defRPr>
            </a:pPr>
            <a:r>
              <a:t>AI Reasoning:</a:t>
            </a:r>
          </a:p>
          <a:p>
            <a:pPr algn="l">
              <a:spcBef>
                <a:spcPts val="0"/>
              </a:spcBef>
              <a:spcAft>
                <a:spcPts val="400"/>
              </a:spcAft>
              <a:defRPr sz="1100" b="0">
                <a:solidFill>
                  <a:srgbClr val="FFFFFF"/>
                </a:solidFill>
                <a:latin typeface="Calibri"/>
              </a:defRPr>
            </a:pPr>
            <a:r>
              <a:t>Comment content rendered with innerHTML without DOMPurify</a:t>
            </a:r>
          </a:p>
          <a:p>
            <a:pPr algn="l">
              <a:spcBef>
                <a:spcPts val="0"/>
              </a:spcBef>
              <a:spcAft>
                <a:spcPts val="400"/>
              </a:spcAft>
              <a:defRPr sz="1100" b="0">
                <a:solidFill>
                  <a:srgbClr val="FFFFFF"/>
                </a:solidFill>
                <a:latin typeface="Calibri"/>
              </a:defRPr>
            </a:pPr>
            <a:r>
              <a:t>sanitization. Authenticated endpoint but any user can post.</a:t>
            </a:r>
          </a:p>
          <a:p>
            <a:pPr algn="l">
              <a:spcBef>
                <a:spcPts val="0"/>
              </a:spcBef>
              <a:spcAft>
                <a:spcPts val="400"/>
              </a:spcAft>
              <a:defRPr sz="1100" b="0">
                <a:solidFill>
                  <a:srgbClr val="FF7979"/>
                </a:solidFill>
                <a:latin typeface="Calibri"/>
              </a:defRPr>
            </a:pPr>
            <a:r>
              <a:t>DAST confirmed: script tag executed in response.</a:t>
            </a:r>
          </a:p>
          <a:p>
            <a:pPr algn="l">
              <a:spcBef>
                <a:spcPts val="0"/>
              </a:spcBef>
              <a:spcAft>
                <a:spcPts val="400"/>
              </a:spcAft>
              <a:defRPr sz="1000" b="0">
                <a:solidFill>
                  <a:srgbClr val="AAAAAA"/>
                </a:solidFill>
                <a:latin typeface="Calibri"/>
              </a:defRPr>
            </a:pPr>
            <a:r>
              <a:t>Confidence: 95% | SAST + AI + DAST verified</a:t>
            </a:r>
          </a:p>
        </p:txBody>
      </p:sp>
      <p:sp>
        <p:nvSpPr>
          <p:cNvPr id="18" name="Rounded Rectangle 17"/>
          <p:cNvSpPr/>
          <p:nvPr/>
        </p:nvSpPr>
        <p:spPr>
          <a:xfrm>
            <a:off x="548640" y="4114800"/>
            <a:ext cx="11155680" cy="1371600"/>
          </a:xfrm>
          <a:prstGeom prst="roundRect">
            <a:avLst>
              <a:gd name="adj" fmla="val 2000"/>
            </a:avLst>
          </a:prstGeom>
          <a:solidFill>
            <a:srgbClr val="111111"/>
          </a:solidFill>
          <a:ln w="1905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06240"/>
            <a:ext cx="2743200" cy="274320"/>
          </a:xfrm>
          <a:prstGeom prst="rect">
            <a:avLst/>
          </a:prstGeom>
          <a:noFill/>
        </p:spPr>
        <p:txBody>
          <a:bodyPr wrap="square"/>
          <a:lstStyle/>
          <a:p>
            <a:pPr algn="l">
              <a:defRPr sz="1400" b="1">
                <a:solidFill>
                  <a:srgbClr val="AAAAAA"/>
                </a:solidFill>
                <a:latin typeface="Calibri"/>
              </a:defRPr>
            </a:pPr>
            <a:r>
              <a:t>Dismissed Findings (75 eliminated)</a:t>
            </a:r>
          </a:p>
        </p:txBody>
      </p:sp>
      <p:sp>
        <p:nvSpPr>
          <p:cNvPr id="20" name="TextBox 19"/>
          <p:cNvSpPr txBox="1"/>
          <p:nvPr/>
        </p:nvSpPr>
        <p:spPr>
          <a:xfrm>
            <a:off x="822960" y="4526280"/>
            <a:ext cx="10515600" cy="914400"/>
          </a:xfrm>
          <a:prstGeom prst="rect">
            <a:avLst/>
          </a:prstGeom>
          <a:noFill/>
        </p:spPr>
        <p:txBody>
          <a:bodyPr wrap="square"/>
          <a:lstStyle/>
          <a:p>
            <a:pPr algn="l">
              <a:spcBef>
                <a:spcPts val="0"/>
              </a:spcBef>
              <a:spcAft>
                <a:spcPts val="400"/>
              </a:spcAft>
              <a:defRPr sz="1200" b="0">
                <a:solidFill>
                  <a:srgbClr val="AAAAAA"/>
                </a:solidFill>
                <a:latin typeface="Calibri"/>
              </a:defRPr>
            </a:pPr>
            <a:r>
              <a:t>❌  Hardcoded secret in test_config.py — AI: "Test file, not deployed, no risk"</a:t>
            </a:r>
          </a:p>
          <a:p>
            <a:pPr algn="l">
              <a:spcBef>
                <a:spcPts val="0"/>
              </a:spcBef>
              <a:spcAft>
                <a:spcPts val="400"/>
              </a:spcAft>
              <a:defRPr sz="1200" b="0">
                <a:solidFill>
                  <a:srgbClr val="AAAAAA"/>
                </a:solidFill>
                <a:latin typeface="Calibri"/>
              </a:defRPr>
            </a:pPr>
            <a:r>
              <a:t>❌  Path traversal in file_handler.py — AI: "Input validated by middleware, os.path.realpath() applied"</a:t>
            </a:r>
          </a:p>
          <a:p>
            <a:pPr algn="l">
              <a:spcBef>
                <a:spcPts val="0"/>
              </a:spcBef>
              <a:spcAft>
                <a:spcPts val="400"/>
              </a:spcAft>
              <a:defRPr sz="1200" b="0">
                <a:solidFill>
                  <a:srgbClr val="AAAAAA"/>
                </a:solidFill>
                <a:latin typeface="Calibri"/>
              </a:defRPr>
            </a:pPr>
            <a:r>
              <a:t>❌  SSRF in webhook.py — AI: "URL allowlist enforced, only internal domains permitted"</a:t>
            </a:r>
          </a:p>
          <a:p>
            <a:pPr algn="l">
              <a:spcBef>
                <a:spcPts val="0"/>
              </a:spcBef>
              <a:spcAft>
                <a:spcPts val="400"/>
              </a:spcAft>
              <a:defRPr sz="1200" b="0">
                <a:solidFill>
                  <a:srgbClr val="666666"/>
                </a:solidFill>
                <a:latin typeface="Calibri"/>
              </a:defRPr>
            </a:pPr>
            <a:r>
              <a:t>… and 72 more false positives eliminated with reasoning</a:t>
            </a:r>
          </a:p>
        </p:txBody>
      </p:sp>
      <p:sp>
        <p:nvSpPr>
          <p:cNvPr id="21" name="Rectangle 20"/>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23" name="TextBox 22"/>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7c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353312"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353312" cy="292608"/>
          </a:xfrm>
          <a:prstGeom prst="rect">
            <a:avLst/>
          </a:prstGeom>
          <a:noFill/>
        </p:spPr>
        <p:txBody>
          <a:bodyPr wrap="square"/>
          <a:lstStyle/>
          <a:p>
            <a:pPr algn="ctr">
              <a:defRPr sz="1000" b="1">
                <a:solidFill>
                  <a:srgbClr val="00E676"/>
                </a:solidFill>
                <a:latin typeface="Calibri"/>
              </a:defRPr>
            </a:pPr>
            <a:r>
              <a:t>LIVE DEMO</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Product Walkthrough: AutoFix &amp; Reports</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From detection to resolution in one click</a:t>
            </a:r>
          </a:p>
        </p:txBody>
      </p:sp>
      <p:sp>
        <p:nvSpPr>
          <p:cNvPr id="6" name="Rounded Rectangle 5"/>
          <p:cNvSpPr/>
          <p:nvPr/>
        </p:nvSpPr>
        <p:spPr>
          <a:xfrm>
            <a:off x="548640" y="1828800"/>
            <a:ext cx="5486400" cy="39319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4937760" cy="320040"/>
          </a:xfrm>
          <a:prstGeom prst="rect">
            <a:avLst/>
          </a:prstGeom>
          <a:noFill/>
        </p:spPr>
        <p:txBody>
          <a:bodyPr wrap="square"/>
          <a:lstStyle/>
          <a:p>
            <a:pPr algn="l">
              <a:defRPr sz="1800" b="1">
                <a:solidFill>
                  <a:srgbClr val="00E676"/>
                </a:solidFill>
                <a:latin typeface="Calibri"/>
              </a:defRPr>
            </a:pPr>
            <a:r>
              <a:t>🔧 AI-Generated AutoFix</a:t>
            </a:r>
          </a:p>
        </p:txBody>
      </p:sp>
      <p:sp>
        <p:nvSpPr>
          <p:cNvPr id="8" name="TextBox 7"/>
          <p:cNvSpPr txBox="1"/>
          <p:nvPr/>
        </p:nvSpPr>
        <p:spPr>
          <a:xfrm>
            <a:off x="822960" y="2377440"/>
            <a:ext cx="4937760" cy="3200400"/>
          </a:xfrm>
          <a:prstGeom prst="rect">
            <a:avLst/>
          </a:prstGeom>
          <a:noFill/>
        </p:spPr>
        <p:txBody>
          <a:bodyPr wrap="square"/>
          <a:lstStyle/>
          <a:p>
            <a:pPr algn="l">
              <a:spcBef>
                <a:spcPts val="0"/>
              </a:spcBef>
              <a:spcAft>
                <a:spcPts val="400"/>
              </a:spcAft>
              <a:defRPr sz="1200" b="1">
                <a:solidFill>
                  <a:srgbClr val="FF4444"/>
                </a:solidFill>
                <a:latin typeface="Calibri"/>
              </a:defRPr>
            </a:pPr>
            <a:r>
              <a:t>Vulnerable Code:</a:t>
            </a:r>
          </a:p>
          <a:p>
            <a:pPr algn="l">
              <a:spcBef>
                <a:spcPts val="0"/>
              </a:spcBef>
              <a:spcAft>
                <a:spcPts val="400"/>
              </a:spcAft>
              <a:defRPr sz="1100" b="0">
                <a:solidFill>
                  <a:srgbClr val="FF7979"/>
                </a:solidFill>
                <a:latin typeface="Calibri"/>
              </a:defRPr>
            </a:pPr>
            <a:r>
              <a:t>  query = f"SELECT * FROM users</a:t>
            </a:r>
          </a:p>
          <a:p>
            <a:pPr algn="l">
              <a:spcBef>
                <a:spcPts val="0"/>
              </a:spcBef>
              <a:spcAft>
                <a:spcPts val="400"/>
              </a:spcAft>
              <a:defRPr sz="1100" b="0">
                <a:solidFill>
                  <a:srgbClr val="FF7979"/>
                </a:solidFill>
                <a:latin typeface="Calibri"/>
              </a:defRPr>
            </a:pPr>
            <a:r>
              <a:t>          WHERE name = '{name}'"</a:t>
            </a:r>
          </a:p>
          <a:p>
            <a:pPr algn="l">
              <a:spcBef>
                <a:spcPts val="0"/>
              </a:spcBef>
              <a:spcAft>
                <a:spcPts val="400"/>
              </a:spcAft>
              <a:defRPr sz="1100" b="0">
                <a:solidFill>
                  <a:srgbClr val="FF7979"/>
                </a:solidFill>
                <a:latin typeface="Calibri"/>
              </a:defRPr>
            </a:pPr>
            <a:r>
              <a:t>  cursor.execute(query)</a:t>
            </a:r>
          </a:p>
          <a:p>
            <a:pPr algn="l">
              <a:spcBef>
                <a:spcPts val="0"/>
              </a:spcBef>
              <a:spcAft>
                <a:spcPts val="400"/>
              </a:spcAft>
              <a:defRPr sz="800" b="0">
                <a:solidFill>
                  <a:srgbClr val="FFFFFF"/>
                </a:solidFill>
                <a:latin typeface="Calibri"/>
              </a:defRPr>
            </a:pPr>
          </a:p>
          <a:p>
            <a:pPr algn="ctr">
              <a:spcBef>
                <a:spcPts val="0"/>
              </a:spcBef>
              <a:spcAft>
                <a:spcPts val="400"/>
              </a:spcAft>
              <a:defRPr sz="1300" b="1">
                <a:solidFill>
                  <a:srgbClr val="00E676"/>
                </a:solidFill>
                <a:latin typeface="Calibri"/>
              </a:defRPr>
            </a:pPr>
            <a:r>
              <a:t>↓ AutoFix Applied ↓</a:t>
            </a:r>
          </a:p>
          <a:p>
            <a:pPr algn="l">
              <a:spcBef>
                <a:spcPts val="0"/>
              </a:spcBef>
              <a:spcAft>
                <a:spcPts val="400"/>
              </a:spcAft>
              <a:defRPr sz="800" b="0">
                <a:solidFill>
                  <a:srgbClr val="FFFFFF"/>
                </a:solidFill>
                <a:latin typeface="Calibri"/>
              </a:defRPr>
            </a:pPr>
          </a:p>
          <a:p>
            <a:pPr algn="l">
              <a:spcBef>
                <a:spcPts val="0"/>
              </a:spcBef>
              <a:spcAft>
                <a:spcPts val="400"/>
              </a:spcAft>
              <a:defRPr sz="1200" b="1">
                <a:solidFill>
                  <a:srgbClr val="00E676"/>
                </a:solidFill>
                <a:latin typeface="Calibri"/>
              </a:defRPr>
            </a:pPr>
            <a:r>
              <a:t>Fixed Code:</a:t>
            </a:r>
          </a:p>
          <a:p>
            <a:pPr algn="l">
              <a:spcBef>
                <a:spcPts val="0"/>
              </a:spcBef>
              <a:spcAft>
                <a:spcPts val="400"/>
              </a:spcAft>
              <a:defRPr sz="1100" b="0">
                <a:solidFill>
                  <a:srgbClr val="79FF79"/>
                </a:solidFill>
                <a:latin typeface="Calibri"/>
              </a:defRPr>
            </a:pPr>
            <a:r>
              <a:t>  query = "SELECT * FROM users</a:t>
            </a:r>
          </a:p>
          <a:p>
            <a:pPr algn="l">
              <a:spcBef>
                <a:spcPts val="0"/>
              </a:spcBef>
              <a:spcAft>
                <a:spcPts val="400"/>
              </a:spcAft>
              <a:defRPr sz="1100" b="0">
                <a:solidFill>
                  <a:srgbClr val="79FF79"/>
                </a:solidFill>
                <a:latin typeface="Calibri"/>
              </a:defRPr>
            </a:pPr>
            <a:r>
              <a:t>          WHERE name = %s"</a:t>
            </a:r>
          </a:p>
          <a:p>
            <a:pPr algn="l">
              <a:spcBef>
                <a:spcPts val="0"/>
              </a:spcBef>
              <a:spcAft>
                <a:spcPts val="400"/>
              </a:spcAft>
              <a:defRPr sz="1100" b="0">
                <a:solidFill>
                  <a:srgbClr val="79FF79"/>
                </a:solidFill>
                <a:latin typeface="Calibri"/>
              </a:defRPr>
            </a:pPr>
            <a:r>
              <a:t>  cursor.execute(query, [name])</a:t>
            </a:r>
          </a:p>
          <a:p>
            <a:pPr algn="l">
              <a:spcBef>
                <a:spcPts val="0"/>
              </a:spcBef>
              <a:spcAft>
                <a:spcPts val="400"/>
              </a:spcAft>
              <a:defRPr sz="800" b="0">
                <a:solidFill>
                  <a:srgbClr val="FFFFFF"/>
                </a:solidFill>
                <a:latin typeface="Calibri"/>
              </a:defRPr>
            </a:pPr>
          </a:p>
          <a:p>
            <a:pPr algn="l">
              <a:spcBef>
                <a:spcPts val="0"/>
              </a:spcBef>
              <a:spcAft>
                <a:spcPts val="400"/>
              </a:spcAft>
              <a:defRPr sz="1200" b="0">
                <a:solidFill>
                  <a:srgbClr val="00E676"/>
                </a:solidFill>
                <a:latin typeface="Calibri"/>
              </a:defRPr>
            </a:pPr>
            <a:r>
              <a:t>✅ Fix validated — re-scan confirms no vulnerability</a:t>
            </a:r>
          </a:p>
          <a:p>
            <a:pPr algn="l">
              <a:spcBef>
                <a:spcPts val="0"/>
              </a:spcBef>
              <a:spcAft>
                <a:spcPts val="400"/>
              </a:spcAft>
              <a:defRPr sz="1200" b="0">
                <a:solidFill>
                  <a:srgbClr val="AAAAAA"/>
                </a:solidFill>
                <a:latin typeface="Calibri"/>
              </a:defRPr>
            </a:pPr>
            <a:r>
              <a:t>📎 Diff available for code review before merge</a:t>
            </a:r>
          </a:p>
        </p:txBody>
      </p:sp>
      <p:sp>
        <p:nvSpPr>
          <p:cNvPr id="9" name="Rounded Rectangle 8"/>
          <p:cNvSpPr/>
          <p:nvPr/>
        </p:nvSpPr>
        <p:spPr>
          <a:xfrm>
            <a:off x="6309360" y="1828800"/>
            <a:ext cx="5394960" cy="39319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965960"/>
            <a:ext cx="4846320" cy="320040"/>
          </a:xfrm>
          <a:prstGeom prst="rect">
            <a:avLst/>
          </a:prstGeom>
          <a:noFill/>
        </p:spPr>
        <p:txBody>
          <a:bodyPr wrap="square"/>
          <a:lstStyle/>
          <a:p>
            <a:pPr algn="l">
              <a:defRPr sz="1800" b="1">
                <a:solidFill>
                  <a:srgbClr val="00E676"/>
                </a:solidFill>
                <a:latin typeface="Calibri"/>
              </a:defRPr>
            </a:pPr>
            <a:r>
              <a:t>📋 PDF Compliance Report</a:t>
            </a:r>
          </a:p>
        </p:txBody>
      </p:sp>
      <p:sp>
        <p:nvSpPr>
          <p:cNvPr id="11" name="TextBox 10"/>
          <p:cNvSpPr txBox="1"/>
          <p:nvPr/>
        </p:nvSpPr>
        <p:spPr>
          <a:xfrm>
            <a:off x="6583680" y="2377440"/>
            <a:ext cx="4846320" cy="3200400"/>
          </a:xfrm>
          <a:prstGeom prst="rect">
            <a:avLst/>
          </a:prstGeom>
          <a:noFill/>
        </p:spPr>
        <p:txBody>
          <a:bodyPr wrap="square"/>
          <a:lstStyle/>
          <a:p>
            <a:pPr algn="l">
              <a:spcBef>
                <a:spcPts val="0"/>
              </a:spcBef>
              <a:spcAft>
                <a:spcPts val="400"/>
              </a:spcAft>
              <a:defRPr sz="1500" b="1">
                <a:solidFill>
                  <a:srgbClr val="FFFFFF"/>
                </a:solidFill>
                <a:latin typeface="Calibri"/>
              </a:defRPr>
            </a:pPr>
            <a:r>
              <a:t>BugBunny Security Scan Report</a:t>
            </a:r>
          </a:p>
          <a:p>
            <a:pPr algn="l">
              <a:spcBef>
                <a:spcPts val="0"/>
              </a:spcBef>
              <a:spcAft>
                <a:spcPts val="400"/>
              </a:spcAft>
              <a:defRPr sz="1000" b="0">
                <a:solidFill>
                  <a:srgbClr val="AAAAAA"/>
                </a:solidFill>
                <a:latin typeface="Calibri"/>
              </a:defRPr>
            </a:pPr>
            <a:r>
              <a:t>Generated: 2025-01-15 14:30 UTC</a:t>
            </a:r>
          </a:p>
          <a:p>
            <a:pPr algn="l">
              <a:spcBef>
                <a:spcPts val="0"/>
              </a:spcBef>
              <a:spcAft>
                <a:spcPts val="400"/>
              </a:spcAft>
              <a:defRPr sz="600" b="0">
                <a:solidFill>
                  <a:srgbClr val="FFFFFF"/>
                </a:solidFill>
                <a:latin typeface="Calibri"/>
              </a:defRPr>
            </a:pPr>
          </a:p>
          <a:p>
            <a:pPr algn="l">
              <a:spcBef>
                <a:spcPts val="0"/>
              </a:spcBef>
              <a:spcAft>
                <a:spcPts val="400"/>
              </a:spcAft>
              <a:defRPr sz="800" b="0">
                <a:solidFill>
                  <a:srgbClr val="333333"/>
                </a:solidFill>
                <a:latin typeface="Calibri"/>
              </a:defRPr>
            </a:pPr>
            <a:r>
              <a:t>━━━━━━━━━━━━━━━━━━━━━━━━━━━━━━━━━</a:t>
            </a:r>
          </a:p>
          <a:p>
            <a:pPr algn="l">
              <a:spcBef>
                <a:spcPts val="0"/>
              </a:spcBef>
              <a:spcAft>
                <a:spcPts val="400"/>
              </a:spcAft>
              <a:defRPr sz="1400" b="1">
                <a:solidFill>
                  <a:srgbClr val="00E676"/>
                </a:solidFill>
                <a:latin typeface="Calibri"/>
              </a:defRPr>
            </a:pPr>
            <a:r>
              <a:t>Executive Summary</a:t>
            </a:r>
          </a:p>
          <a:p>
            <a:pPr algn="l">
              <a:spcBef>
                <a:spcPts val="0"/>
              </a:spcBef>
              <a:spcAft>
                <a:spcPts val="400"/>
              </a:spcAft>
              <a:defRPr sz="1100" b="0">
                <a:solidFill>
                  <a:srgbClr val="FFFFFF"/>
                </a:solidFill>
                <a:latin typeface="Calibri"/>
              </a:defRPr>
            </a:pPr>
            <a:r>
              <a:t>  • Repository: acme/web-app (main)</a:t>
            </a:r>
          </a:p>
          <a:p>
            <a:pPr algn="l">
              <a:spcBef>
                <a:spcPts val="0"/>
              </a:spcBef>
              <a:spcAft>
                <a:spcPts val="400"/>
              </a:spcAft>
              <a:defRPr sz="1100" b="0">
                <a:solidFill>
                  <a:srgbClr val="FFFFFF"/>
                </a:solidFill>
                <a:latin typeface="Calibri"/>
              </a:defRPr>
            </a:pPr>
            <a:r>
              <a:t>  • 87 SAST findings → 12 confirmed</a:t>
            </a:r>
          </a:p>
          <a:p>
            <a:pPr algn="l">
              <a:spcBef>
                <a:spcPts val="0"/>
              </a:spcBef>
              <a:spcAft>
                <a:spcPts val="400"/>
              </a:spcAft>
              <a:defRPr sz="1100" b="0">
                <a:solidFill>
                  <a:srgbClr val="FFFFFF"/>
                </a:solidFill>
                <a:latin typeface="Calibri"/>
              </a:defRPr>
            </a:pPr>
            <a:r>
              <a:t>  • 3 Critical | 5 High | 2 Medium | 2 Low</a:t>
            </a:r>
          </a:p>
          <a:p>
            <a:pPr algn="l">
              <a:spcBef>
                <a:spcPts val="0"/>
              </a:spcBef>
              <a:spcAft>
                <a:spcPts val="400"/>
              </a:spcAft>
              <a:defRPr sz="1100" b="0">
                <a:solidFill>
                  <a:srgbClr val="FFFFFF"/>
                </a:solidFill>
                <a:latin typeface="Calibri"/>
              </a:defRPr>
            </a:pPr>
            <a:r>
              <a:t>  • Risk Score: B+ (improving)</a:t>
            </a:r>
          </a:p>
          <a:p>
            <a:pPr algn="l">
              <a:spcBef>
                <a:spcPts val="0"/>
              </a:spcBef>
              <a:spcAft>
                <a:spcPts val="400"/>
              </a:spcAft>
              <a:defRPr sz="600" b="0">
                <a:solidFill>
                  <a:srgbClr val="FFFFFF"/>
                </a:solidFill>
                <a:latin typeface="Calibri"/>
              </a:defRPr>
            </a:pPr>
          </a:p>
          <a:p>
            <a:pPr algn="l">
              <a:spcBef>
                <a:spcPts val="0"/>
              </a:spcBef>
              <a:spcAft>
                <a:spcPts val="400"/>
              </a:spcAft>
              <a:defRPr sz="1400" b="1">
                <a:solidFill>
                  <a:srgbClr val="00E676"/>
                </a:solidFill>
                <a:latin typeface="Calibri"/>
              </a:defRPr>
            </a:pPr>
            <a:r>
              <a:t>Detailed Findings with Evidence</a:t>
            </a:r>
          </a:p>
          <a:p>
            <a:pPr algn="l">
              <a:spcBef>
                <a:spcPts val="0"/>
              </a:spcBef>
              <a:spcAft>
                <a:spcPts val="400"/>
              </a:spcAft>
              <a:defRPr sz="1100" b="0">
                <a:solidFill>
                  <a:srgbClr val="AAAAAA"/>
                </a:solidFill>
                <a:latin typeface="Calibri"/>
              </a:defRPr>
            </a:pPr>
            <a:r>
              <a:t>  Each finding includes:</a:t>
            </a:r>
          </a:p>
          <a:p>
            <a:pPr algn="l">
              <a:spcBef>
                <a:spcPts val="0"/>
              </a:spcBef>
              <a:spcAft>
                <a:spcPts val="400"/>
              </a:spcAft>
              <a:defRPr sz="1100" b="0">
                <a:solidFill>
                  <a:srgbClr val="FFFFFF"/>
                </a:solidFill>
                <a:latin typeface="Calibri"/>
              </a:defRPr>
            </a:pPr>
            <a:r>
              <a:t>  ✓ SAST source  ✓ AI reasoning  ✓ DAST proof</a:t>
            </a:r>
          </a:p>
          <a:p>
            <a:pPr algn="l">
              <a:spcBef>
                <a:spcPts val="0"/>
              </a:spcBef>
              <a:spcAft>
                <a:spcPts val="400"/>
              </a:spcAft>
              <a:defRPr sz="1100" b="0">
                <a:solidFill>
                  <a:srgbClr val="FFFFFF"/>
                </a:solidFill>
                <a:latin typeface="Calibri"/>
              </a:defRPr>
            </a:pPr>
            <a:r>
              <a:t>  ✓ Code context  ✓ Fix suggestion  ✓ Priority</a:t>
            </a:r>
          </a:p>
          <a:p>
            <a:pPr algn="l">
              <a:spcBef>
                <a:spcPts val="0"/>
              </a:spcBef>
              <a:spcAft>
                <a:spcPts val="400"/>
              </a:spcAft>
              <a:defRPr sz="600" b="0">
                <a:solidFill>
                  <a:srgbClr val="FFFFFF"/>
                </a:solidFill>
                <a:latin typeface="Calibri"/>
              </a:defRPr>
            </a:pPr>
          </a:p>
          <a:p>
            <a:pPr algn="l">
              <a:spcBef>
                <a:spcPts val="0"/>
              </a:spcBef>
              <a:spcAft>
                <a:spcPts val="400"/>
              </a:spcAft>
              <a:defRPr sz="1200" b="0">
                <a:solidFill>
                  <a:srgbClr val="00E676"/>
                </a:solidFill>
                <a:latin typeface="Calibri"/>
              </a:defRPr>
            </a:pPr>
            <a:r>
              <a:t>📥 Export: PDF | JSON | SARIF | CSV</a:t>
            </a:r>
          </a:p>
        </p:txBody>
      </p:sp>
      <p:sp>
        <p:nvSpPr>
          <p:cNvPr id="12" name="Rectangle 11"/>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4" name="TextBox 13"/>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7d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2670048"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2670048" cy="292608"/>
          </a:xfrm>
          <a:prstGeom prst="rect">
            <a:avLst/>
          </a:prstGeom>
          <a:noFill/>
        </p:spPr>
        <p:txBody>
          <a:bodyPr wrap="square"/>
          <a:lstStyle/>
          <a:p>
            <a:pPr algn="ctr">
              <a:defRPr sz="1000" b="1">
                <a:solidFill>
                  <a:srgbClr val="00E676"/>
                </a:solidFill>
                <a:latin typeface="Calibri"/>
              </a:defRPr>
            </a:pPr>
            <a:r>
              <a:t>SEMANTIC INTELLIGENCE</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Pinecone-Powered Semantic Intelligence</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Vector search enables deduplication, cross-project learning, and pattern memory</a:t>
            </a:r>
          </a:p>
        </p:txBody>
      </p:sp>
      <p:sp>
        <p:nvSpPr>
          <p:cNvPr id="6" name="Rounded Rectangle 5"/>
          <p:cNvSpPr/>
          <p:nvPr/>
        </p:nvSpPr>
        <p:spPr>
          <a:xfrm>
            <a:off x="548640" y="1920240"/>
            <a:ext cx="3474720" cy="3474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57400"/>
            <a:ext cx="3108960" cy="365760"/>
          </a:xfrm>
          <a:prstGeom prst="rect">
            <a:avLst/>
          </a:prstGeom>
          <a:noFill/>
        </p:spPr>
        <p:txBody>
          <a:bodyPr wrap="square"/>
          <a:lstStyle/>
          <a:p>
            <a:pPr algn="l">
              <a:defRPr sz="1400" b="1">
                <a:solidFill>
                  <a:srgbClr val="00E676"/>
                </a:solidFill>
                <a:latin typeface="Calibri"/>
              </a:defRPr>
            </a:pPr>
            <a:r>
              <a:t>🔍  scanguard-bugs</a:t>
            </a:r>
          </a:p>
        </p:txBody>
      </p:sp>
      <p:sp>
        <p:nvSpPr>
          <p:cNvPr id="8" name="TextBox 7"/>
          <p:cNvSpPr txBox="1"/>
          <p:nvPr/>
        </p:nvSpPr>
        <p:spPr>
          <a:xfrm>
            <a:off x="731520" y="2423160"/>
            <a:ext cx="3108960" cy="320040"/>
          </a:xfrm>
          <a:prstGeom prst="rect">
            <a:avLst/>
          </a:prstGeom>
          <a:noFill/>
        </p:spPr>
        <p:txBody>
          <a:bodyPr wrap="square"/>
          <a:lstStyle/>
          <a:p>
            <a:pPr algn="l">
              <a:defRPr sz="1600" b="1">
                <a:solidFill>
                  <a:srgbClr val="FFFFFF"/>
                </a:solidFill>
                <a:latin typeface="Calibri"/>
              </a:defRPr>
            </a:pPr>
            <a:r>
              <a:t>Semantic Deduplication</a:t>
            </a:r>
          </a:p>
        </p:txBody>
      </p:sp>
      <p:sp>
        <p:nvSpPr>
          <p:cNvPr id="9" name="TextBox 8"/>
          <p:cNvSpPr txBox="1"/>
          <p:nvPr/>
        </p:nvSpPr>
        <p:spPr>
          <a:xfrm>
            <a:off x="822960" y="2926080"/>
            <a:ext cx="3017520" cy="411480"/>
          </a:xfrm>
          <a:prstGeom prst="rect">
            <a:avLst/>
          </a:prstGeom>
          <a:noFill/>
        </p:spPr>
        <p:txBody>
          <a:bodyPr wrap="square"/>
          <a:lstStyle/>
          <a:p>
            <a:pPr algn="l">
              <a:defRPr sz="1300" b="0">
                <a:solidFill>
                  <a:srgbClr val="AAAAAA"/>
                </a:solidFill>
                <a:latin typeface="Calibri"/>
              </a:defRPr>
            </a:pPr>
            <a:r>
              <a:t>•  Embeds vulnerability descriptions</a:t>
            </a:r>
          </a:p>
        </p:txBody>
      </p:sp>
      <p:sp>
        <p:nvSpPr>
          <p:cNvPr id="10" name="TextBox 9"/>
          <p:cNvSpPr txBox="1"/>
          <p:nvPr/>
        </p:nvSpPr>
        <p:spPr>
          <a:xfrm>
            <a:off x="822960" y="3383280"/>
            <a:ext cx="3017520" cy="411480"/>
          </a:xfrm>
          <a:prstGeom prst="rect">
            <a:avLst/>
          </a:prstGeom>
          <a:noFill/>
        </p:spPr>
        <p:txBody>
          <a:bodyPr wrap="square"/>
          <a:lstStyle/>
          <a:p>
            <a:pPr algn="l">
              <a:defRPr sz="1300" b="0">
                <a:solidFill>
                  <a:srgbClr val="AAAAAA"/>
                </a:solidFill>
                <a:latin typeface="Calibri"/>
              </a:defRPr>
            </a:pPr>
            <a:r>
              <a:t>•  Finds similar findings across scans</a:t>
            </a:r>
          </a:p>
        </p:txBody>
      </p:sp>
      <p:sp>
        <p:nvSpPr>
          <p:cNvPr id="11" name="TextBox 10"/>
          <p:cNvSpPr txBox="1"/>
          <p:nvPr/>
        </p:nvSpPr>
        <p:spPr>
          <a:xfrm>
            <a:off x="822960" y="3840480"/>
            <a:ext cx="3017520" cy="411480"/>
          </a:xfrm>
          <a:prstGeom prst="rect">
            <a:avLst/>
          </a:prstGeom>
          <a:noFill/>
        </p:spPr>
        <p:txBody>
          <a:bodyPr wrap="square"/>
          <a:lstStyle/>
          <a:p>
            <a:pPr algn="l">
              <a:defRPr sz="1300" b="0">
                <a:solidFill>
                  <a:srgbClr val="AAAAAA"/>
                </a:solidFill>
                <a:latin typeface="Calibri"/>
              </a:defRPr>
            </a:pPr>
            <a:r>
              <a:t>•  Prevents duplicate alerts</a:t>
            </a:r>
          </a:p>
        </p:txBody>
      </p:sp>
      <p:sp>
        <p:nvSpPr>
          <p:cNvPr id="12" name="TextBox 11"/>
          <p:cNvSpPr txBox="1"/>
          <p:nvPr/>
        </p:nvSpPr>
        <p:spPr>
          <a:xfrm>
            <a:off x="822960" y="4297680"/>
            <a:ext cx="3017520" cy="411480"/>
          </a:xfrm>
          <a:prstGeom prst="rect">
            <a:avLst/>
          </a:prstGeom>
          <a:noFill/>
        </p:spPr>
        <p:txBody>
          <a:bodyPr wrap="square"/>
          <a:lstStyle/>
          <a:p>
            <a:pPr algn="l">
              <a:defRPr sz="1300" b="0">
                <a:solidFill>
                  <a:srgbClr val="AAAAAA"/>
                </a:solidFill>
                <a:latin typeface="Calibri"/>
              </a:defRPr>
            </a:pPr>
            <a:r>
              <a:t>•  all-MiniLM-L6-v2 embeddings</a:t>
            </a:r>
          </a:p>
        </p:txBody>
      </p:sp>
      <p:sp>
        <p:nvSpPr>
          <p:cNvPr id="13" name="Rounded Rectangle 12"/>
          <p:cNvSpPr/>
          <p:nvPr/>
        </p:nvSpPr>
        <p:spPr>
          <a:xfrm>
            <a:off x="4297679" y="1920240"/>
            <a:ext cx="3474720" cy="3474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2057400"/>
            <a:ext cx="3108960" cy="365760"/>
          </a:xfrm>
          <a:prstGeom prst="rect">
            <a:avLst/>
          </a:prstGeom>
          <a:noFill/>
        </p:spPr>
        <p:txBody>
          <a:bodyPr wrap="square"/>
          <a:lstStyle/>
          <a:p>
            <a:pPr algn="l">
              <a:defRPr sz="1400" b="1">
                <a:solidFill>
                  <a:srgbClr val="00E676"/>
                </a:solidFill>
                <a:latin typeface="Calibri"/>
              </a:defRPr>
            </a:pPr>
            <a:r>
              <a:t>🔧  scanguard-patterns</a:t>
            </a:r>
          </a:p>
        </p:txBody>
      </p:sp>
      <p:sp>
        <p:nvSpPr>
          <p:cNvPr id="15" name="TextBox 14"/>
          <p:cNvSpPr txBox="1"/>
          <p:nvPr/>
        </p:nvSpPr>
        <p:spPr>
          <a:xfrm>
            <a:off x="4480559" y="2423160"/>
            <a:ext cx="3108960" cy="320040"/>
          </a:xfrm>
          <a:prstGeom prst="rect">
            <a:avLst/>
          </a:prstGeom>
          <a:noFill/>
        </p:spPr>
        <p:txBody>
          <a:bodyPr wrap="square"/>
          <a:lstStyle/>
          <a:p>
            <a:pPr algn="l">
              <a:defRPr sz="1600" b="1">
                <a:solidFill>
                  <a:srgbClr val="FFFFFF"/>
                </a:solidFill>
                <a:latin typeface="Calibri"/>
              </a:defRPr>
            </a:pPr>
            <a:r>
              <a:t>Fix Knowledge Base</a:t>
            </a:r>
          </a:p>
        </p:txBody>
      </p:sp>
      <p:sp>
        <p:nvSpPr>
          <p:cNvPr id="16" name="TextBox 15"/>
          <p:cNvSpPr txBox="1"/>
          <p:nvPr/>
        </p:nvSpPr>
        <p:spPr>
          <a:xfrm>
            <a:off x="4571999" y="2926080"/>
            <a:ext cx="3017520" cy="411480"/>
          </a:xfrm>
          <a:prstGeom prst="rect">
            <a:avLst/>
          </a:prstGeom>
          <a:noFill/>
        </p:spPr>
        <p:txBody>
          <a:bodyPr wrap="square"/>
          <a:lstStyle/>
          <a:p>
            <a:pPr algn="l">
              <a:defRPr sz="1300" b="0">
                <a:solidFill>
                  <a:srgbClr val="AAAAAA"/>
                </a:solidFill>
                <a:latin typeface="Calibri"/>
              </a:defRPr>
            </a:pPr>
            <a:r>
              <a:t>•  Stores successful fix patterns</a:t>
            </a:r>
          </a:p>
        </p:txBody>
      </p:sp>
      <p:sp>
        <p:nvSpPr>
          <p:cNvPr id="17" name="TextBox 16"/>
          <p:cNvSpPr txBox="1"/>
          <p:nvPr/>
        </p:nvSpPr>
        <p:spPr>
          <a:xfrm>
            <a:off x="4571999" y="3383280"/>
            <a:ext cx="3017520" cy="411480"/>
          </a:xfrm>
          <a:prstGeom prst="rect">
            <a:avLst/>
          </a:prstGeom>
          <a:noFill/>
        </p:spPr>
        <p:txBody>
          <a:bodyPr wrap="square"/>
          <a:lstStyle/>
          <a:p>
            <a:pPr algn="l">
              <a:defRPr sz="1300" b="0">
                <a:solidFill>
                  <a:srgbClr val="AAAAAA"/>
                </a:solidFill>
                <a:latin typeface="Calibri"/>
              </a:defRPr>
            </a:pPr>
            <a:r>
              <a:t>•  Matches new findings to past fixes</a:t>
            </a:r>
          </a:p>
        </p:txBody>
      </p:sp>
      <p:sp>
        <p:nvSpPr>
          <p:cNvPr id="18" name="TextBox 17"/>
          <p:cNvSpPr txBox="1"/>
          <p:nvPr/>
        </p:nvSpPr>
        <p:spPr>
          <a:xfrm>
            <a:off x="4571999" y="3840480"/>
            <a:ext cx="3017520" cy="411480"/>
          </a:xfrm>
          <a:prstGeom prst="rect">
            <a:avLst/>
          </a:prstGeom>
          <a:noFill/>
        </p:spPr>
        <p:txBody>
          <a:bodyPr wrap="square"/>
          <a:lstStyle/>
          <a:p>
            <a:pPr algn="l">
              <a:defRPr sz="1300" b="0">
                <a:solidFill>
                  <a:srgbClr val="AAAAAA"/>
                </a:solidFill>
                <a:latin typeface="Calibri"/>
              </a:defRPr>
            </a:pPr>
            <a:r>
              <a:t>•  Improves AutoFix accuracy</a:t>
            </a:r>
          </a:p>
        </p:txBody>
      </p:sp>
      <p:sp>
        <p:nvSpPr>
          <p:cNvPr id="19" name="TextBox 18"/>
          <p:cNvSpPr txBox="1"/>
          <p:nvPr/>
        </p:nvSpPr>
        <p:spPr>
          <a:xfrm>
            <a:off x="4571999" y="4297680"/>
            <a:ext cx="3017520" cy="411480"/>
          </a:xfrm>
          <a:prstGeom prst="rect">
            <a:avLst/>
          </a:prstGeom>
          <a:noFill/>
        </p:spPr>
        <p:txBody>
          <a:bodyPr wrap="square"/>
          <a:lstStyle/>
          <a:p>
            <a:pPr algn="l">
              <a:defRPr sz="1300" b="0">
                <a:solidFill>
                  <a:srgbClr val="AAAAAA"/>
                </a:solidFill>
                <a:latin typeface="Calibri"/>
              </a:defRPr>
            </a:pPr>
            <a:r>
              <a:t>•  Cross-project fix reuse</a:t>
            </a:r>
          </a:p>
        </p:txBody>
      </p:sp>
      <p:sp>
        <p:nvSpPr>
          <p:cNvPr id="20" name="Rounded Rectangle 19"/>
          <p:cNvSpPr/>
          <p:nvPr/>
        </p:nvSpPr>
        <p:spPr>
          <a:xfrm>
            <a:off x="8046719" y="1920240"/>
            <a:ext cx="3474720" cy="34747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2057400"/>
            <a:ext cx="3108960" cy="365760"/>
          </a:xfrm>
          <a:prstGeom prst="rect">
            <a:avLst/>
          </a:prstGeom>
          <a:noFill/>
        </p:spPr>
        <p:txBody>
          <a:bodyPr wrap="square"/>
          <a:lstStyle/>
          <a:p>
            <a:pPr algn="l">
              <a:defRPr sz="1400" b="1">
                <a:solidFill>
                  <a:srgbClr val="00E676"/>
                </a:solidFill>
                <a:latin typeface="Calibri"/>
              </a:defRPr>
            </a:pPr>
            <a:r>
              <a:t>📁  scanguard-project-memory</a:t>
            </a:r>
          </a:p>
        </p:txBody>
      </p:sp>
      <p:sp>
        <p:nvSpPr>
          <p:cNvPr id="22" name="TextBox 21"/>
          <p:cNvSpPr txBox="1"/>
          <p:nvPr/>
        </p:nvSpPr>
        <p:spPr>
          <a:xfrm>
            <a:off x="8229599" y="2423160"/>
            <a:ext cx="3108960" cy="320040"/>
          </a:xfrm>
          <a:prstGeom prst="rect">
            <a:avLst/>
          </a:prstGeom>
          <a:noFill/>
        </p:spPr>
        <p:txBody>
          <a:bodyPr wrap="square"/>
          <a:lstStyle/>
          <a:p>
            <a:pPr algn="l">
              <a:defRPr sz="1600" b="1">
                <a:solidFill>
                  <a:srgbClr val="FFFFFF"/>
                </a:solidFill>
                <a:latin typeface="Calibri"/>
              </a:defRPr>
            </a:pPr>
            <a:r>
              <a:t>Project Memory</a:t>
            </a:r>
          </a:p>
        </p:txBody>
      </p:sp>
      <p:sp>
        <p:nvSpPr>
          <p:cNvPr id="23" name="TextBox 22"/>
          <p:cNvSpPr txBox="1"/>
          <p:nvPr/>
        </p:nvSpPr>
        <p:spPr>
          <a:xfrm>
            <a:off x="8321039" y="2926080"/>
            <a:ext cx="3017520" cy="411480"/>
          </a:xfrm>
          <a:prstGeom prst="rect">
            <a:avLst/>
          </a:prstGeom>
          <a:noFill/>
        </p:spPr>
        <p:txBody>
          <a:bodyPr wrap="square"/>
          <a:lstStyle/>
          <a:p>
            <a:pPr algn="l">
              <a:defRPr sz="1300" b="0">
                <a:solidFill>
                  <a:srgbClr val="AAAAAA"/>
                </a:solidFill>
                <a:latin typeface="Calibri"/>
              </a:defRPr>
            </a:pPr>
            <a:r>
              <a:t>•  Remembers project architecture</a:t>
            </a:r>
          </a:p>
        </p:txBody>
      </p:sp>
      <p:sp>
        <p:nvSpPr>
          <p:cNvPr id="24" name="TextBox 23"/>
          <p:cNvSpPr txBox="1"/>
          <p:nvPr/>
        </p:nvSpPr>
        <p:spPr>
          <a:xfrm>
            <a:off x="8321039" y="3383280"/>
            <a:ext cx="3017520" cy="411480"/>
          </a:xfrm>
          <a:prstGeom prst="rect">
            <a:avLst/>
          </a:prstGeom>
          <a:noFill/>
        </p:spPr>
        <p:txBody>
          <a:bodyPr wrap="square"/>
          <a:lstStyle/>
          <a:p>
            <a:pPr algn="l">
              <a:defRPr sz="1300" b="0">
                <a:solidFill>
                  <a:srgbClr val="AAAAAA"/>
                </a:solidFill>
                <a:latin typeface="Calibri"/>
              </a:defRPr>
            </a:pPr>
            <a:r>
              <a:t>•  Tracks resolved false positives</a:t>
            </a:r>
          </a:p>
        </p:txBody>
      </p:sp>
      <p:sp>
        <p:nvSpPr>
          <p:cNvPr id="25" name="TextBox 24"/>
          <p:cNvSpPr txBox="1"/>
          <p:nvPr/>
        </p:nvSpPr>
        <p:spPr>
          <a:xfrm>
            <a:off x="8321039" y="3840480"/>
            <a:ext cx="3017520" cy="411480"/>
          </a:xfrm>
          <a:prstGeom prst="rect">
            <a:avLst/>
          </a:prstGeom>
          <a:noFill/>
        </p:spPr>
        <p:txBody>
          <a:bodyPr wrap="square"/>
          <a:lstStyle/>
          <a:p>
            <a:pPr algn="l">
              <a:defRPr sz="1300" b="0">
                <a:solidFill>
                  <a:srgbClr val="AAAAAA"/>
                </a:solidFill>
                <a:latin typeface="Calibri"/>
              </a:defRPr>
            </a:pPr>
            <a:r>
              <a:t>•  Adapts to codebase patterns</a:t>
            </a:r>
          </a:p>
        </p:txBody>
      </p:sp>
      <p:sp>
        <p:nvSpPr>
          <p:cNvPr id="26" name="TextBox 25"/>
          <p:cNvSpPr txBox="1"/>
          <p:nvPr/>
        </p:nvSpPr>
        <p:spPr>
          <a:xfrm>
            <a:off x="8321039" y="4297680"/>
            <a:ext cx="3017520" cy="411480"/>
          </a:xfrm>
          <a:prstGeom prst="rect">
            <a:avLst/>
          </a:prstGeom>
          <a:noFill/>
        </p:spPr>
        <p:txBody>
          <a:bodyPr wrap="square"/>
          <a:lstStyle/>
          <a:p>
            <a:pPr algn="l">
              <a:defRPr sz="1300" b="0">
                <a:solidFill>
                  <a:srgbClr val="AAAAAA"/>
                </a:solidFill>
                <a:latin typeface="Calibri"/>
              </a:defRPr>
            </a:pPr>
            <a:r>
              <a:t>•  Reduces repeat false positives</a:t>
            </a:r>
          </a:p>
        </p:txBody>
      </p:sp>
      <p:sp>
        <p:nvSpPr>
          <p:cNvPr id="27" name="TextBox 26"/>
          <p:cNvSpPr txBox="1"/>
          <p:nvPr/>
        </p:nvSpPr>
        <p:spPr>
          <a:xfrm>
            <a:off x="548640" y="5623560"/>
            <a:ext cx="10972800" cy="320040"/>
          </a:xfrm>
          <a:prstGeom prst="rect">
            <a:avLst/>
          </a:prstGeom>
          <a:noFill/>
        </p:spPr>
        <p:txBody>
          <a:bodyPr wrap="square"/>
          <a:lstStyle/>
          <a:p>
            <a:pPr algn="ctr">
              <a:defRPr sz="1300" b="0">
                <a:solidFill>
                  <a:srgbClr val="00E676"/>
                </a:solidFill>
                <a:latin typeface="Calibri"/>
              </a:defRPr>
            </a:pPr>
            <a:r>
              <a:t>Flow:  New Finding → Embed (MiniLM) → Pinecone Search → Similar? Merge &amp; Link  |  Novel? Store &amp; Alert</a:t>
            </a:r>
          </a:p>
        </p:txBody>
      </p:sp>
      <p:sp>
        <p:nvSpPr>
          <p:cNvPr id="28" name="Rectangle 27"/>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30" name="TextBox 29"/>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243584"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243584" cy="292608"/>
          </a:xfrm>
          <a:prstGeom prst="rect">
            <a:avLst/>
          </a:prstGeom>
          <a:noFill/>
        </p:spPr>
        <p:txBody>
          <a:bodyPr wrap="square"/>
          <a:lstStyle/>
          <a:p>
            <a:pPr algn="ctr">
              <a:defRPr sz="1000" b="1">
                <a:solidFill>
                  <a:srgbClr val="00E676"/>
                </a:solidFill>
                <a:latin typeface="Calibri"/>
              </a:defRPr>
            </a:pPr>
            <a:r>
              <a:t>WORKFLOW</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Detection to Resolution in One Workflow</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The complete security lifecycle — automated, intelligent, fast</a:t>
            </a:r>
          </a:p>
        </p:txBody>
      </p:sp>
      <p:sp>
        <p:nvSpPr>
          <p:cNvPr id="6" name="Rounded Rectangle 5"/>
          <p:cNvSpPr/>
          <p:nvPr/>
        </p:nvSpPr>
        <p:spPr>
          <a:xfrm>
            <a:off x="655167" y="2103120"/>
            <a:ext cx="1920240" cy="25603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5167" y="2286000"/>
            <a:ext cx="1920240" cy="457200"/>
          </a:xfrm>
          <a:prstGeom prst="rect">
            <a:avLst/>
          </a:prstGeom>
          <a:noFill/>
        </p:spPr>
        <p:txBody>
          <a:bodyPr wrap="square"/>
          <a:lstStyle/>
          <a:p>
            <a:pPr algn="ctr">
              <a:defRPr sz="3200" b="0">
                <a:solidFill>
                  <a:srgbClr val="00E676"/>
                </a:solidFill>
                <a:latin typeface="Calibri"/>
              </a:defRPr>
            </a:pPr>
            <a:r>
              <a:t>🔍</a:t>
            </a:r>
          </a:p>
        </p:txBody>
      </p:sp>
      <p:sp>
        <p:nvSpPr>
          <p:cNvPr id="8" name="TextBox 7"/>
          <p:cNvSpPr txBox="1"/>
          <p:nvPr/>
        </p:nvSpPr>
        <p:spPr>
          <a:xfrm>
            <a:off x="746607" y="2788920"/>
            <a:ext cx="1737360" cy="320040"/>
          </a:xfrm>
          <a:prstGeom prst="rect">
            <a:avLst/>
          </a:prstGeom>
          <a:noFill/>
        </p:spPr>
        <p:txBody>
          <a:bodyPr wrap="square"/>
          <a:lstStyle/>
          <a:p>
            <a:pPr algn="ctr">
              <a:defRPr sz="1800" b="1">
                <a:solidFill>
                  <a:srgbClr val="00E676"/>
                </a:solidFill>
                <a:latin typeface="Calibri"/>
              </a:defRPr>
            </a:pPr>
            <a:r>
              <a:t>DETECT</a:t>
            </a:r>
          </a:p>
        </p:txBody>
      </p:sp>
      <p:sp>
        <p:nvSpPr>
          <p:cNvPr id="9" name="TextBox 8"/>
          <p:cNvSpPr txBox="1"/>
          <p:nvPr/>
        </p:nvSpPr>
        <p:spPr>
          <a:xfrm>
            <a:off x="746607" y="3200400"/>
            <a:ext cx="1737360" cy="640080"/>
          </a:xfrm>
          <a:prstGeom prst="rect">
            <a:avLst/>
          </a:prstGeom>
          <a:noFill/>
        </p:spPr>
        <p:txBody>
          <a:bodyPr wrap="square"/>
          <a:lstStyle/>
          <a:p>
            <a:pPr algn="ctr">
              <a:defRPr sz="1300" b="0">
                <a:solidFill>
                  <a:srgbClr val="FFFFFF"/>
                </a:solidFill>
                <a:latin typeface="Calibri"/>
              </a:defRPr>
            </a:pPr>
            <a:r>
              <a:t>Semgrep SAST</a:t>
            </a:r>
            <a:br/>
            <a:r>
              <a:t>scans codebase</a:t>
            </a:r>
          </a:p>
        </p:txBody>
      </p:sp>
      <p:sp>
        <p:nvSpPr>
          <p:cNvPr id="10" name="Rounded Rectangle 9"/>
          <p:cNvSpPr/>
          <p:nvPr/>
        </p:nvSpPr>
        <p:spPr>
          <a:xfrm>
            <a:off x="1020927" y="4114800"/>
            <a:ext cx="1188720" cy="32004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4114800"/>
            <a:ext cx="1188720" cy="320040"/>
          </a:xfrm>
          <a:prstGeom prst="rect">
            <a:avLst/>
          </a:prstGeom>
          <a:noFill/>
        </p:spPr>
        <p:txBody>
          <a:bodyPr wrap="square"/>
          <a:lstStyle/>
          <a:p>
            <a:pPr algn="ctr">
              <a:defRPr sz="1200" b="1">
                <a:solidFill>
                  <a:srgbClr val="00E676"/>
                </a:solidFill>
                <a:latin typeface="Calibri"/>
              </a:defRPr>
            </a:pPr>
            <a:r>
              <a:t>&lt; 60s</a:t>
            </a:r>
          </a:p>
        </p:txBody>
      </p:sp>
      <p:sp>
        <p:nvSpPr>
          <p:cNvPr id="12" name="TextBox 11"/>
          <p:cNvSpPr txBox="1"/>
          <p:nvPr/>
        </p:nvSpPr>
        <p:spPr>
          <a:xfrm>
            <a:off x="2575407" y="3017520"/>
            <a:ext cx="320040" cy="365760"/>
          </a:xfrm>
          <a:prstGeom prst="rect">
            <a:avLst/>
          </a:prstGeom>
          <a:noFill/>
        </p:spPr>
        <p:txBody>
          <a:bodyPr wrap="square"/>
          <a:lstStyle/>
          <a:p>
            <a:pPr algn="ctr">
              <a:defRPr sz="2000" b="0">
                <a:solidFill>
                  <a:srgbClr val="00E676"/>
                </a:solidFill>
                <a:latin typeface="Calibri"/>
              </a:defRPr>
            </a:pPr>
            <a:r>
              <a:t>▶</a:t>
            </a:r>
          </a:p>
        </p:txBody>
      </p:sp>
      <p:sp>
        <p:nvSpPr>
          <p:cNvPr id="13" name="Rounded Rectangle 12"/>
          <p:cNvSpPr/>
          <p:nvPr/>
        </p:nvSpPr>
        <p:spPr>
          <a:xfrm>
            <a:off x="2895447" y="2103120"/>
            <a:ext cx="1920240" cy="25603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95447" y="2286000"/>
            <a:ext cx="1920240" cy="457200"/>
          </a:xfrm>
          <a:prstGeom prst="rect">
            <a:avLst/>
          </a:prstGeom>
          <a:noFill/>
        </p:spPr>
        <p:txBody>
          <a:bodyPr wrap="square"/>
          <a:lstStyle/>
          <a:p>
            <a:pPr algn="ctr">
              <a:defRPr sz="3200" b="0">
                <a:solidFill>
                  <a:srgbClr val="00E676"/>
                </a:solidFill>
                <a:latin typeface="Calibri"/>
              </a:defRPr>
            </a:pPr>
            <a:r>
              <a:t>🧠</a:t>
            </a:r>
          </a:p>
        </p:txBody>
      </p:sp>
      <p:sp>
        <p:nvSpPr>
          <p:cNvPr id="15" name="TextBox 14"/>
          <p:cNvSpPr txBox="1"/>
          <p:nvPr/>
        </p:nvSpPr>
        <p:spPr>
          <a:xfrm>
            <a:off x="2986887" y="2788920"/>
            <a:ext cx="1737360" cy="320040"/>
          </a:xfrm>
          <a:prstGeom prst="rect">
            <a:avLst/>
          </a:prstGeom>
          <a:noFill/>
        </p:spPr>
        <p:txBody>
          <a:bodyPr wrap="square"/>
          <a:lstStyle/>
          <a:p>
            <a:pPr algn="ctr">
              <a:defRPr sz="1800" b="1">
                <a:solidFill>
                  <a:srgbClr val="00E676"/>
                </a:solidFill>
                <a:latin typeface="Calibri"/>
              </a:defRPr>
            </a:pPr>
            <a:r>
              <a:t>UNDERSTAND</a:t>
            </a:r>
          </a:p>
        </p:txBody>
      </p:sp>
      <p:sp>
        <p:nvSpPr>
          <p:cNvPr id="16" name="TextBox 15"/>
          <p:cNvSpPr txBox="1"/>
          <p:nvPr/>
        </p:nvSpPr>
        <p:spPr>
          <a:xfrm>
            <a:off x="2986887" y="3200400"/>
            <a:ext cx="1737360" cy="640080"/>
          </a:xfrm>
          <a:prstGeom prst="rect">
            <a:avLst/>
          </a:prstGeom>
          <a:noFill/>
        </p:spPr>
        <p:txBody>
          <a:bodyPr wrap="square"/>
          <a:lstStyle/>
          <a:p>
            <a:pPr algn="ctr">
              <a:defRPr sz="1300" b="0">
                <a:solidFill>
                  <a:srgbClr val="FFFFFF"/>
                </a:solidFill>
                <a:latin typeface="Calibri"/>
              </a:defRPr>
            </a:pPr>
            <a:r>
              <a:t>AI analyzes context</a:t>
            </a:r>
            <a:br/>
            <a:r>
              <a:t>and exploitability</a:t>
            </a:r>
          </a:p>
        </p:txBody>
      </p:sp>
      <p:sp>
        <p:nvSpPr>
          <p:cNvPr id="17" name="Rounded Rectangle 16"/>
          <p:cNvSpPr/>
          <p:nvPr/>
        </p:nvSpPr>
        <p:spPr>
          <a:xfrm>
            <a:off x="3261207" y="4114800"/>
            <a:ext cx="1188720" cy="32004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61207" y="4114800"/>
            <a:ext cx="1188720" cy="320040"/>
          </a:xfrm>
          <a:prstGeom prst="rect">
            <a:avLst/>
          </a:prstGeom>
          <a:noFill/>
        </p:spPr>
        <p:txBody>
          <a:bodyPr wrap="square"/>
          <a:lstStyle/>
          <a:p>
            <a:pPr algn="ctr">
              <a:defRPr sz="1200" b="1">
                <a:solidFill>
                  <a:srgbClr val="00E676"/>
                </a:solidFill>
                <a:latin typeface="Calibri"/>
              </a:defRPr>
            </a:pPr>
            <a:r>
              <a:t>&lt; 90s</a:t>
            </a:r>
          </a:p>
        </p:txBody>
      </p:sp>
      <p:sp>
        <p:nvSpPr>
          <p:cNvPr id="19" name="TextBox 18"/>
          <p:cNvSpPr txBox="1"/>
          <p:nvPr/>
        </p:nvSpPr>
        <p:spPr>
          <a:xfrm>
            <a:off x="4815687" y="3017520"/>
            <a:ext cx="320040" cy="365760"/>
          </a:xfrm>
          <a:prstGeom prst="rect">
            <a:avLst/>
          </a:prstGeom>
          <a:noFill/>
        </p:spPr>
        <p:txBody>
          <a:bodyPr wrap="square"/>
          <a:lstStyle/>
          <a:p>
            <a:pPr algn="ctr">
              <a:defRPr sz="2000" b="0">
                <a:solidFill>
                  <a:srgbClr val="00E676"/>
                </a:solidFill>
                <a:latin typeface="Calibri"/>
              </a:defRPr>
            </a:pPr>
            <a:r>
              <a:t>▶</a:t>
            </a:r>
          </a:p>
        </p:txBody>
      </p:sp>
      <p:sp>
        <p:nvSpPr>
          <p:cNvPr id="20" name="Rounded Rectangle 19"/>
          <p:cNvSpPr/>
          <p:nvPr/>
        </p:nvSpPr>
        <p:spPr>
          <a:xfrm>
            <a:off x="5135727" y="2103120"/>
            <a:ext cx="1920240" cy="25603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5727" y="2286000"/>
            <a:ext cx="1920240" cy="457200"/>
          </a:xfrm>
          <a:prstGeom prst="rect">
            <a:avLst/>
          </a:prstGeom>
          <a:noFill/>
        </p:spPr>
        <p:txBody>
          <a:bodyPr wrap="square"/>
          <a:lstStyle/>
          <a:p>
            <a:pPr algn="ctr">
              <a:defRPr sz="3200" b="0">
                <a:solidFill>
                  <a:srgbClr val="00E676"/>
                </a:solidFill>
                <a:latin typeface="Calibri"/>
              </a:defRPr>
            </a:pPr>
            <a:r>
              <a:t>✅</a:t>
            </a:r>
          </a:p>
        </p:txBody>
      </p:sp>
      <p:sp>
        <p:nvSpPr>
          <p:cNvPr id="22" name="TextBox 21"/>
          <p:cNvSpPr txBox="1"/>
          <p:nvPr/>
        </p:nvSpPr>
        <p:spPr>
          <a:xfrm>
            <a:off x="5227167" y="2788920"/>
            <a:ext cx="1737360" cy="320040"/>
          </a:xfrm>
          <a:prstGeom prst="rect">
            <a:avLst/>
          </a:prstGeom>
          <a:noFill/>
        </p:spPr>
        <p:txBody>
          <a:bodyPr wrap="square"/>
          <a:lstStyle/>
          <a:p>
            <a:pPr algn="ctr">
              <a:defRPr sz="1800" b="1">
                <a:solidFill>
                  <a:srgbClr val="00E676"/>
                </a:solidFill>
                <a:latin typeface="Calibri"/>
              </a:defRPr>
            </a:pPr>
            <a:r>
              <a:t>VERIFY</a:t>
            </a:r>
          </a:p>
        </p:txBody>
      </p:sp>
      <p:sp>
        <p:nvSpPr>
          <p:cNvPr id="23" name="TextBox 22"/>
          <p:cNvSpPr txBox="1"/>
          <p:nvPr/>
        </p:nvSpPr>
        <p:spPr>
          <a:xfrm>
            <a:off x="5227167" y="3200400"/>
            <a:ext cx="1737360" cy="640080"/>
          </a:xfrm>
          <a:prstGeom prst="rect">
            <a:avLst/>
          </a:prstGeom>
          <a:noFill/>
        </p:spPr>
        <p:txBody>
          <a:bodyPr wrap="square"/>
          <a:lstStyle/>
          <a:p>
            <a:pPr algn="ctr">
              <a:defRPr sz="1300" b="0">
                <a:solidFill>
                  <a:srgbClr val="FFFFFF"/>
                </a:solidFill>
                <a:latin typeface="Calibri"/>
              </a:defRPr>
            </a:pPr>
            <a:r>
              <a:t>ZAP DAST proves</a:t>
            </a:r>
            <a:br/>
            <a:r>
              <a:t>exploitability</a:t>
            </a:r>
          </a:p>
        </p:txBody>
      </p:sp>
      <p:sp>
        <p:nvSpPr>
          <p:cNvPr id="24" name="Rounded Rectangle 23"/>
          <p:cNvSpPr/>
          <p:nvPr/>
        </p:nvSpPr>
        <p:spPr>
          <a:xfrm>
            <a:off x="5501487" y="4114800"/>
            <a:ext cx="1188720" cy="32004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01487" y="4114800"/>
            <a:ext cx="1188720" cy="320040"/>
          </a:xfrm>
          <a:prstGeom prst="rect">
            <a:avLst/>
          </a:prstGeom>
          <a:noFill/>
        </p:spPr>
        <p:txBody>
          <a:bodyPr wrap="square"/>
          <a:lstStyle/>
          <a:p>
            <a:pPr algn="ctr">
              <a:defRPr sz="1200" b="1">
                <a:solidFill>
                  <a:srgbClr val="00E676"/>
                </a:solidFill>
                <a:latin typeface="Calibri"/>
              </a:defRPr>
            </a:pPr>
            <a:r>
              <a:t>&lt; 120s</a:t>
            </a:r>
          </a:p>
        </p:txBody>
      </p:sp>
      <p:sp>
        <p:nvSpPr>
          <p:cNvPr id="26" name="TextBox 25"/>
          <p:cNvSpPr txBox="1"/>
          <p:nvPr/>
        </p:nvSpPr>
        <p:spPr>
          <a:xfrm>
            <a:off x="7055967" y="3017520"/>
            <a:ext cx="320040" cy="365760"/>
          </a:xfrm>
          <a:prstGeom prst="rect">
            <a:avLst/>
          </a:prstGeom>
          <a:noFill/>
        </p:spPr>
        <p:txBody>
          <a:bodyPr wrap="square"/>
          <a:lstStyle/>
          <a:p>
            <a:pPr algn="ctr">
              <a:defRPr sz="2000" b="0">
                <a:solidFill>
                  <a:srgbClr val="00E676"/>
                </a:solidFill>
                <a:latin typeface="Calibri"/>
              </a:defRPr>
            </a:pPr>
            <a:r>
              <a:t>▶</a:t>
            </a:r>
          </a:p>
        </p:txBody>
      </p:sp>
      <p:sp>
        <p:nvSpPr>
          <p:cNvPr id="27" name="Rounded Rectangle 26"/>
          <p:cNvSpPr/>
          <p:nvPr/>
        </p:nvSpPr>
        <p:spPr>
          <a:xfrm>
            <a:off x="7376007" y="2103120"/>
            <a:ext cx="1920240" cy="25603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76007" y="2286000"/>
            <a:ext cx="1920240" cy="457200"/>
          </a:xfrm>
          <a:prstGeom prst="rect">
            <a:avLst/>
          </a:prstGeom>
          <a:noFill/>
        </p:spPr>
        <p:txBody>
          <a:bodyPr wrap="square"/>
          <a:lstStyle/>
          <a:p>
            <a:pPr algn="ctr">
              <a:defRPr sz="3200" b="0">
                <a:solidFill>
                  <a:srgbClr val="00E676"/>
                </a:solidFill>
                <a:latin typeface="Calibri"/>
              </a:defRPr>
            </a:pPr>
            <a:r>
              <a:t>🔧</a:t>
            </a:r>
          </a:p>
        </p:txBody>
      </p:sp>
      <p:sp>
        <p:nvSpPr>
          <p:cNvPr id="29" name="TextBox 28"/>
          <p:cNvSpPr txBox="1"/>
          <p:nvPr/>
        </p:nvSpPr>
        <p:spPr>
          <a:xfrm>
            <a:off x="7467447" y="2788920"/>
            <a:ext cx="1737360" cy="320040"/>
          </a:xfrm>
          <a:prstGeom prst="rect">
            <a:avLst/>
          </a:prstGeom>
          <a:noFill/>
        </p:spPr>
        <p:txBody>
          <a:bodyPr wrap="square"/>
          <a:lstStyle/>
          <a:p>
            <a:pPr algn="ctr">
              <a:defRPr sz="1800" b="1">
                <a:solidFill>
                  <a:srgbClr val="00E676"/>
                </a:solidFill>
                <a:latin typeface="Calibri"/>
              </a:defRPr>
            </a:pPr>
            <a:r>
              <a:t>FIX</a:t>
            </a:r>
          </a:p>
        </p:txBody>
      </p:sp>
      <p:sp>
        <p:nvSpPr>
          <p:cNvPr id="30" name="TextBox 29"/>
          <p:cNvSpPr txBox="1"/>
          <p:nvPr/>
        </p:nvSpPr>
        <p:spPr>
          <a:xfrm>
            <a:off x="7467447" y="3200400"/>
            <a:ext cx="1737360" cy="640080"/>
          </a:xfrm>
          <a:prstGeom prst="rect">
            <a:avLst/>
          </a:prstGeom>
          <a:noFill/>
        </p:spPr>
        <p:txBody>
          <a:bodyPr wrap="square"/>
          <a:lstStyle/>
          <a:p>
            <a:pPr algn="ctr">
              <a:defRPr sz="1300" b="0">
                <a:solidFill>
                  <a:srgbClr val="FFFFFF"/>
                </a:solidFill>
                <a:latin typeface="Calibri"/>
              </a:defRPr>
            </a:pPr>
            <a:r>
              <a:t>AutoFix generates</a:t>
            </a:r>
            <a:br/>
            <a:r>
              <a:t>secure patches</a:t>
            </a:r>
          </a:p>
        </p:txBody>
      </p:sp>
      <p:sp>
        <p:nvSpPr>
          <p:cNvPr id="31" name="Rounded Rectangle 30"/>
          <p:cNvSpPr/>
          <p:nvPr/>
        </p:nvSpPr>
        <p:spPr>
          <a:xfrm>
            <a:off x="7741767" y="4114800"/>
            <a:ext cx="1188720" cy="32004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41767" y="4114800"/>
            <a:ext cx="1188720" cy="320040"/>
          </a:xfrm>
          <a:prstGeom prst="rect">
            <a:avLst/>
          </a:prstGeom>
          <a:noFill/>
        </p:spPr>
        <p:txBody>
          <a:bodyPr wrap="square"/>
          <a:lstStyle/>
          <a:p>
            <a:pPr algn="ctr">
              <a:defRPr sz="1200" b="1">
                <a:solidFill>
                  <a:srgbClr val="00E676"/>
                </a:solidFill>
                <a:latin typeface="Calibri"/>
              </a:defRPr>
            </a:pPr>
            <a:r>
              <a:t>&lt; 30s</a:t>
            </a:r>
          </a:p>
        </p:txBody>
      </p:sp>
      <p:sp>
        <p:nvSpPr>
          <p:cNvPr id="33" name="TextBox 32"/>
          <p:cNvSpPr txBox="1"/>
          <p:nvPr/>
        </p:nvSpPr>
        <p:spPr>
          <a:xfrm>
            <a:off x="9296247" y="3017520"/>
            <a:ext cx="320040" cy="365760"/>
          </a:xfrm>
          <a:prstGeom prst="rect">
            <a:avLst/>
          </a:prstGeom>
          <a:noFill/>
        </p:spPr>
        <p:txBody>
          <a:bodyPr wrap="square"/>
          <a:lstStyle/>
          <a:p>
            <a:pPr algn="ctr">
              <a:defRPr sz="2000" b="0">
                <a:solidFill>
                  <a:srgbClr val="00E676"/>
                </a:solidFill>
                <a:latin typeface="Calibri"/>
              </a:defRPr>
            </a:pPr>
            <a:r>
              <a:t>▶</a:t>
            </a:r>
          </a:p>
        </p:txBody>
      </p:sp>
      <p:sp>
        <p:nvSpPr>
          <p:cNvPr id="34" name="Rounded Rectangle 33"/>
          <p:cNvSpPr/>
          <p:nvPr/>
        </p:nvSpPr>
        <p:spPr>
          <a:xfrm>
            <a:off x="9616287" y="2103120"/>
            <a:ext cx="1920240" cy="256032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6287" y="2286000"/>
            <a:ext cx="1920240" cy="457200"/>
          </a:xfrm>
          <a:prstGeom prst="rect">
            <a:avLst/>
          </a:prstGeom>
          <a:noFill/>
        </p:spPr>
        <p:txBody>
          <a:bodyPr wrap="square"/>
          <a:lstStyle/>
          <a:p>
            <a:pPr algn="ctr">
              <a:defRPr sz="3200" b="0">
                <a:solidFill>
                  <a:srgbClr val="00E676"/>
                </a:solidFill>
                <a:latin typeface="Calibri"/>
              </a:defRPr>
            </a:pPr>
            <a:r>
              <a:t>📋</a:t>
            </a:r>
          </a:p>
        </p:txBody>
      </p:sp>
      <p:sp>
        <p:nvSpPr>
          <p:cNvPr id="36" name="TextBox 35"/>
          <p:cNvSpPr txBox="1"/>
          <p:nvPr/>
        </p:nvSpPr>
        <p:spPr>
          <a:xfrm>
            <a:off x="9707727" y="2788920"/>
            <a:ext cx="1737360" cy="320040"/>
          </a:xfrm>
          <a:prstGeom prst="rect">
            <a:avLst/>
          </a:prstGeom>
          <a:noFill/>
        </p:spPr>
        <p:txBody>
          <a:bodyPr wrap="square"/>
          <a:lstStyle/>
          <a:p>
            <a:pPr algn="ctr">
              <a:defRPr sz="1800" b="1">
                <a:solidFill>
                  <a:srgbClr val="00E676"/>
                </a:solidFill>
                <a:latin typeface="Calibri"/>
              </a:defRPr>
            </a:pPr>
            <a:r>
              <a:t>REPORT</a:t>
            </a:r>
          </a:p>
        </p:txBody>
      </p:sp>
      <p:sp>
        <p:nvSpPr>
          <p:cNvPr id="37" name="TextBox 36"/>
          <p:cNvSpPr txBox="1"/>
          <p:nvPr/>
        </p:nvSpPr>
        <p:spPr>
          <a:xfrm>
            <a:off x="9707727" y="3200400"/>
            <a:ext cx="1737360" cy="640080"/>
          </a:xfrm>
          <a:prstGeom prst="rect">
            <a:avLst/>
          </a:prstGeom>
          <a:noFill/>
        </p:spPr>
        <p:txBody>
          <a:bodyPr wrap="square"/>
          <a:lstStyle/>
          <a:p>
            <a:pPr algn="ctr">
              <a:defRPr sz="1300" b="0">
                <a:solidFill>
                  <a:srgbClr val="FFFFFF"/>
                </a:solidFill>
                <a:latin typeface="Calibri"/>
              </a:defRPr>
            </a:pPr>
            <a:r>
              <a:t>PDF/SARIF reports</a:t>
            </a:r>
            <a:br/>
            <a:r>
              <a:t>for compliance</a:t>
            </a:r>
          </a:p>
        </p:txBody>
      </p:sp>
      <p:sp>
        <p:nvSpPr>
          <p:cNvPr id="38" name="Rounded Rectangle 37"/>
          <p:cNvSpPr/>
          <p:nvPr/>
        </p:nvSpPr>
        <p:spPr>
          <a:xfrm>
            <a:off x="9982047" y="4114800"/>
            <a:ext cx="1188720" cy="320040"/>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82047" y="4114800"/>
            <a:ext cx="1188720" cy="320040"/>
          </a:xfrm>
          <a:prstGeom prst="rect">
            <a:avLst/>
          </a:prstGeom>
          <a:noFill/>
        </p:spPr>
        <p:txBody>
          <a:bodyPr wrap="square"/>
          <a:lstStyle/>
          <a:p>
            <a:pPr algn="ctr">
              <a:defRPr sz="1200" b="1">
                <a:solidFill>
                  <a:srgbClr val="00E676"/>
                </a:solidFill>
                <a:latin typeface="Calibri"/>
              </a:defRPr>
            </a:pPr>
            <a:r>
              <a:t>&lt; 15s</a:t>
            </a:r>
          </a:p>
        </p:txBody>
      </p:sp>
      <p:sp>
        <p:nvSpPr>
          <p:cNvPr id="40" name="Rounded Rectangle 39"/>
          <p:cNvSpPr/>
          <p:nvPr/>
        </p:nvSpPr>
        <p:spPr>
          <a:xfrm>
            <a:off x="3200400" y="5029200"/>
            <a:ext cx="5760720" cy="100584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0" y="5120640"/>
            <a:ext cx="5760720" cy="457200"/>
          </a:xfrm>
          <a:prstGeom prst="rect">
            <a:avLst/>
          </a:prstGeom>
          <a:noFill/>
        </p:spPr>
        <p:txBody>
          <a:bodyPr wrap="square"/>
          <a:lstStyle/>
          <a:p>
            <a:pPr algn="ctr">
              <a:defRPr sz="2800" b="1">
                <a:solidFill>
                  <a:srgbClr val="00E676"/>
                </a:solidFill>
                <a:latin typeface="Calibri"/>
              </a:defRPr>
            </a:pPr>
            <a:r>
              <a:t>Total: Under 5 Minutes</a:t>
            </a:r>
          </a:p>
        </p:txBody>
      </p:sp>
      <p:sp>
        <p:nvSpPr>
          <p:cNvPr id="42" name="TextBox 41"/>
          <p:cNvSpPr txBox="1"/>
          <p:nvPr/>
        </p:nvSpPr>
        <p:spPr>
          <a:xfrm>
            <a:off x="3200400" y="5577840"/>
            <a:ext cx="5760720" cy="320040"/>
          </a:xfrm>
          <a:prstGeom prst="rect">
            <a:avLst/>
          </a:prstGeom>
          <a:noFill/>
        </p:spPr>
        <p:txBody>
          <a:bodyPr wrap="square"/>
          <a:lstStyle/>
          <a:p>
            <a:pPr algn="ctr">
              <a:defRPr sz="1300" b="0">
                <a:solidFill>
                  <a:srgbClr val="AAAAAA"/>
                </a:solidFill>
                <a:latin typeface="Calibri"/>
              </a:defRPr>
            </a:pPr>
            <a:r>
              <a:t>From code commit to verified findings with fix suggestions and compliance report</a:t>
            </a:r>
          </a:p>
        </p:txBody>
      </p:sp>
      <p:sp>
        <p:nvSpPr>
          <p:cNvPr id="43" name="Rectangle 42"/>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45" name="TextBox 44"/>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46304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463040" cy="292608"/>
          </a:xfrm>
          <a:prstGeom prst="rect">
            <a:avLst/>
          </a:prstGeom>
          <a:noFill/>
        </p:spPr>
        <p:txBody>
          <a:bodyPr wrap="square"/>
          <a:lstStyle/>
          <a:p>
            <a:pPr algn="ctr">
              <a:defRPr sz="1000" b="1">
                <a:solidFill>
                  <a:srgbClr val="00E676"/>
                </a:solidFill>
                <a:latin typeface="Calibri"/>
              </a:defRPr>
            </a:pPr>
            <a:r>
              <a:t>TECH STACK</a:t>
            </a:r>
          </a:p>
        </p:txBody>
      </p:sp>
      <p:sp>
        <p:nvSpPr>
          <p:cNvPr id="4" name="TextBox 3"/>
          <p:cNvSpPr txBox="1"/>
          <p:nvPr/>
        </p:nvSpPr>
        <p:spPr>
          <a:xfrm>
            <a:off x="548640" y="731520"/>
            <a:ext cx="10972800" cy="640080"/>
          </a:xfrm>
          <a:prstGeom prst="rect">
            <a:avLst/>
          </a:prstGeom>
          <a:noFill/>
        </p:spPr>
        <p:txBody>
          <a:bodyPr wrap="square"/>
          <a:lstStyle/>
          <a:p>
            <a:pPr algn="l">
              <a:defRPr sz="3400" b="1">
                <a:solidFill>
                  <a:srgbClr val="00E676"/>
                </a:solidFill>
                <a:latin typeface="Calibri"/>
              </a:defRPr>
            </a:pPr>
            <a:r>
              <a:t>Built for Production, Not Just Demo</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Production-grade architecture with modern cloud-native technologies</a:t>
            </a:r>
          </a:p>
        </p:txBody>
      </p:sp>
      <p:sp>
        <p:nvSpPr>
          <p:cNvPr id="6" name="Rounded Rectangle 5"/>
          <p:cNvSpPr/>
          <p:nvPr/>
        </p:nvSpPr>
        <p:spPr>
          <a:xfrm>
            <a:off x="548640" y="1828800"/>
            <a:ext cx="11064240" cy="960120"/>
          </a:xfrm>
          <a:prstGeom prst="roundRect">
            <a:avLst>
              <a:gd name="adj" fmla="val 5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965960"/>
            <a:ext cx="1645920" cy="292608"/>
          </a:xfrm>
          <a:prstGeom prst="roundRect">
            <a:avLst>
              <a:gd name="adj" fmla="val 50000"/>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645920" cy="292608"/>
          </a:xfrm>
          <a:prstGeom prst="rect">
            <a:avLst/>
          </a:prstGeom>
          <a:noFill/>
        </p:spPr>
        <p:txBody>
          <a:bodyPr wrap="square"/>
          <a:lstStyle/>
          <a:p>
            <a:pPr algn="ctr">
              <a:defRPr sz="1200" b="1">
                <a:solidFill>
                  <a:srgbClr val="000000"/>
                </a:solidFill>
                <a:latin typeface="Calibri"/>
              </a:defRPr>
            </a:pPr>
            <a:r>
              <a:t>Frontend</a:t>
            </a:r>
          </a:p>
        </p:txBody>
      </p:sp>
      <p:sp>
        <p:nvSpPr>
          <p:cNvPr id="9" name="TextBox 8"/>
          <p:cNvSpPr txBox="1"/>
          <p:nvPr/>
        </p:nvSpPr>
        <p:spPr>
          <a:xfrm>
            <a:off x="2743200" y="1938528"/>
            <a:ext cx="8686800" cy="320040"/>
          </a:xfrm>
          <a:prstGeom prst="rect">
            <a:avLst/>
          </a:prstGeom>
          <a:noFill/>
        </p:spPr>
        <p:txBody>
          <a:bodyPr wrap="square"/>
          <a:lstStyle/>
          <a:p>
            <a:pPr algn="l">
              <a:defRPr sz="1400" b="1">
                <a:solidFill>
                  <a:srgbClr val="FFFFFF"/>
                </a:solidFill>
                <a:latin typeface="Calibri"/>
              </a:defRPr>
            </a:pPr>
            <a:r>
              <a:t>React + TypeScript + TailwindCSS</a:t>
            </a:r>
          </a:p>
        </p:txBody>
      </p:sp>
      <p:sp>
        <p:nvSpPr>
          <p:cNvPr id="10" name="TextBox 9"/>
          <p:cNvSpPr txBox="1"/>
          <p:nvPr/>
        </p:nvSpPr>
        <p:spPr>
          <a:xfrm>
            <a:off x="2743200" y="2304288"/>
            <a:ext cx="8686800" cy="411480"/>
          </a:xfrm>
          <a:prstGeom prst="rect">
            <a:avLst/>
          </a:prstGeom>
          <a:noFill/>
        </p:spPr>
        <p:txBody>
          <a:bodyPr wrap="square"/>
          <a:lstStyle/>
          <a:p>
            <a:pPr algn="l">
              <a:defRPr sz="1200" b="0">
                <a:solidFill>
                  <a:srgbClr val="AAAAAA"/>
                </a:solidFill>
                <a:latin typeface="Calibri"/>
              </a:defRPr>
            </a:pPr>
            <a:r>
              <a:t>Real-time dashboard, Finding cards with AI reasoning, Interactive scan management</a:t>
            </a:r>
          </a:p>
        </p:txBody>
      </p:sp>
      <p:sp>
        <p:nvSpPr>
          <p:cNvPr id="11" name="Rounded Rectangle 10"/>
          <p:cNvSpPr/>
          <p:nvPr/>
        </p:nvSpPr>
        <p:spPr>
          <a:xfrm>
            <a:off x="548640" y="2907791"/>
            <a:ext cx="11064240" cy="960120"/>
          </a:xfrm>
          <a:prstGeom prst="roundRect">
            <a:avLst>
              <a:gd name="adj" fmla="val 5000"/>
            </a:avLst>
          </a:prstGeom>
          <a:solidFill>
            <a:srgbClr val="111111"/>
          </a:solidFill>
          <a:ln w="19050">
            <a:solidFill>
              <a:srgbClr val="00B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044951"/>
            <a:ext cx="1645920" cy="292608"/>
          </a:xfrm>
          <a:prstGeom prst="roundRect">
            <a:avLst>
              <a:gd name="adj" fmla="val 50000"/>
            </a:avLst>
          </a:prstGeom>
          <a:solidFill>
            <a:srgbClr val="00B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44951"/>
            <a:ext cx="1645920" cy="292608"/>
          </a:xfrm>
          <a:prstGeom prst="rect">
            <a:avLst/>
          </a:prstGeom>
          <a:noFill/>
        </p:spPr>
        <p:txBody>
          <a:bodyPr wrap="square"/>
          <a:lstStyle/>
          <a:p>
            <a:pPr algn="ctr">
              <a:defRPr sz="1200" b="1">
                <a:solidFill>
                  <a:srgbClr val="000000"/>
                </a:solidFill>
                <a:latin typeface="Calibri"/>
              </a:defRPr>
            </a:pPr>
            <a:r>
              <a:t>Backend API</a:t>
            </a:r>
          </a:p>
        </p:txBody>
      </p:sp>
      <p:sp>
        <p:nvSpPr>
          <p:cNvPr id="14" name="TextBox 13"/>
          <p:cNvSpPr txBox="1"/>
          <p:nvPr/>
        </p:nvSpPr>
        <p:spPr>
          <a:xfrm>
            <a:off x="2743200" y="3017519"/>
            <a:ext cx="8686800" cy="320040"/>
          </a:xfrm>
          <a:prstGeom prst="rect">
            <a:avLst/>
          </a:prstGeom>
          <a:noFill/>
        </p:spPr>
        <p:txBody>
          <a:bodyPr wrap="square"/>
          <a:lstStyle/>
          <a:p>
            <a:pPr algn="l">
              <a:defRPr sz="1400" b="1">
                <a:solidFill>
                  <a:srgbClr val="FFFFFF"/>
                </a:solidFill>
                <a:latin typeface="Calibri"/>
              </a:defRPr>
            </a:pPr>
            <a:r>
              <a:t>FastAPI (Python) + Supabase Auth</a:t>
            </a:r>
          </a:p>
        </p:txBody>
      </p:sp>
      <p:sp>
        <p:nvSpPr>
          <p:cNvPr id="15" name="TextBox 14"/>
          <p:cNvSpPr txBox="1"/>
          <p:nvPr/>
        </p:nvSpPr>
        <p:spPr>
          <a:xfrm>
            <a:off x="2743200" y="3383279"/>
            <a:ext cx="8686800" cy="411480"/>
          </a:xfrm>
          <a:prstGeom prst="rect">
            <a:avLst/>
          </a:prstGeom>
          <a:noFill/>
        </p:spPr>
        <p:txBody>
          <a:bodyPr wrap="square"/>
          <a:lstStyle/>
          <a:p>
            <a:pPr algn="l">
              <a:defRPr sz="1200" b="0">
                <a:solidFill>
                  <a:srgbClr val="AAAAAA"/>
                </a:solidFill>
                <a:latin typeface="Calibri"/>
              </a:defRPr>
            </a:pPr>
            <a:r>
              <a:t>REST API, JWT auth, Pipeline orchestration, WebSocket progress updates</a:t>
            </a:r>
          </a:p>
        </p:txBody>
      </p:sp>
      <p:sp>
        <p:nvSpPr>
          <p:cNvPr id="16" name="Rounded Rectangle 15"/>
          <p:cNvSpPr/>
          <p:nvPr/>
        </p:nvSpPr>
        <p:spPr>
          <a:xfrm>
            <a:off x="548640" y="3986783"/>
            <a:ext cx="11064240" cy="960120"/>
          </a:xfrm>
          <a:prstGeom prst="roundRect">
            <a:avLst>
              <a:gd name="adj" fmla="val 5000"/>
            </a:avLst>
          </a:prstGeom>
          <a:solidFill>
            <a:srgbClr val="111111"/>
          </a:solidFill>
          <a:ln w="19050">
            <a:solidFill>
              <a:srgbClr val="FFA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4123943"/>
            <a:ext cx="1645920" cy="292608"/>
          </a:xfrm>
          <a:prstGeom prst="roundRect">
            <a:avLst>
              <a:gd name="adj" fmla="val 50000"/>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123943"/>
            <a:ext cx="1645920" cy="292608"/>
          </a:xfrm>
          <a:prstGeom prst="rect">
            <a:avLst/>
          </a:prstGeom>
          <a:noFill/>
        </p:spPr>
        <p:txBody>
          <a:bodyPr wrap="square"/>
          <a:lstStyle/>
          <a:p>
            <a:pPr algn="ctr">
              <a:defRPr sz="1200" b="1">
                <a:solidFill>
                  <a:srgbClr val="000000"/>
                </a:solidFill>
                <a:latin typeface="Calibri"/>
              </a:defRPr>
            </a:pPr>
            <a:r>
              <a:t>Intelligence</a:t>
            </a:r>
          </a:p>
        </p:txBody>
      </p:sp>
      <p:sp>
        <p:nvSpPr>
          <p:cNvPr id="19" name="TextBox 18"/>
          <p:cNvSpPr txBox="1"/>
          <p:nvPr/>
        </p:nvSpPr>
        <p:spPr>
          <a:xfrm>
            <a:off x="2743200" y="4096511"/>
            <a:ext cx="8686800" cy="320040"/>
          </a:xfrm>
          <a:prstGeom prst="rect">
            <a:avLst/>
          </a:prstGeom>
          <a:noFill/>
        </p:spPr>
        <p:txBody>
          <a:bodyPr wrap="square"/>
          <a:lstStyle/>
          <a:p>
            <a:pPr algn="l">
              <a:defRPr sz="1400" b="1">
                <a:solidFill>
                  <a:srgbClr val="FFFFFF"/>
                </a:solidFill>
                <a:latin typeface="Calibri"/>
              </a:defRPr>
            </a:pPr>
            <a:r>
              <a:t>LLM via OpenRouter + Pinecone + Semgrep + ZAP</a:t>
            </a:r>
          </a:p>
        </p:txBody>
      </p:sp>
      <p:sp>
        <p:nvSpPr>
          <p:cNvPr id="20" name="TextBox 19"/>
          <p:cNvSpPr txBox="1"/>
          <p:nvPr/>
        </p:nvSpPr>
        <p:spPr>
          <a:xfrm>
            <a:off x="2743200" y="4462271"/>
            <a:ext cx="8686800" cy="411480"/>
          </a:xfrm>
          <a:prstGeom prst="rect">
            <a:avLst/>
          </a:prstGeom>
          <a:noFill/>
        </p:spPr>
        <p:txBody>
          <a:bodyPr wrap="square"/>
          <a:lstStyle/>
          <a:p>
            <a:pPr algn="l">
              <a:defRPr sz="1200" b="0">
                <a:solidFill>
                  <a:srgbClr val="AAAAAA"/>
                </a:solidFill>
                <a:latin typeface="Calibri"/>
              </a:defRPr>
            </a:pPr>
            <a:r>
              <a:t>AI triage, Vector search, SAST scanning, Targeted DAST, Context extraction</a:t>
            </a:r>
          </a:p>
        </p:txBody>
      </p:sp>
      <p:sp>
        <p:nvSpPr>
          <p:cNvPr id="21" name="Rounded Rectangle 20"/>
          <p:cNvSpPr/>
          <p:nvPr/>
        </p:nvSpPr>
        <p:spPr>
          <a:xfrm>
            <a:off x="548640" y="5065776"/>
            <a:ext cx="11064240" cy="960120"/>
          </a:xfrm>
          <a:prstGeom prst="roundRect">
            <a:avLst>
              <a:gd name="adj" fmla="val 5000"/>
            </a:avLst>
          </a:prstGeom>
          <a:solidFill>
            <a:srgbClr val="111111"/>
          </a:solidFill>
          <a:ln w="19050">
            <a:solidFill>
              <a:srgbClr val="AA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5202936"/>
            <a:ext cx="1645920" cy="292608"/>
          </a:xfrm>
          <a:prstGeom prst="roundRect">
            <a:avLst>
              <a:gd name="adj" fmla="val 50000"/>
            </a:avLst>
          </a:prstGeom>
          <a:solidFill>
            <a:srgbClr val="AA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02936"/>
            <a:ext cx="1645920" cy="292608"/>
          </a:xfrm>
          <a:prstGeom prst="rect">
            <a:avLst/>
          </a:prstGeom>
          <a:noFill/>
        </p:spPr>
        <p:txBody>
          <a:bodyPr wrap="square"/>
          <a:lstStyle/>
          <a:p>
            <a:pPr algn="ctr">
              <a:defRPr sz="1200" b="1">
                <a:solidFill>
                  <a:srgbClr val="000000"/>
                </a:solidFill>
                <a:latin typeface="Calibri"/>
              </a:defRPr>
            </a:pPr>
            <a:r>
              <a:t>Infrastructure</a:t>
            </a:r>
          </a:p>
        </p:txBody>
      </p:sp>
      <p:sp>
        <p:nvSpPr>
          <p:cNvPr id="24" name="TextBox 23"/>
          <p:cNvSpPr txBox="1"/>
          <p:nvPr/>
        </p:nvSpPr>
        <p:spPr>
          <a:xfrm>
            <a:off x="2743200" y="5175504"/>
            <a:ext cx="8686800" cy="320040"/>
          </a:xfrm>
          <a:prstGeom prst="rect">
            <a:avLst/>
          </a:prstGeom>
          <a:noFill/>
        </p:spPr>
        <p:txBody>
          <a:bodyPr wrap="square"/>
          <a:lstStyle/>
          <a:p>
            <a:pPr algn="l">
              <a:defRPr sz="1400" b="1">
                <a:solidFill>
                  <a:srgbClr val="FFFFFF"/>
                </a:solidFill>
                <a:latin typeface="Calibri"/>
              </a:defRPr>
            </a:pPr>
            <a:r>
              <a:t>Docker Compose + Supabase (PostgreSQL) + GitHub API</a:t>
            </a:r>
          </a:p>
        </p:txBody>
      </p:sp>
      <p:sp>
        <p:nvSpPr>
          <p:cNvPr id="25" name="TextBox 24"/>
          <p:cNvSpPr txBox="1"/>
          <p:nvPr/>
        </p:nvSpPr>
        <p:spPr>
          <a:xfrm>
            <a:off x="2743200" y="5541264"/>
            <a:ext cx="8686800" cy="411480"/>
          </a:xfrm>
          <a:prstGeom prst="rect">
            <a:avLst/>
          </a:prstGeom>
          <a:noFill/>
        </p:spPr>
        <p:txBody>
          <a:bodyPr wrap="square"/>
          <a:lstStyle/>
          <a:p>
            <a:pPr algn="l">
              <a:defRPr sz="1200" b="0">
                <a:solidFill>
                  <a:srgbClr val="AAAAAA"/>
                </a:solidFill>
                <a:latin typeface="Calibri"/>
              </a:defRPr>
            </a:pPr>
            <a:r>
              <a:t>Containerized deployment, Real-time subscriptions, Git integration</a:t>
            </a:r>
          </a:p>
        </p:txBody>
      </p:sp>
      <p:sp>
        <p:nvSpPr>
          <p:cNvPr id="26" name="Rounded Rectangle 25"/>
          <p:cNvSpPr/>
          <p:nvPr/>
        </p:nvSpPr>
        <p:spPr>
          <a:xfrm>
            <a:off x="54864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217920"/>
            <a:ext cx="1737360" cy="292608"/>
          </a:xfrm>
          <a:prstGeom prst="rect">
            <a:avLst/>
          </a:prstGeom>
          <a:noFill/>
        </p:spPr>
        <p:txBody>
          <a:bodyPr wrap="square"/>
          <a:lstStyle/>
          <a:p>
            <a:pPr algn="ctr">
              <a:defRPr sz="1000" b="1">
                <a:solidFill>
                  <a:srgbClr val="00E676"/>
                </a:solidFill>
                <a:latin typeface="Calibri"/>
              </a:defRPr>
            </a:pPr>
            <a:r>
              <a:t>Docker Containerized</a:t>
            </a:r>
          </a:p>
        </p:txBody>
      </p:sp>
      <p:sp>
        <p:nvSpPr>
          <p:cNvPr id="28" name="Rounded Rectangle 27"/>
          <p:cNvSpPr/>
          <p:nvPr/>
        </p:nvSpPr>
        <p:spPr>
          <a:xfrm>
            <a:off x="246888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68880" y="6217920"/>
            <a:ext cx="1737360" cy="292608"/>
          </a:xfrm>
          <a:prstGeom prst="rect">
            <a:avLst/>
          </a:prstGeom>
          <a:noFill/>
        </p:spPr>
        <p:txBody>
          <a:bodyPr wrap="square"/>
          <a:lstStyle/>
          <a:p>
            <a:pPr algn="ctr">
              <a:defRPr sz="1000" b="1">
                <a:solidFill>
                  <a:srgbClr val="00E676"/>
                </a:solidFill>
                <a:latin typeface="Calibri"/>
              </a:defRPr>
            </a:pPr>
            <a:r>
              <a:t>Supabase Auth</a:t>
            </a:r>
          </a:p>
        </p:txBody>
      </p:sp>
      <p:sp>
        <p:nvSpPr>
          <p:cNvPr id="30" name="Rounded Rectangle 29"/>
          <p:cNvSpPr/>
          <p:nvPr/>
        </p:nvSpPr>
        <p:spPr>
          <a:xfrm>
            <a:off x="438912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0" y="6217920"/>
            <a:ext cx="1737360" cy="292608"/>
          </a:xfrm>
          <a:prstGeom prst="rect">
            <a:avLst/>
          </a:prstGeom>
          <a:noFill/>
        </p:spPr>
        <p:txBody>
          <a:bodyPr wrap="square"/>
          <a:lstStyle/>
          <a:p>
            <a:pPr algn="ctr">
              <a:defRPr sz="1000" b="1">
                <a:solidFill>
                  <a:srgbClr val="00E676"/>
                </a:solidFill>
                <a:latin typeface="Calibri"/>
              </a:defRPr>
            </a:pPr>
            <a:r>
              <a:t>Real-time Updates</a:t>
            </a:r>
          </a:p>
        </p:txBody>
      </p:sp>
      <p:sp>
        <p:nvSpPr>
          <p:cNvPr id="32" name="Rounded Rectangle 31"/>
          <p:cNvSpPr/>
          <p:nvPr/>
        </p:nvSpPr>
        <p:spPr>
          <a:xfrm>
            <a:off x="630936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6217920"/>
            <a:ext cx="1737360" cy="292608"/>
          </a:xfrm>
          <a:prstGeom prst="rect">
            <a:avLst/>
          </a:prstGeom>
          <a:noFill/>
        </p:spPr>
        <p:txBody>
          <a:bodyPr wrap="square"/>
          <a:lstStyle/>
          <a:p>
            <a:pPr algn="ctr">
              <a:defRPr sz="1000" b="1">
                <a:solidFill>
                  <a:srgbClr val="00E676"/>
                </a:solidFill>
                <a:latin typeface="Calibri"/>
              </a:defRPr>
            </a:pPr>
            <a:r>
              <a:t>Multi-language</a:t>
            </a:r>
          </a:p>
        </p:txBody>
      </p:sp>
      <p:sp>
        <p:nvSpPr>
          <p:cNvPr id="34" name="Rounded Rectangle 33"/>
          <p:cNvSpPr/>
          <p:nvPr/>
        </p:nvSpPr>
        <p:spPr>
          <a:xfrm>
            <a:off x="822960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6217920"/>
            <a:ext cx="1737360" cy="292608"/>
          </a:xfrm>
          <a:prstGeom prst="rect">
            <a:avLst/>
          </a:prstGeom>
          <a:noFill/>
        </p:spPr>
        <p:txBody>
          <a:bodyPr wrap="square"/>
          <a:lstStyle/>
          <a:p>
            <a:pPr algn="ctr">
              <a:defRPr sz="1000" b="1">
                <a:solidFill>
                  <a:srgbClr val="00E676"/>
                </a:solidFill>
                <a:latin typeface="Calibri"/>
              </a:defRPr>
            </a:pPr>
            <a:r>
              <a:t>LLM-Agnostic</a:t>
            </a:r>
          </a:p>
        </p:txBody>
      </p:sp>
      <p:sp>
        <p:nvSpPr>
          <p:cNvPr id="36" name="Rounded Rectangle 35"/>
          <p:cNvSpPr/>
          <p:nvPr/>
        </p:nvSpPr>
        <p:spPr>
          <a:xfrm>
            <a:off x="10149840" y="6217920"/>
            <a:ext cx="1737360"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40" y="6217920"/>
            <a:ext cx="1737360" cy="292608"/>
          </a:xfrm>
          <a:prstGeom prst="rect">
            <a:avLst/>
          </a:prstGeom>
          <a:noFill/>
        </p:spPr>
        <p:txBody>
          <a:bodyPr wrap="square"/>
          <a:lstStyle/>
          <a:p>
            <a:pPr algn="ctr">
              <a:defRPr sz="1000" b="1">
                <a:solidFill>
                  <a:srgbClr val="00E676"/>
                </a:solidFill>
                <a:latin typeface="Calibri"/>
              </a:defRPr>
            </a:pPr>
            <a:r>
              <a:t>SARIF Export</a:t>
            </a:r>
          </a:p>
        </p:txBody>
      </p:sp>
      <p:sp>
        <p:nvSpPr>
          <p:cNvPr id="38" name="Rectangle 37"/>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40" name="TextBox 39"/>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2011679"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2011679" cy="292608"/>
          </a:xfrm>
          <a:prstGeom prst="rect">
            <a:avLst/>
          </a:prstGeom>
          <a:noFill/>
        </p:spPr>
        <p:txBody>
          <a:bodyPr wrap="square"/>
          <a:lstStyle/>
          <a:p>
            <a:pPr algn="ctr">
              <a:defRPr sz="1000" b="1">
                <a:solidFill>
                  <a:srgbClr val="00E676"/>
                </a:solidFill>
                <a:latin typeface="Calibri"/>
              </a:defRPr>
            </a:pPr>
            <a:r>
              <a:t>TRACK ALIGNMENT</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Track Alignment</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BugBunny maps to Track 1 (AI Applications) and Track 4 (Security)</a:t>
            </a:r>
          </a:p>
        </p:txBody>
      </p:sp>
      <p:sp>
        <p:nvSpPr>
          <p:cNvPr id="6" name="Rounded Rectangle 5"/>
          <p:cNvSpPr/>
          <p:nvPr/>
        </p:nvSpPr>
        <p:spPr>
          <a:xfrm>
            <a:off x="548640" y="1920240"/>
            <a:ext cx="5303520" cy="402336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57400"/>
            <a:ext cx="3200400" cy="347472"/>
          </a:xfrm>
          <a:prstGeom prst="roundRect">
            <a:avLst>
              <a:gd name="adj" fmla="val 50000"/>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57400"/>
            <a:ext cx="3200400" cy="347472"/>
          </a:xfrm>
          <a:prstGeom prst="rect">
            <a:avLst/>
          </a:prstGeom>
          <a:noFill/>
        </p:spPr>
        <p:txBody>
          <a:bodyPr wrap="square"/>
          <a:lstStyle/>
          <a:p>
            <a:pPr algn="ctr">
              <a:defRPr sz="1400" b="1">
                <a:solidFill>
                  <a:srgbClr val="000000"/>
                </a:solidFill>
                <a:latin typeface="Calibri"/>
              </a:defRPr>
            </a:pPr>
            <a:r>
              <a:t>Track 1: AI Applications (70%)</a:t>
            </a:r>
          </a:p>
        </p:txBody>
      </p:sp>
      <p:sp>
        <p:nvSpPr>
          <p:cNvPr id="9" name="TextBox 8"/>
          <p:cNvSpPr txBox="1"/>
          <p:nvPr/>
        </p:nvSpPr>
        <p:spPr>
          <a:xfrm>
            <a:off x="914400" y="2606040"/>
            <a:ext cx="365760" cy="320040"/>
          </a:xfrm>
          <a:prstGeom prst="rect">
            <a:avLst/>
          </a:prstGeom>
          <a:noFill/>
        </p:spPr>
        <p:txBody>
          <a:bodyPr wrap="square"/>
          <a:lstStyle/>
          <a:p>
            <a:pPr algn="l">
              <a:defRPr sz="1400" b="0">
                <a:solidFill>
                  <a:srgbClr val="00E676"/>
                </a:solidFill>
                <a:latin typeface="Calibri"/>
              </a:defRPr>
            </a:pPr>
            <a:r>
              <a:t>✅</a:t>
            </a:r>
          </a:p>
        </p:txBody>
      </p:sp>
      <p:sp>
        <p:nvSpPr>
          <p:cNvPr id="10" name="TextBox 9"/>
          <p:cNvSpPr txBox="1"/>
          <p:nvPr/>
        </p:nvSpPr>
        <p:spPr>
          <a:xfrm>
            <a:off x="1280160" y="2606040"/>
            <a:ext cx="4389120" cy="320040"/>
          </a:xfrm>
          <a:prstGeom prst="rect">
            <a:avLst/>
          </a:prstGeom>
          <a:noFill/>
        </p:spPr>
        <p:txBody>
          <a:bodyPr wrap="square"/>
          <a:lstStyle/>
          <a:p>
            <a:pPr algn="l">
              <a:defRPr sz="1300" b="0">
                <a:solidFill>
                  <a:srgbClr val="FFFFFF"/>
                </a:solidFill>
                <a:latin typeface="Calibri"/>
              </a:defRPr>
            </a:pPr>
            <a:r>
              <a:t>AI-powered vulnerability triage via LLM</a:t>
            </a:r>
          </a:p>
        </p:txBody>
      </p:sp>
      <p:sp>
        <p:nvSpPr>
          <p:cNvPr id="11" name="TextBox 10"/>
          <p:cNvSpPr txBox="1"/>
          <p:nvPr/>
        </p:nvSpPr>
        <p:spPr>
          <a:xfrm>
            <a:off x="914400" y="3044952"/>
            <a:ext cx="365760" cy="320040"/>
          </a:xfrm>
          <a:prstGeom prst="rect">
            <a:avLst/>
          </a:prstGeom>
          <a:noFill/>
        </p:spPr>
        <p:txBody>
          <a:bodyPr wrap="square"/>
          <a:lstStyle/>
          <a:p>
            <a:pPr algn="l">
              <a:defRPr sz="1400" b="0">
                <a:solidFill>
                  <a:srgbClr val="00E676"/>
                </a:solidFill>
                <a:latin typeface="Calibri"/>
              </a:defRPr>
            </a:pPr>
            <a:r>
              <a:t>✅</a:t>
            </a:r>
          </a:p>
        </p:txBody>
      </p:sp>
      <p:sp>
        <p:nvSpPr>
          <p:cNvPr id="12" name="TextBox 11"/>
          <p:cNvSpPr txBox="1"/>
          <p:nvPr/>
        </p:nvSpPr>
        <p:spPr>
          <a:xfrm>
            <a:off x="1280160" y="3044952"/>
            <a:ext cx="4389120" cy="320040"/>
          </a:xfrm>
          <a:prstGeom prst="rect">
            <a:avLst/>
          </a:prstGeom>
          <a:noFill/>
        </p:spPr>
        <p:txBody>
          <a:bodyPr wrap="square"/>
          <a:lstStyle/>
          <a:p>
            <a:pPr algn="l">
              <a:defRPr sz="1300" b="0">
                <a:solidFill>
                  <a:srgbClr val="FFFFFF"/>
                </a:solidFill>
                <a:latin typeface="Calibri"/>
              </a:defRPr>
            </a:pPr>
            <a:r>
              <a:t>Context-aware analysis with AST + data flow</a:t>
            </a:r>
          </a:p>
        </p:txBody>
      </p:sp>
      <p:sp>
        <p:nvSpPr>
          <p:cNvPr id="13" name="TextBox 12"/>
          <p:cNvSpPr txBox="1"/>
          <p:nvPr/>
        </p:nvSpPr>
        <p:spPr>
          <a:xfrm>
            <a:off x="914400" y="3483864"/>
            <a:ext cx="365760" cy="320040"/>
          </a:xfrm>
          <a:prstGeom prst="rect">
            <a:avLst/>
          </a:prstGeom>
          <a:noFill/>
        </p:spPr>
        <p:txBody>
          <a:bodyPr wrap="square"/>
          <a:lstStyle/>
          <a:p>
            <a:pPr algn="l">
              <a:defRPr sz="1400" b="0">
                <a:solidFill>
                  <a:srgbClr val="00E676"/>
                </a:solidFill>
                <a:latin typeface="Calibri"/>
              </a:defRPr>
            </a:pPr>
            <a:r>
              <a:t>✅</a:t>
            </a:r>
          </a:p>
        </p:txBody>
      </p:sp>
      <p:sp>
        <p:nvSpPr>
          <p:cNvPr id="14" name="TextBox 13"/>
          <p:cNvSpPr txBox="1"/>
          <p:nvPr/>
        </p:nvSpPr>
        <p:spPr>
          <a:xfrm>
            <a:off x="1280160" y="3483864"/>
            <a:ext cx="4389120" cy="320040"/>
          </a:xfrm>
          <a:prstGeom prst="rect">
            <a:avLst/>
          </a:prstGeom>
          <a:noFill/>
        </p:spPr>
        <p:txBody>
          <a:bodyPr wrap="square"/>
          <a:lstStyle/>
          <a:p>
            <a:pPr algn="l">
              <a:defRPr sz="1300" b="0">
                <a:solidFill>
                  <a:srgbClr val="FFFFFF"/>
                </a:solidFill>
                <a:latin typeface="Calibri"/>
              </a:defRPr>
            </a:pPr>
            <a:r>
              <a:t>AI-generated fix suggestions (AutoFix)</a:t>
            </a:r>
          </a:p>
        </p:txBody>
      </p:sp>
      <p:sp>
        <p:nvSpPr>
          <p:cNvPr id="15" name="TextBox 14"/>
          <p:cNvSpPr txBox="1"/>
          <p:nvPr/>
        </p:nvSpPr>
        <p:spPr>
          <a:xfrm>
            <a:off x="914400" y="3922776"/>
            <a:ext cx="365760" cy="320040"/>
          </a:xfrm>
          <a:prstGeom prst="rect">
            <a:avLst/>
          </a:prstGeom>
          <a:noFill/>
        </p:spPr>
        <p:txBody>
          <a:bodyPr wrap="square"/>
          <a:lstStyle/>
          <a:p>
            <a:pPr algn="l">
              <a:defRPr sz="1400" b="0">
                <a:solidFill>
                  <a:srgbClr val="00E676"/>
                </a:solidFill>
                <a:latin typeface="Calibri"/>
              </a:defRPr>
            </a:pPr>
            <a:r>
              <a:t>✅</a:t>
            </a:r>
          </a:p>
        </p:txBody>
      </p:sp>
      <p:sp>
        <p:nvSpPr>
          <p:cNvPr id="16" name="TextBox 15"/>
          <p:cNvSpPr txBox="1"/>
          <p:nvPr/>
        </p:nvSpPr>
        <p:spPr>
          <a:xfrm>
            <a:off x="1280160" y="3922776"/>
            <a:ext cx="4389120" cy="320040"/>
          </a:xfrm>
          <a:prstGeom prst="rect">
            <a:avLst/>
          </a:prstGeom>
          <a:noFill/>
        </p:spPr>
        <p:txBody>
          <a:bodyPr wrap="square"/>
          <a:lstStyle/>
          <a:p>
            <a:pPr algn="l">
              <a:defRPr sz="1300" b="0">
                <a:solidFill>
                  <a:srgbClr val="FFFFFF"/>
                </a:solidFill>
                <a:latin typeface="Calibri"/>
              </a:defRPr>
            </a:pPr>
            <a:r>
              <a:t>Semantic search via Pinecone embeddings</a:t>
            </a:r>
          </a:p>
        </p:txBody>
      </p:sp>
      <p:sp>
        <p:nvSpPr>
          <p:cNvPr id="17" name="TextBox 16"/>
          <p:cNvSpPr txBox="1"/>
          <p:nvPr/>
        </p:nvSpPr>
        <p:spPr>
          <a:xfrm>
            <a:off x="914400" y="4361688"/>
            <a:ext cx="365760" cy="320040"/>
          </a:xfrm>
          <a:prstGeom prst="rect">
            <a:avLst/>
          </a:prstGeom>
          <a:noFill/>
        </p:spPr>
        <p:txBody>
          <a:bodyPr wrap="square"/>
          <a:lstStyle/>
          <a:p>
            <a:pPr algn="l">
              <a:defRPr sz="1400" b="0">
                <a:solidFill>
                  <a:srgbClr val="00E676"/>
                </a:solidFill>
                <a:latin typeface="Calibri"/>
              </a:defRPr>
            </a:pPr>
            <a:r>
              <a:t>✅</a:t>
            </a:r>
          </a:p>
        </p:txBody>
      </p:sp>
      <p:sp>
        <p:nvSpPr>
          <p:cNvPr id="18" name="TextBox 17"/>
          <p:cNvSpPr txBox="1"/>
          <p:nvPr/>
        </p:nvSpPr>
        <p:spPr>
          <a:xfrm>
            <a:off x="1280160" y="4361688"/>
            <a:ext cx="4389120" cy="320040"/>
          </a:xfrm>
          <a:prstGeom prst="rect">
            <a:avLst/>
          </a:prstGeom>
          <a:noFill/>
        </p:spPr>
        <p:txBody>
          <a:bodyPr wrap="square"/>
          <a:lstStyle/>
          <a:p>
            <a:pPr algn="l">
              <a:defRPr sz="1300" b="0">
                <a:solidFill>
                  <a:srgbClr val="FFFFFF"/>
                </a:solidFill>
                <a:latin typeface="Calibri"/>
              </a:defRPr>
            </a:pPr>
            <a:r>
              <a:t>Structured AI output (JSON reasoning)</a:t>
            </a:r>
          </a:p>
        </p:txBody>
      </p:sp>
      <p:sp>
        <p:nvSpPr>
          <p:cNvPr id="19" name="TextBox 18"/>
          <p:cNvSpPr txBox="1"/>
          <p:nvPr/>
        </p:nvSpPr>
        <p:spPr>
          <a:xfrm>
            <a:off x="914400" y="4800600"/>
            <a:ext cx="365760" cy="320040"/>
          </a:xfrm>
          <a:prstGeom prst="rect">
            <a:avLst/>
          </a:prstGeom>
          <a:noFill/>
        </p:spPr>
        <p:txBody>
          <a:bodyPr wrap="square"/>
          <a:lstStyle/>
          <a:p>
            <a:pPr algn="l">
              <a:defRPr sz="1400" b="0">
                <a:solidFill>
                  <a:srgbClr val="00E676"/>
                </a:solidFill>
                <a:latin typeface="Calibri"/>
              </a:defRPr>
            </a:pPr>
            <a:r>
              <a:t>✅</a:t>
            </a:r>
          </a:p>
        </p:txBody>
      </p:sp>
      <p:sp>
        <p:nvSpPr>
          <p:cNvPr id="20" name="TextBox 19"/>
          <p:cNvSpPr txBox="1"/>
          <p:nvPr/>
        </p:nvSpPr>
        <p:spPr>
          <a:xfrm>
            <a:off x="1280160" y="4800600"/>
            <a:ext cx="4389120" cy="320040"/>
          </a:xfrm>
          <a:prstGeom prst="rect">
            <a:avLst/>
          </a:prstGeom>
          <a:noFill/>
        </p:spPr>
        <p:txBody>
          <a:bodyPr wrap="square"/>
          <a:lstStyle/>
          <a:p>
            <a:pPr algn="l">
              <a:defRPr sz="1300" b="0">
                <a:solidFill>
                  <a:srgbClr val="FFFFFF"/>
                </a:solidFill>
                <a:latin typeface="Calibri"/>
              </a:defRPr>
            </a:pPr>
            <a:r>
              <a:t>Progressive learning from project history</a:t>
            </a:r>
          </a:p>
        </p:txBody>
      </p:sp>
      <p:sp>
        <p:nvSpPr>
          <p:cNvPr id="21" name="TextBox 20"/>
          <p:cNvSpPr txBox="1"/>
          <p:nvPr/>
        </p:nvSpPr>
        <p:spPr>
          <a:xfrm>
            <a:off x="914400" y="5239512"/>
            <a:ext cx="365760" cy="320040"/>
          </a:xfrm>
          <a:prstGeom prst="rect">
            <a:avLst/>
          </a:prstGeom>
          <a:noFill/>
        </p:spPr>
        <p:txBody>
          <a:bodyPr wrap="square"/>
          <a:lstStyle/>
          <a:p>
            <a:pPr algn="l">
              <a:defRPr sz="1400" b="0">
                <a:solidFill>
                  <a:srgbClr val="00E676"/>
                </a:solidFill>
                <a:latin typeface="Calibri"/>
              </a:defRPr>
            </a:pPr>
            <a:r>
              <a:t>✅</a:t>
            </a:r>
          </a:p>
        </p:txBody>
      </p:sp>
      <p:sp>
        <p:nvSpPr>
          <p:cNvPr id="22" name="TextBox 21"/>
          <p:cNvSpPr txBox="1"/>
          <p:nvPr/>
        </p:nvSpPr>
        <p:spPr>
          <a:xfrm>
            <a:off x="1280160" y="5239512"/>
            <a:ext cx="4389120" cy="320040"/>
          </a:xfrm>
          <a:prstGeom prst="rect">
            <a:avLst/>
          </a:prstGeom>
          <a:noFill/>
        </p:spPr>
        <p:txBody>
          <a:bodyPr wrap="square"/>
          <a:lstStyle/>
          <a:p>
            <a:pPr algn="l">
              <a:defRPr sz="1300" b="0">
                <a:solidFill>
                  <a:srgbClr val="FFFFFF"/>
                </a:solidFill>
                <a:latin typeface="Calibri"/>
              </a:defRPr>
            </a:pPr>
            <a:r>
              <a:t>LLM-agnostic architecture (OpenRouter)</a:t>
            </a:r>
          </a:p>
        </p:txBody>
      </p:sp>
      <p:sp>
        <p:nvSpPr>
          <p:cNvPr id="23" name="Rounded Rectangle 22"/>
          <p:cNvSpPr/>
          <p:nvPr/>
        </p:nvSpPr>
        <p:spPr>
          <a:xfrm>
            <a:off x="6126480" y="1920240"/>
            <a:ext cx="5577840" cy="402336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2057400"/>
            <a:ext cx="3200400" cy="347472"/>
          </a:xfrm>
          <a:prstGeom prst="roundRect">
            <a:avLst>
              <a:gd name="adj" fmla="val 50000"/>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057400"/>
            <a:ext cx="3200400" cy="347472"/>
          </a:xfrm>
          <a:prstGeom prst="rect">
            <a:avLst/>
          </a:prstGeom>
          <a:noFill/>
        </p:spPr>
        <p:txBody>
          <a:bodyPr wrap="square"/>
          <a:lstStyle/>
          <a:p>
            <a:pPr algn="ctr">
              <a:defRPr sz="1400" b="1">
                <a:solidFill>
                  <a:srgbClr val="000000"/>
                </a:solidFill>
                <a:latin typeface="Calibri"/>
              </a:defRPr>
            </a:pPr>
            <a:r>
              <a:t>Track 4: Security (30%)</a:t>
            </a:r>
          </a:p>
        </p:txBody>
      </p:sp>
      <p:sp>
        <p:nvSpPr>
          <p:cNvPr id="26" name="TextBox 25"/>
          <p:cNvSpPr txBox="1"/>
          <p:nvPr/>
        </p:nvSpPr>
        <p:spPr>
          <a:xfrm>
            <a:off x="6492240" y="2606040"/>
            <a:ext cx="365760" cy="320040"/>
          </a:xfrm>
          <a:prstGeom prst="rect">
            <a:avLst/>
          </a:prstGeom>
          <a:noFill/>
        </p:spPr>
        <p:txBody>
          <a:bodyPr wrap="square"/>
          <a:lstStyle/>
          <a:p>
            <a:pPr algn="l">
              <a:defRPr sz="1400" b="0">
                <a:solidFill>
                  <a:srgbClr val="00E676"/>
                </a:solidFill>
                <a:latin typeface="Calibri"/>
              </a:defRPr>
            </a:pPr>
            <a:r>
              <a:t>✅</a:t>
            </a:r>
          </a:p>
        </p:txBody>
      </p:sp>
      <p:sp>
        <p:nvSpPr>
          <p:cNvPr id="27" name="TextBox 26"/>
          <p:cNvSpPr txBox="1"/>
          <p:nvPr/>
        </p:nvSpPr>
        <p:spPr>
          <a:xfrm>
            <a:off x="6858000" y="2606040"/>
            <a:ext cx="4663440" cy="320040"/>
          </a:xfrm>
          <a:prstGeom prst="rect">
            <a:avLst/>
          </a:prstGeom>
          <a:noFill/>
        </p:spPr>
        <p:txBody>
          <a:bodyPr wrap="square"/>
          <a:lstStyle/>
          <a:p>
            <a:pPr algn="l">
              <a:defRPr sz="1300" b="0">
                <a:solidFill>
                  <a:srgbClr val="FFFFFF"/>
                </a:solidFill>
                <a:latin typeface="Calibri"/>
              </a:defRPr>
            </a:pPr>
            <a:r>
              <a:t>SAST scanning (Semgrep, 3000+ rules)</a:t>
            </a:r>
          </a:p>
        </p:txBody>
      </p:sp>
      <p:sp>
        <p:nvSpPr>
          <p:cNvPr id="28" name="TextBox 27"/>
          <p:cNvSpPr txBox="1"/>
          <p:nvPr/>
        </p:nvSpPr>
        <p:spPr>
          <a:xfrm>
            <a:off x="6492240" y="3044952"/>
            <a:ext cx="365760" cy="320040"/>
          </a:xfrm>
          <a:prstGeom prst="rect">
            <a:avLst/>
          </a:prstGeom>
          <a:noFill/>
        </p:spPr>
        <p:txBody>
          <a:bodyPr wrap="square"/>
          <a:lstStyle/>
          <a:p>
            <a:pPr algn="l">
              <a:defRPr sz="1400" b="0">
                <a:solidFill>
                  <a:srgbClr val="00E676"/>
                </a:solidFill>
                <a:latin typeface="Calibri"/>
              </a:defRPr>
            </a:pPr>
            <a:r>
              <a:t>✅</a:t>
            </a:r>
          </a:p>
        </p:txBody>
      </p:sp>
      <p:sp>
        <p:nvSpPr>
          <p:cNvPr id="29" name="TextBox 28"/>
          <p:cNvSpPr txBox="1"/>
          <p:nvPr/>
        </p:nvSpPr>
        <p:spPr>
          <a:xfrm>
            <a:off x="6858000" y="3044952"/>
            <a:ext cx="4663440" cy="320040"/>
          </a:xfrm>
          <a:prstGeom prst="rect">
            <a:avLst/>
          </a:prstGeom>
          <a:noFill/>
        </p:spPr>
        <p:txBody>
          <a:bodyPr wrap="square"/>
          <a:lstStyle/>
          <a:p>
            <a:pPr algn="l">
              <a:defRPr sz="1300" b="0">
                <a:solidFill>
                  <a:srgbClr val="FFFFFF"/>
                </a:solidFill>
                <a:latin typeface="Calibri"/>
              </a:defRPr>
            </a:pPr>
            <a:r>
              <a:t>Targeted DAST validation (ZAP)</a:t>
            </a:r>
          </a:p>
        </p:txBody>
      </p:sp>
      <p:sp>
        <p:nvSpPr>
          <p:cNvPr id="30" name="TextBox 29"/>
          <p:cNvSpPr txBox="1"/>
          <p:nvPr/>
        </p:nvSpPr>
        <p:spPr>
          <a:xfrm>
            <a:off x="6492240" y="3483864"/>
            <a:ext cx="365760" cy="320040"/>
          </a:xfrm>
          <a:prstGeom prst="rect">
            <a:avLst/>
          </a:prstGeom>
          <a:noFill/>
        </p:spPr>
        <p:txBody>
          <a:bodyPr wrap="square"/>
          <a:lstStyle/>
          <a:p>
            <a:pPr algn="l">
              <a:defRPr sz="1400" b="0">
                <a:solidFill>
                  <a:srgbClr val="00E676"/>
                </a:solidFill>
                <a:latin typeface="Calibri"/>
              </a:defRPr>
            </a:pPr>
            <a:r>
              <a:t>✅</a:t>
            </a:r>
          </a:p>
        </p:txBody>
      </p:sp>
      <p:sp>
        <p:nvSpPr>
          <p:cNvPr id="31" name="TextBox 30"/>
          <p:cNvSpPr txBox="1"/>
          <p:nvPr/>
        </p:nvSpPr>
        <p:spPr>
          <a:xfrm>
            <a:off x="6858000" y="3483864"/>
            <a:ext cx="4663440" cy="320040"/>
          </a:xfrm>
          <a:prstGeom prst="rect">
            <a:avLst/>
          </a:prstGeom>
          <a:noFill/>
        </p:spPr>
        <p:txBody>
          <a:bodyPr wrap="square"/>
          <a:lstStyle/>
          <a:p>
            <a:pPr algn="l">
              <a:defRPr sz="1300" b="0">
                <a:solidFill>
                  <a:srgbClr val="FFFFFF"/>
                </a:solidFill>
                <a:latin typeface="Calibri"/>
              </a:defRPr>
            </a:pPr>
            <a:r>
              <a:t>OWASP Top 10 coverage</a:t>
            </a:r>
          </a:p>
        </p:txBody>
      </p:sp>
      <p:sp>
        <p:nvSpPr>
          <p:cNvPr id="32" name="TextBox 31"/>
          <p:cNvSpPr txBox="1"/>
          <p:nvPr/>
        </p:nvSpPr>
        <p:spPr>
          <a:xfrm>
            <a:off x="6492240" y="3922776"/>
            <a:ext cx="365760" cy="320040"/>
          </a:xfrm>
          <a:prstGeom prst="rect">
            <a:avLst/>
          </a:prstGeom>
          <a:noFill/>
        </p:spPr>
        <p:txBody>
          <a:bodyPr wrap="square"/>
          <a:lstStyle/>
          <a:p>
            <a:pPr algn="l">
              <a:defRPr sz="1400" b="0">
                <a:solidFill>
                  <a:srgbClr val="00E676"/>
                </a:solidFill>
                <a:latin typeface="Calibri"/>
              </a:defRPr>
            </a:pPr>
            <a:r>
              <a:t>✅</a:t>
            </a:r>
          </a:p>
        </p:txBody>
      </p:sp>
      <p:sp>
        <p:nvSpPr>
          <p:cNvPr id="33" name="TextBox 32"/>
          <p:cNvSpPr txBox="1"/>
          <p:nvPr/>
        </p:nvSpPr>
        <p:spPr>
          <a:xfrm>
            <a:off x="6858000" y="3922776"/>
            <a:ext cx="4663440" cy="320040"/>
          </a:xfrm>
          <a:prstGeom prst="rect">
            <a:avLst/>
          </a:prstGeom>
          <a:noFill/>
        </p:spPr>
        <p:txBody>
          <a:bodyPr wrap="square"/>
          <a:lstStyle/>
          <a:p>
            <a:pPr algn="l">
              <a:defRPr sz="1300" b="0">
                <a:solidFill>
                  <a:srgbClr val="FFFFFF"/>
                </a:solidFill>
                <a:latin typeface="Calibri"/>
              </a:defRPr>
            </a:pPr>
            <a:r>
              <a:t>Compliance reporting (PDF/SARIF)</a:t>
            </a:r>
          </a:p>
        </p:txBody>
      </p:sp>
      <p:sp>
        <p:nvSpPr>
          <p:cNvPr id="34" name="TextBox 33"/>
          <p:cNvSpPr txBox="1"/>
          <p:nvPr/>
        </p:nvSpPr>
        <p:spPr>
          <a:xfrm>
            <a:off x="6492240" y="4361688"/>
            <a:ext cx="365760" cy="320040"/>
          </a:xfrm>
          <a:prstGeom prst="rect">
            <a:avLst/>
          </a:prstGeom>
          <a:noFill/>
        </p:spPr>
        <p:txBody>
          <a:bodyPr wrap="square"/>
          <a:lstStyle/>
          <a:p>
            <a:pPr algn="l">
              <a:defRPr sz="1400" b="0">
                <a:solidFill>
                  <a:srgbClr val="00E676"/>
                </a:solidFill>
                <a:latin typeface="Calibri"/>
              </a:defRPr>
            </a:pPr>
            <a:r>
              <a:t>✅</a:t>
            </a:r>
          </a:p>
        </p:txBody>
      </p:sp>
      <p:sp>
        <p:nvSpPr>
          <p:cNvPr id="35" name="TextBox 34"/>
          <p:cNvSpPr txBox="1"/>
          <p:nvPr/>
        </p:nvSpPr>
        <p:spPr>
          <a:xfrm>
            <a:off x="6858000" y="4361688"/>
            <a:ext cx="4663440" cy="320040"/>
          </a:xfrm>
          <a:prstGeom prst="rect">
            <a:avLst/>
          </a:prstGeom>
          <a:noFill/>
        </p:spPr>
        <p:txBody>
          <a:bodyPr wrap="square"/>
          <a:lstStyle/>
          <a:p>
            <a:pPr algn="l">
              <a:defRPr sz="1300" b="0">
                <a:solidFill>
                  <a:srgbClr val="FFFFFF"/>
                </a:solidFill>
                <a:latin typeface="Calibri"/>
              </a:defRPr>
            </a:pPr>
            <a:r>
              <a:t>Reachability analysis</a:t>
            </a:r>
          </a:p>
        </p:txBody>
      </p:sp>
      <p:sp>
        <p:nvSpPr>
          <p:cNvPr id="36" name="TextBox 35"/>
          <p:cNvSpPr txBox="1"/>
          <p:nvPr/>
        </p:nvSpPr>
        <p:spPr>
          <a:xfrm>
            <a:off x="6492240" y="4800600"/>
            <a:ext cx="365760" cy="320040"/>
          </a:xfrm>
          <a:prstGeom prst="rect">
            <a:avLst/>
          </a:prstGeom>
          <a:noFill/>
        </p:spPr>
        <p:txBody>
          <a:bodyPr wrap="square"/>
          <a:lstStyle/>
          <a:p>
            <a:pPr algn="l">
              <a:defRPr sz="1400" b="0">
                <a:solidFill>
                  <a:srgbClr val="00E676"/>
                </a:solidFill>
                <a:latin typeface="Calibri"/>
              </a:defRPr>
            </a:pPr>
            <a:r>
              <a:t>✅</a:t>
            </a:r>
          </a:p>
        </p:txBody>
      </p:sp>
      <p:sp>
        <p:nvSpPr>
          <p:cNvPr id="37" name="TextBox 36"/>
          <p:cNvSpPr txBox="1"/>
          <p:nvPr/>
        </p:nvSpPr>
        <p:spPr>
          <a:xfrm>
            <a:off x="6858000" y="4800600"/>
            <a:ext cx="4663440" cy="320040"/>
          </a:xfrm>
          <a:prstGeom prst="rect">
            <a:avLst/>
          </a:prstGeom>
          <a:noFill/>
        </p:spPr>
        <p:txBody>
          <a:bodyPr wrap="square"/>
          <a:lstStyle/>
          <a:p>
            <a:pPr algn="l">
              <a:defRPr sz="1300" b="0">
                <a:solidFill>
                  <a:srgbClr val="FFFFFF"/>
                </a:solidFill>
                <a:latin typeface="Calibri"/>
              </a:defRPr>
            </a:pPr>
            <a:r>
              <a:t>Secure containerized execution</a:t>
            </a:r>
          </a:p>
        </p:txBody>
      </p:sp>
      <p:sp>
        <p:nvSpPr>
          <p:cNvPr id="38" name="TextBox 37"/>
          <p:cNvSpPr txBox="1"/>
          <p:nvPr/>
        </p:nvSpPr>
        <p:spPr>
          <a:xfrm>
            <a:off x="6492240" y="5239512"/>
            <a:ext cx="365760" cy="320040"/>
          </a:xfrm>
          <a:prstGeom prst="rect">
            <a:avLst/>
          </a:prstGeom>
          <a:noFill/>
        </p:spPr>
        <p:txBody>
          <a:bodyPr wrap="square"/>
          <a:lstStyle/>
          <a:p>
            <a:pPr algn="l">
              <a:defRPr sz="1400" b="0">
                <a:solidFill>
                  <a:srgbClr val="00E676"/>
                </a:solidFill>
                <a:latin typeface="Calibri"/>
              </a:defRPr>
            </a:pPr>
            <a:r>
              <a:t>✅</a:t>
            </a:r>
          </a:p>
        </p:txBody>
      </p:sp>
      <p:sp>
        <p:nvSpPr>
          <p:cNvPr id="39" name="TextBox 38"/>
          <p:cNvSpPr txBox="1"/>
          <p:nvPr/>
        </p:nvSpPr>
        <p:spPr>
          <a:xfrm>
            <a:off x="6858000" y="5239512"/>
            <a:ext cx="4663440" cy="320040"/>
          </a:xfrm>
          <a:prstGeom prst="rect">
            <a:avLst/>
          </a:prstGeom>
          <a:noFill/>
        </p:spPr>
        <p:txBody>
          <a:bodyPr wrap="square"/>
          <a:lstStyle/>
          <a:p>
            <a:pPr algn="l">
              <a:defRPr sz="1300" b="0">
                <a:solidFill>
                  <a:srgbClr val="FFFFFF"/>
                </a:solidFill>
                <a:latin typeface="Calibri"/>
              </a:defRPr>
            </a:pPr>
            <a:r>
              <a:t>Authentication &amp; access control</a:t>
            </a:r>
          </a:p>
        </p:txBody>
      </p:sp>
      <p:sp>
        <p:nvSpPr>
          <p:cNvPr id="40" name="Rectangle 39"/>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42" name="TextBox 41"/>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2121408"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2121408" cy="292608"/>
          </a:xfrm>
          <a:prstGeom prst="rect">
            <a:avLst/>
          </a:prstGeom>
          <a:noFill/>
        </p:spPr>
        <p:txBody>
          <a:bodyPr wrap="square"/>
          <a:lstStyle/>
          <a:p>
            <a:pPr algn="ctr">
              <a:defRPr sz="1000" b="1">
                <a:solidFill>
                  <a:srgbClr val="00E676"/>
                </a:solidFill>
                <a:latin typeface="Calibri"/>
              </a:defRPr>
            </a:pPr>
            <a:r>
              <a:t>COMPETITIVE EDGE</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Why BugBunny Wins</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Feature comparison: BugBunny vs. existing tools</a:t>
            </a:r>
          </a:p>
        </p:txBody>
      </p:sp>
      <p:sp>
        <p:nvSpPr>
          <p:cNvPr id="6" name="Rectangle 5"/>
          <p:cNvSpPr/>
          <p:nvPr/>
        </p:nvSpPr>
        <p:spPr>
          <a:xfrm>
            <a:off x="548640" y="1783080"/>
            <a:ext cx="2560320"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2560320" cy="384048"/>
          </a:xfrm>
          <a:prstGeom prst="rect">
            <a:avLst/>
          </a:prstGeom>
          <a:noFill/>
        </p:spPr>
        <p:txBody>
          <a:bodyPr wrap="square"/>
          <a:lstStyle/>
          <a:p>
            <a:pPr algn="ctr">
              <a:defRPr sz="1200" b="1">
                <a:solidFill>
                  <a:srgbClr val="00E676"/>
                </a:solidFill>
                <a:latin typeface="Calibri"/>
              </a:defRPr>
            </a:pPr>
            <a:r>
              <a:t>Feature</a:t>
            </a:r>
          </a:p>
        </p:txBody>
      </p:sp>
      <p:sp>
        <p:nvSpPr>
          <p:cNvPr id="8" name="Rectangle 7"/>
          <p:cNvSpPr/>
          <p:nvPr/>
        </p:nvSpPr>
        <p:spPr>
          <a:xfrm>
            <a:off x="3154680" y="1783080"/>
            <a:ext cx="1645920" cy="384048"/>
          </a:xfrm>
          <a:prstGeom prst="rect">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1783080"/>
            <a:ext cx="1645920" cy="384048"/>
          </a:xfrm>
          <a:prstGeom prst="rect">
            <a:avLst/>
          </a:prstGeom>
          <a:noFill/>
        </p:spPr>
        <p:txBody>
          <a:bodyPr wrap="square"/>
          <a:lstStyle/>
          <a:p>
            <a:pPr algn="ctr">
              <a:defRPr sz="1200" b="1">
                <a:solidFill>
                  <a:srgbClr val="000000"/>
                </a:solidFill>
                <a:latin typeface="Calibri"/>
              </a:defRPr>
            </a:pPr>
            <a:r>
              <a:t>BugBunny</a:t>
            </a:r>
          </a:p>
        </p:txBody>
      </p:sp>
      <p:sp>
        <p:nvSpPr>
          <p:cNvPr id="10" name="Rectangle 9"/>
          <p:cNvSpPr/>
          <p:nvPr/>
        </p:nvSpPr>
        <p:spPr>
          <a:xfrm>
            <a:off x="4846320" y="1783080"/>
            <a:ext cx="1463040"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783080"/>
            <a:ext cx="1463040" cy="384048"/>
          </a:xfrm>
          <a:prstGeom prst="rect">
            <a:avLst/>
          </a:prstGeom>
          <a:noFill/>
        </p:spPr>
        <p:txBody>
          <a:bodyPr wrap="square"/>
          <a:lstStyle/>
          <a:p>
            <a:pPr algn="ctr">
              <a:defRPr sz="1200" b="1">
                <a:solidFill>
                  <a:srgbClr val="00E676"/>
                </a:solidFill>
                <a:latin typeface="Calibri"/>
              </a:defRPr>
            </a:pPr>
            <a:r>
              <a:t>Semgrep</a:t>
            </a:r>
          </a:p>
        </p:txBody>
      </p:sp>
      <p:sp>
        <p:nvSpPr>
          <p:cNvPr id="12" name="Rectangle 11"/>
          <p:cNvSpPr/>
          <p:nvPr/>
        </p:nvSpPr>
        <p:spPr>
          <a:xfrm>
            <a:off x="6355080" y="1783080"/>
            <a:ext cx="1463040"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83080"/>
            <a:ext cx="1463040" cy="384048"/>
          </a:xfrm>
          <a:prstGeom prst="rect">
            <a:avLst/>
          </a:prstGeom>
          <a:noFill/>
        </p:spPr>
        <p:txBody>
          <a:bodyPr wrap="square"/>
          <a:lstStyle/>
          <a:p>
            <a:pPr algn="ctr">
              <a:defRPr sz="1200" b="1">
                <a:solidFill>
                  <a:srgbClr val="00E676"/>
                </a:solidFill>
                <a:latin typeface="Calibri"/>
              </a:defRPr>
            </a:pPr>
            <a:r>
              <a:t>Snyk</a:t>
            </a:r>
          </a:p>
        </p:txBody>
      </p:sp>
      <p:sp>
        <p:nvSpPr>
          <p:cNvPr id="14" name="Rectangle 13"/>
          <p:cNvSpPr/>
          <p:nvPr/>
        </p:nvSpPr>
        <p:spPr>
          <a:xfrm>
            <a:off x="7863840" y="1783080"/>
            <a:ext cx="1645920"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783080"/>
            <a:ext cx="1645920" cy="384048"/>
          </a:xfrm>
          <a:prstGeom prst="rect">
            <a:avLst/>
          </a:prstGeom>
          <a:noFill/>
        </p:spPr>
        <p:txBody>
          <a:bodyPr wrap="square"/>
          <a:lstStyle/>
          <a:p>
            <a:pPr algn="ctr">
              <a:defRPr sz="1200" b="1">
                <a:solidFill>
                  <a:srgbClr val="00E676"/>
                </a:solidFill>
                <a:latin typeface="Calibri"/>
              </a:defRPr>
            </a:pPr>
            <a:r>
              <a:t>SonarQube</a:t>
            </a:r>
          </a:p>
        </p:txBody>
      </p:sp>
      <p:sp>
        <p:nvSpPr>
          <p:cNvPr id="16" name="Rectangle 15"/>
          <p:cNvSpPr/>
          <p:nvPr/>
        </p:nvSpPr>
        <p:spPr>
          <a:xfrm>
            <a:off x="9555480" y="1783080"/>
            <a:ext cx="1920240"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783080"/>
            <a:ext cx="1920240" cy="384048"/>
          </a:xfrm>
          <a:prstGeom prst="rect">
            <a:avLst/>
          </a:prstGeom>
          <a:noFill/>
        </p:spPr>
        <p:txBody>
          <a:bodyPr wrap="square"/>
          <a:lstStyle/>
          <a:p>
            <a:pPr algn="ctr">
              <a:defRPr sz="1200" b="1">
                <a:solidFill>
                  <a:srgbClr val="00E676"/>
                </a:solidFill>
                <a:latin typeface="Calibri"/>
              </a:defRPr>
            </a:pPr>
            <a:r>
              <a:t>LLM Wrappers</a:t>
            </a:r>
          </a:p>
        </p:txBody>
      </p:sp>
      <p:sp>
        <p:nvSpPr>
          <p:cNvPr id="18" name="Rectangle 17"/>
          <p:cNvSpPr/>
          <p:nvPr/>
        </p:nvSpPr>
        <p:spPr>
          <a:xfrm>
            <a:off x="548640" y="2212848"/>
            <a:ext cx="25603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212848"/>
            <a:ext cx="2468880" cy="384048"/>
          </a:xfrm>
          <a:prstGeom prst="rect">
            <a:avLst/>
          </a:prstGeom>
          <a:noFill/>
        </p:spPr>
        <p:txBody>
          <a:bodyPr wrap="square"/>
          <a:lstStyle/>
          <a:p>
            <a:pPr algn="l">
              <a:defRPr sz="1100" b="1">
                <a:solidFill>
                  <a:srgbClr val="FFFFFF"/>
                </a:solidFill>
                <a:latin typeface="Calibri"/>
              </a:defRPr>
            </a:pPr>
            <a:r>
              <a:t>SAST Scanning</a:t>
            </a:r>
          </a:p>
        </p:txBody>
      </p:sp>
      <p:sp>
        <p:nvSpPr>
          <p:cNvPr id="20" name="Rectangle 19"/>
          <p:cNvSpPr/>
          <p:nvPr/>
        </p:nvSpPr>
        <p:spPr>
          <a:xfrm>
            <a:off x="3154680" y="2212848"/>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54680" y="2212848"/>
            <a:ext cx="1645920" cy="384048"/>
          </a:xfrm>
          <a:prstGeom prst="rect">
            <a:avLst/>
          </a:prstGeom>
          <a:noFill/>
        </p:spPr>
        <p:txBody>
          <a:bodyPr wrap="square"/>
          <a:lstStyle/>
          <a:p>
            <a:pPr algn="ctr">
              <a:defRPr sz="1200" b="1">
                <a:solidFill>
                  <a:srgbClr val="00E676"/>
                </a:solidFill>
                <a:latin typeface="Calibri"/>
              </a:defRPr>
            </a:pPr>
            <a:r>
              <a:t>✅</a:t>
            </a:r>
          </a:p>
        </p:txBody>
      </p:sp>
      <p:sp>
        <p:nvSpPr>
          <p:cNvPr id="22" name="Rectangle 21"/>
          <p:cNvSpPr/>
          <p:nvPr/>
        </p:nvSpPr>
        <p:spPr>
          <a:xfrm>
            <a:off x="4846320" y="2212848"/>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2212848"/>
            <a:ext cx="1463040" cy="384048"/>
          </a:xfrm>
          <a:prstGeom prst="rect">
            <a:avLst/>
          </a:prstGeom>
          <a:noFill/>
        </p:spPr>
        <p:txBody>
          <a:bodyPr wrap="square"/>
          <a:lstStyle/>
          <a:p>
            <a:pPr algn="ctr">
              <a:defRPr sz="1200" b="0">
                <a:solidFill>
                  <a:srgbClr val="AAAAAA"/>
                </a:solidFill>
                <a:latin typeface="Calibri"/>
              </a:defRPr>
            </a:pPr>
            <a:r>
              <a:t>✅</a:t>
            </a:r>
          </a:p>
        </p:txBody>
      </p:sp>
      <p:sp>
        <p:nvSpPr>
          <p:cNvPr id="24" name="Rectangle 23"/>
          <p:cNvSpPr/>
          <p:nvPr/>
        </p:nvSpPr>
        <p:spPr>
          <a:xfrm>
            <a:off x="6355080" y="2212848"/>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212848"/>
            <a:ext cx="1463040" cy="384048"/>
          </a:xfrm>
          <a:prstGeom prst="rect">
            <a:avLst/>
          </a:prstGeom>
          <a:noFill/>
        </p:spPr>
        <p:txBody>
          <a:bodyPr wrap="square"/>
          <a:lstStyle/>
          <a:p>
            <a:pPr algn="ctr">
              <a:defRPr sz="1200" b="0">
                <a:solidFill>
                  <a:srgbClr val="AAAAAA"/>
                </a:solidFill>
                <a:latin typeface="Calibri"/>
              </a:defRPr>
            </a:pPr>
            <a:r>
              <a:t>✅</a:t>
            </a:r>
          </a:p>
        </p:txBody>
      </p:sp>
      <p:sp>
        <p:nvSpPr>
          <p:cNvPr id="26" name="Rectangle 25"/>
          <p:cNvSpPr/>
          <p:nvPr/>
        </p:nvSpPr>
        <p:spPr>
          <a:xfrm>
            <a:off x="7863840" y="2212848"/>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2212848"/>
            <a:ext cx="1645920" cy="384048"/>
          </a:xfrm>
          <a:prstGeom prst="rect">
            <a:avLst/>
          </a:prstGeom>
          <a:noFill/>
        </p:spPr>
        <p:txBody>
          <a:bodyPr wrap="square"/>
          <a:lstStyle/>
          <a:p>
            <a:pPr algn="ctr">
              <a:defRPr sz="1200" b="0">
                <a:solidFill>
                  <a:srgbClr val="AAAAAA"/>
                </a:solidFill>
                <a:latin typeface="Calibri"/>
              </a:defRPr>
            </a:pPr>
            <a:r>
              <a:t>✅</a:t>
            </a:r>
          </a:p>
        </p:txBody>
      </p:sp>
      <p:sp>
        <p:nvSpPr>
          <p:cNvPr id="28" name="Rectangle 27"/>
          <p:cNvSpPr/>
          <p:nvPr/>
        </p:nvSpPr>
        <p:spPr>
          <a:xfrm>
            <a:off x="9555480" y="2212848"/>
            <a:ext cx="19202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2212848"/>
            <a:ext cx="1920240" cy="384048"/>
          </a:xfrm>
          <a:prstGeom prst="rect">
            <a:avLst/>
          </a:prstGeom>
          <a:noFill/>
        </p:spPr>
        <p:txBody>
          <a:bodyPr wrap="square"/>
          <a:lstStyle/>
          <a:p>
            <a:pPr algn="ctr">
              <a:defRPr sz="1200" b="0">
                <a:solidFill>
                  <a:srgbClr val="AAAAAA"/>
                </a:solidFill>
                <a:latin typeface="Calibri"/>
              </a:defRPr>
            </a:pPr>
            <a:r>
              <a:t>❌</a:t>
            </a:r>
          </a:p>
        </p:txBody>
      </p:sp>
      <p:sp>
        <p:nvSpPr>
          <p:cNvPr id="30" name="Rectangle 29"/>
          <p:cNvSpPr/>
          <p:nvPr/>
        </p:nvSpPr>
        <p:spPr>
          <a:xfrm>
            <a:off x="548640" y="2615184"/>
            <a:ext cx="25603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615184"/>
            <a:ext cx="2468880" cy="384048"/>
          </a:xfrm>
          <a:prstGeom prst="rect">
            <a:avLst/>
          </a:prstGeom>
          <a:noFill/>
        </p:spPr>
        <p:txBody>
          <a:bodyPr wrap="square"/>
          <a:lstStyle/>
          <a:p>
            <a:pPr algn="l">
              <a:defRPr sz="1100" b="1">
                <a:solidFill>
                  <a:srgbClr val="FFFFFF"/>
                </a:solidFill>
                <a:latin typeface="Calibri"/>
              </a:defRPr>
            </a:pPr>
            <a:r>
              <a:t>AI Triage</a:t>
            </a:r>
          </a:p>
        </p:txBody>
      </p:sp>
      <p:sp>
        <p:nvSpPr>
          <p:cNvPr id="32" name="Rectangle 31"/>
          <p:cNvSpPr/>
          <p:nvPr/>
        </p:nvSpPr>
        <p:spPr>
          <a:xfrm>
            <a:off x="3154680" y="2615184"/>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54680" y="2615184"/>
            <a:ext cx="1645920" cy="384048"/>
          </a:xfrm>
          <a:prstGeom prst="rect">
            <a:avLst/>
          </a:prstGeom>
          <a:noFill/>
        </p:spPr>
        <p:txBody>
          <a:bodyPr wrap="square"/>
          <a:lstStyle/>
          <a:p>
            <a:pPr algn="ctr">
              <a:defRPr sz="1200" b="1">
                <a:solidFill>
                  <a:srgbClr val="00E676"/>
                </a:solidFill>
                <a:latin typeface="Calibri"/>
              </a:defRPr>
            </a:pPr>
            <a:r>
              <a:t>✅</a:t>
            </a:r>
          </a:p>
        </p:txBody>
      </p:sp>
      <p:sp>
        <p:nvSpPr>
          <p:cNvPr id="34" name="Rectangle 33"/>
          <p:cNvSpPr/>
          <p:nvPr/>
        </p:nvSpPr>
        <p:spPr>
          <a:xfrm>
            <a:off x="4846320" y="2615184"/>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46320" y="2615184"/>
            <a:ext cx="1463040" cy="384048"/>
          </a:xfrm>
          <a:prstGeom prst="rect">
            <a:avLst/>
          </a:prstGeom>
          <a:noFill/>
        </p:spPr>
        <p:txBody>
          <a:bodyPr wrap="square"/>
          <a:lstStyle/>
          <a:p>
            <a:pPr algn="ctr">
              <a:defRPr sz="1200" b="0">
                <a:solidFill>
                  <a:srgbClr val="AAAAAA"/>
                </a:solidFill>
                <a:latin typeface="Calibri"/>
              </a:defRPr>
            </a:pPr>
            <a:r>
              <a:t>❌</a:t>
            </a:r>
          </a:p>
        </p:txBody>
      </p:sp>
      <p:sp>
        <p:nvSpPr>
          <p:cNvPr id="36" name="Rectangle 35"/>
          <p:cNvSpPr/>
          <p:nvPr/>
        </p:nvSpPr>
        <p:spPr>
          <a:xfrm>
            <a:off x="6355080" y="2615184"/>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615184"/>
            <a:ext cx="1463040" cy="384048"/>
          </a:xfrm>
          <a:prstGeom prst="rect">
            <a:avLst/>
          </a:prstGeom>
          <a:noFill/>
        </p:spPr>
        <p:txBody>
          <a:bodyPr wrap="square"/>
          <a:lstStyle/>
          <a:p>
            <a:pPr algn="ctr">
              <a:defRPr sz="1200" b="0">
                <a:solidFill>
                  <a:srgbClr val="AAAAAA"/>
                </a:solidFill>
                <a:latin typeface="Calibri"/>
              </a:defRPr>
            </a:pPr>
            <a:r>
              <a:t>❌</a:t>
            </a:r>
          </a:p>
        </p:txBody>
      </p:sp>
      <p:sp>
        <p:nvSpPr>
          <p:cNvPr id="38" name="Rectangle 37"/>
          <p:cNvSpPr/>
          <p:nvPr/>
        </p:nvSpPr>
        <p:spPr>
          <a:xfrm>
            <a:off x="7863840" y="2615184"/>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2615184"/>
            <a:ext cx="1645920" cy="384048"/>
          </a:xfrm>
          <a:prstGeom prst="rect">
            <a:avLst/>
          </a:prstGeom>
          <a:noFill/>
        </p:spPr>
        <p:txBody>
          <a:bodyPr wrap="square"/>
          <a:lstStyle/>
          <a:p>
            <a:pPr algn="ctr">
              <a:defRPr sz="1200" b="0">
                <a:solidFill>
                  <a:srgbClr val="AAAAAA"/>
                </a:solidFill>
                <a:latin typeface="Calibri"/>
              </a:defRPr>
            </a:pPr>
            <a:r>
              <a:t>❌</a:t>
            </a:r>
          </a:p>
        </p:txBody>
      </p:sp>
      <p:sp>
        <p:nvSpPr>
          <p:cNvPr id="40" name="Rectangle 39"/>
          <p:cNvSpPr/>
          <p:nvPr/>
        </p:nvSpPr>
        <p:spPr>
          <a:xfrm>
            <a:off x="9555480" y="2615184"/>
            <a:ext cx="19202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2615184"/>
            <a:ext cx="1920240" cy="384048"/>
          </a:xfrm>
          <a:prstGeom prst="rect">
            <a:avLst/>
          </a:prstGeom>
          <a:noFill/>
        </p:spPr>
        <p:txBody>
          <a:bodyPr wrap="square"/>
          <a:lstStyle/>
          <a:p>
            <a:pPr algn="ctr">
              <a:defRPr sz="1200" b="0">
                <a:solidFill>
                  <a:srgbClr val="AAAAAA"/>
                </a:solidFill>
                <a:latin typeface="Calibri"/>
              </a:defRPr>
            </a:pPr>
            <a:r>
              <a:t>✅</a:t>
            </a:r>
          </a:p>
        </p:txBody>
      </p:sp>
      <p:sp>
        <p:nvSpPr>
          <p:cNvPr id="42" name="Rectangle 41"/>
          <p:cNvSpPr/>
          <p:nvPr/>
        </p:nvSpPr>
        <p:spPr>
          <a:xfrm>
            <a:off x="548640" y="3017520"/>
            <a:ext cx="25603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3017520"/>
            <a:ext cx="2468880" cy="384048"/>
          </a:xfrm>
          <a:prstGeom prst="rect">
            <a:avLst/>
          </a:prstGeom>
          <a:noFill/>
        </p:spPr>
        <p:txBody>
          <a:bodyPr wrap="square"/>
          <a:lstStyle/>
          <a:p>
            <a:pPr algn="l">
              <a:defRPr sz="1100" b="1">
                <a:solidFill>
                  <a:srgbClr val="FFFFFF"/>
                </a:solidFill>
                <a:latin typeface="Calibri"/>
              </a:defRPr>
            </a:pPr>
            <a:r>
              <a:t>Context-Aware Analysis</a:t>
            </a:r>
          </a:p>
        </p:txBody>
      </p:sp>
      <p:sp>
        <p:nvSpPr>
          <p:cNvPr id="44" name="Rectangle 43"/>
          <p:cNvSpPr/>
          <p:nvPr/>
        </p:nvSpPr>
        <p:spPr>
          <a:xfrm>
            <a:off x="3154680" y="3017520"/>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54680" y="3017520"/>
            <a:ext cx="1645920" cy="384048"/>
          </a:xfrm>
          <a:prstGeom prst="rect">
            <a:avLst/>
          </a:prstGeom>
          <a:noFill/>
        </p:spPr>
        <p:txBody>
          <a:bodyPr wrap="square"/>
          <a:lstStyle/>
          <a:p>
            <a:pPr algn="ctr">
              <a:defRPr sz="1200" b="1">
                <a:solidFill>
                  <a:srgbClr val="00E676"/>
                </a:solidFill>
                <a:latin typeface="Calibri"/>
              </a:defRPr>
            </a:pPr>
            <a:r>
              <a:t>✅</a:t>
            </a:r>
          </a:p>
        </p:txBody>
      </p:sp>
      <p:sp>
        <p:nvSpPr>
          <p:cNvPr id="46" name="Rectangle 45"/>
          <p:cNvSpPr/>
          <p:nvPr/>
        </p:nvSpPr>
        <p:spPr>
          <a:xfrm>
            <a:off x="4846320" y="3017520"/>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46320" y="3017520"/>
            <a:ext cx="1463040" cy="384048"/>
          </a:xfrm>
          <a:prstGeom prst="rect">
            <a:avLst/>
          </a:prstGeom>
          <a:noFill/>
        </p:spPr>
        <p:txBody>
          <a:bodyPr wrap="square"/>
          <a:lstStyle/>
          <a:p>
            <a:pPr algn="ctr">
              <a:defRPr sz="1200" b="0">
                <a:solidFill>
                  <a:srgbClr val="AAAAAA"/>
                </a:solidFill>
                <a:latin typeface="Calibri"/>
              </a:defRPr>
            </a:pPr>
            <a:r>
              <a:t>⚠️</a:t>
            </a:r>
          </a:p>
        </p:txBody>
      </p:sp>
      <p:sp>
        <p:nvSpPr>
          <p:cNvPr id="48" name="Rectangle 47"/>
          <p:cNvSpPr/>
          <p:nvPr/>
        </p:nvSpPr>
        <p:spPr>
          <a:xfrm>
            <a:off x="6355080" y="3017520"/>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3017520"/>
            <a:ext cx="1463040" cy="384048"/>
          </a:xfrm>
          <a:prstGeom prst="rect">
            <a:avLst/>
          </a:prstGeom>
          <a:noFill/>
        </p:spPr>
        <p:txBody>
          <a:bodyPr wrap="square"/>
          <a:lstStyle/>
          <a:p>
            <a:pPr algn="ctr">
              <a:defRPr sz="1200" b="0">
                <a:solidFill>
                  <a:srgbClr val="AAAAAA"/>
                </a:solidFill>
                <a:latin typeface="Calibri"/>
              </a:defRPr>
            </a:pPr>
            <a:r>
              <a:t>⚠️</a:t>
            </a:r>
          </a:p>
        </p:txBody>
      </p:sp>
      <p:sp>
        <p:nvSpPr>
          <p:cNvPr id="50" name="Rectangle 49"/>
          <p:cNvSpPr/>
          <p:nvPr/>
        </p:nvSpPr>
        <p:spPr>
          <a:xfrm>
            <a:off x="7863840" y="3017520"/>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63840" y="3017520"/>
            <a:ext cx="1645920" cy="384048"/>
          </a:xfrm>
          <a:prstGeom prst="rect">
            <a:avLst/>
          </a:prstGeom>
          <a:noFill/>
        </p:spPr>
        <p:txBody>
          <a:bodyPr wrap="square"/>
          <a:lstStyle/>
          <a:p>
            <a:pPr algn="ctr">
              <a:defRPr sz="1200" b="0">
                <a:solidFill>
                  <a:srgbClr val="AAAAAA"/>
                </a:solidFill>
                <a:latin typeface="Calibri"/>
              </a:defRPr>
            </a:pPr>
            <a:r>
              <a:t>⚠️</a:t>
            </a:r>
          </a:p>
        </p:txBody>
      </p:sp>
      <p:sp>
        <p:nvSpPr>
          <p:cNvPr id="52" name="Rectangle 51"/>
          <p:cNvSpPr/>
          <p:nvPr/>
        </p:nvSpPr>
        <p:spPr>
          <a:xfrm>
            <a:off x="9555480" y="3017520"/>
            <a:ext cx="19202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3017520"/>
            <a:ext cx="1920240" cy="384048"/>
          </a:xfrm>
          <a:prstGeom prst="rect">
            <a:avLst/>
          </a:prstGeom>
          <a:noFill/>
        </p:spPr>
        <p:txBody>
          <a:bodyPr wrap="square"/>
          <a:lstStyle/>
          <a:p>
            <a:pPr algn="ctr">
              <a:defRPr sz="1200" b="0">
                <a:solidFill>
                  <a:srgbClr val="AAAAAA"/>
                </a:solidFill>
                <a:latin typeface="Calibri"/>
              </a:defRPr>
            </a:pPr>
            <a:r>
              <a:t>⚠️</a:t>
            </a:r>
          </a:p>
        </p:txBody>
      </p:sp>
      <p:sp>
        <p:nvSpPr>
          <p:cNvPr id="54" name="Rectangle 53"/>
          <p:cNvSpPr/>
          <p:nvPr/>
        </p:nvSpPr>
        <p:spPr>
          <a:xfrm>
            <a:off x="548640" y="3419856"/>
            <a:ext cx="25603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3419856"/>
            <a:ext cx="2468880" cy="384048"/>
          </a:xfrm>
          <a:prstGeom prst="rect">
            <a:avLst/>
          </a:prstGeom>
          <a:noFill/>
        </p:spPr>
        <p:txBody>
          <a:bodyPr wrap="square"/>
          <a:lstStyle/>
          <a:p>
            <a:pPr algn="l">
              <a:defRPr sz="1100" b="1">
                <a:solidFill>
                  <a:srgbClr val="FFFFFF"/>
                </a:solidFill>
                <a:latin typeface="Calibri"/>
              </a:defRPr>
            </a:pPr>
            <a:r>
              <a:t>Targeted DAST</a:t>
            </a:r>
          </a:p>
        </p:txBody>
      </p:sp>
      <p:sp>
        <p:nvSpPr>
          <p:cNvPr id="56" name="Rectangle 55"/>
          <p:cNvSpPr/>
          <p:nvPr/>
        </p:nvSpPr>
        <p:spPr>
          <a:xfrm>
            <a:off x="3154680" y="3419856"/>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54680" y="3419856"/>
            <a:ext cx="1645920" cy="384048"/>
          </a:xfrm>
          <a:prstGeom prst="rect">
            <a:avLst/>
          </a:prstGeom>
          <a:noFill/>
        </p:spPr>
        <p:txBody>
          <a:bodyPr wrap="square"/>
          <a:lstStyle/>
          <a:p>
            <a:pPr algn="ctr">
              <a:defRPr sz="1200" b="1">
                <a:solidFill>
                  <a:srgbClr val="00E676"/>
                </a:solidFill>
                <a:latin typeface="Calibri"/>
              </a:defRPr>
            </a:pPr>
            <a:r>
              <a:t>✅</a:t>
            </a:r>
          </a:p>
        </p:txBody>
      </p:sp>
      <p:sp>
        <p:nvSpPr>
          <p:cNvPr id="58" name="Rectangle 57"/>
          <p:cNvSpPr/>
          <p:nvPr/>
        </p:nvSpPr>
        <p:spPr>
          <a:xfrm>
            <a:off x="4846320" y="3419856"/>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46320" y="3419856"/>
            <a:ext cx="1463040" cy="384048"/>
          </a:xfrm>
          <a:prstGeom prst="rect">
            <a:avLst/>
          </a:prstGeom>
          <a:noFill/>
        </p:spPr>
        <p:txBody>
          <a:bodyPr wrap="square"/>
          <a:lstStyle/>
          <a:p>
            <a:pPr algn="ctr">
              <a:defRPr sz="1200" b="0">
                <a:solidFill>
                  <a:srgbClr val="AAAAAA"/>
                </a:solidFill>
                <a:latin typeface="Calibri"/>
              </a:defRPr>
            </a:pPr>
            <a:r>
              <a:t>❌</a:t>
            </a:r>
          </a:p>
        </p:txBody>
      </p:sp>
      <p:sp>
        <p:nvSpPr>
          <p:cNvPr id="60" name="Rectangle 59"/>
          <p:cNvSpPr/>
          <p:nvPr/>
        </p:nvSpPr>
        <p:spPr>
          <a:xfrm>
            <a:off x="6355080" y="3419856"/>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55080" y="3419856"/>
            <a:ext cx="1463040" cy="384048"/>
          </a:xfrm>
          <a:prstGeom prst="rect">
            <a:avLst/>
          </a:prstGeom>
          <a:noFill/>
        </p:spPr>
        <p:txBody>
          <a:bodyPr wrap="square"/>
          <a:lstStyle/>
          <a:p>
            <a:pPr algn="ctr">
              <a:defRPr sz="1200" b="0">
                <a:solidFill>
                  <a:srgbClr val="AAAAAA"/>
                </a:solidFill>
                <a:latin typeface="Calibri"/>
              </a:defRPr>
            </a:pPr>
            <a:r>
              <a:t>❌</a:t>
            </a:r>
          </a:p>
        </p:txBody>
      </p:sp>
      <p:sp>
        <p:nvSpPr>
          <p:cNvPr id="62" name="Rectangle 61"/>
          <p:cNvSpPr/>
          <p:nvPr/>
        </p:nvSpPr>
        <p:spPr>
          <a:xfrm>
            <a:off x="7863840" y="3419856"/>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63840" y="3419856"/>
            <a:ext cx="1645920" cy="384048"/>
          </a:xfrm>
          <a:prstGeom prst="rect">
            <a:avLst/>
          </a:prstGeom>
          <a:noFill/>
        </p:spPr>
        <p:txBody>
          <a:bodyPr wrap="square"/>
          <a:lstStyle/>
          <a:p>
            <a:pPr algn="ctr">
              <a:defRPr sz="1200" b="0">
                <a:solidFill>
                  <a:srgbClr val="AAAAAA"/>
                </a:solidFill>
                <a:latin typeface="Calibri"/>
              </a:defRPr>
            </a:pPr>
            <a:r>
              <a:t>❌</a:t>
            </a:r>
          </a:p>
        </p:txBody>
      </p:sp>
      <p:sp>
        <p:nvSpPr>
          <p:cNvPr id="64" name="Rectangle 63"/>
          <p:cNvSpPr/>
          <p:nvPr/>
        </p:nvSpPr>
        <p:spPr>
          <a:xfrm>
            <a:off x="9555480" y="3419856"/>
            <a:ext cx="19202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419856"/>
            <a:ext cx="1920240" cy="384048"/>
          </a:xfrm>
          <a:prstGeom prst="rect">
            <a:avLst/>
          </a:prstGeom>
          <a:noFill/>
        </p:spPr>
        <p:txBody>
          <a:bodyPr wrap="square"/>
          <a:lstStyle/>
          <a:p>
            <a:pPr algn="ctr">
              <a:defRPr sz="1200" b="0">
                <a:solidFill>
                  <a:srgbClr val="AAAAAA"/>
                </a:solidFill>
                <a:latin typeface="Calibri"/>
              </a:defRPr>
            </a:pPr>
            <a:r>
              <a:t>❌</a:t>
            </a:r>
          </a:p>
        </p:txBody>
      </p:sp>
      <p:sp>
        <p:nvSpPr>
          <p:cNvPr id="66" name="Rectangle 65"/>
          <p:cNvSpPr/>
          <p:nvPr/>
        </p:nvSpPr>
        <p:spPr>
          <a:xfrm>
            <a:off x="548640" y="3822191"/>
            <a:ext cx="25603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3822191"/>
            <a:ext cx="2468880" cy="384048"/>
          </a:xfrm>
          <a:prstGeom prst="rect">
            <a:avLst/>
          </a:prstGeom>
          <a:noFill/>
        </p:spPr>
        <p:txBody>
          <a:bodyPr wrap="square"/>
          <a:lstStyle/>
          <a:p>
            <a:pPr algn="l">
              <a:defRPr sz="1100" b="1">
                <a:solidFill>
                  <a:srgbClr val="FFFFFF"/>
                </a:solidFill>
                <a:latin typeface="Calibri"/>
              </a:defRPr>
            </a:pPr>
            <a:r>
              <a:t>Reachability Analysis</a:t>
            </a:r>
          </a:p>
        </p:txBody>
      </p:sp>
      <p:sp>
        <p:nvSpPr>
          <p:cNvPr id="68" name="Rectangle 67"/>
          <p:cNvSpPr/>
          <p:nvPr/>
        </p:nvSpPr>
        <p:spPr>
          <a:xfrm>
            <a:off x="3154680" y="3822191"/>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154680" y="3822191"/>
            <a:ext cx="1645920" cy="384048"/>
          </a:xfrm>
          <a:prstGeom prst="rect">
            <a:avLst/>
          </a:prstGeom>
          <a:noFill/>
        </p:spPr>
        <p:txBody>
          <a:bodyPr wrap="square"/>
          <a:lstStyle/>
          <a:p>
            <a:pPr algn="ctr">
              <a:defRPr sz="1200" b="1">
                <a:solidFill>
                  <a:srgbClr val="00E676"/>
                </a:solidFill>
                <a:latin typeface="Calibri"/>
              </a:defRPr>
            </a:pPr>
            <a:r>
              <a:t>✅</a:t>
            </a:r>
          </a:p>
        </p:txBody>
      </p:sp>
      <p:sp>
        <p:nvSpPr>
          <p:cNvPr id="70" name="Rectangle 69"/>
          <p:cNvSpPr/>
          <p:nvPr/>
        </p:nvSpPr>
        <p:spPr>
          <a:xfrm>
            <a:off x="4846320" y="3822191"/>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46320" y="3822191"/>
            <a:ext cx="1463040" cy="384048"/>
          </a:xfrm>
          <a:prstGeom prst="rect">
            <a:avLst/>
          </a:prstGeom>
          <a:noFill/>
        </p:spPr>
        <p:txBody>
          <a:bodyPr wrap="square"/>
          <a:lstStyle/>
          <a:p>
            <a:pPr algn="ctr">
              <a:defRPr sz="1200" b="0">
                <a:solidFill>
                  <a:srgbClr val="AAAAAA"/>
                </a:solidFill>
                <a:latin typeface="Calibri"/>
              </a:defRPr>
            </a:pPr>
            <a:r>
              <a:t>⚠️</a:t>
            </a:r>
          </a:p>
        </p:txBody>
      </p:sp>
      <p:sp>
        <p:nvSpPr>
          <p:cNvPr id="72" name="Rectangle 71"/>
          <p:cNvSpPr/>
          <p:nvPr/>
        </p:nvSpPr>
        <p:spPr>
          <a:xfrm>
            <a:off x="6355080" y="3822191"/>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55080" y="3822191"/>
            <a:ext cx="1463040" cy="384048"/>
          </a:xfrm>
          <a:prstGeom prst="rect">
            <a:avLst/>
          </a:prstGeom>
          <a:noFill/>
        </p:spPr>
        <p:txBody>
          <a:bodyPr wrap="square"/>
          <a:lstStyle/>
          <a:p>
            <a:pPr algn="ctr">
              <a:defRPr sz="1200" b="0">
                <a:solidFill>
                  <a:srgbClr val="AAAAAA"/>
                </a:solidFill>
                <a:latin typeface="Calibri"/>
              </a:defRPr>
            </a:pPr>
            <a:r>
              <a:t>✅</a:t>
            </a:r>
          </a:p>
        </p:txBody>
      </p:sp>
      <p:sp>
        <p:nvSpPr>
          <p:cNvPr id="74" name="Rectangle 73"/>
          <p:cNvSpPr/>
          <p:nvPr/>
        </p:nvSpPr>
        <p:spPr>
          <a:xfrm>
            <a:off x="7863840" y="3822191"/>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63840" y="3822191"/>
            <a:ext cx="1645920" cy="384048"/>
          </a:xfrm>
          <a:prstGeom prst="rect">
            <a:avLst/>
          </a:prstGeom>
          <a:noFill/>
        </p:spPr>
        <p:txBody>
          <a:bodyPr wrap="square"/>
          <a:lstStyle/>
          <a:p>
            <a:pPr algn="ctr">
              <a:defRPr sz="1200" b="0">
                <a:solidFill>
                  <a:srgbClr val="AAAAAA"/>
                </a:solidFill>
                <a:latin typeface="Calibri"/>
              </a:defRPr>
            </a:pPr>
            <a:r>
              <a:t>❌</a:t>
            </a:r>
          </a:p>
        </p:txBody>
      </p:sp>
      <p:sp>
        <p:nvSpPr>
          <p:cNvPr id="76" name="Rectangle 75"/>
          <p:cNvSpPr/>
          <p:nvPr/>
        </p:nvSpPr>
        <p:spPr>
          <a:xfrm>
            <a:off x="9555480" y="3822191"/>
            <a:ext cx="19202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55480" y="3822191"/>
            <a:ext cx="1920240" cy="384048"/>
          </a:xfrm>
          <a:prstGeom prst="rect">
            <a:avLst/>
          </a:prstGeom>
          <a:noFill/>
        </p:spPr>
        <p:txBody>
          <a:bodyPr wrap="square"/>
          <a:lstStyle/>
          <a:p>
            <a:pPr algn="ctr">
              <a:defRPr sz="1200" b="0">
                <a:solidFill>
                  <a:srgbClr val="AAAAAA"/>
                </a:solidFill>
                <a:latin typeface="Calibri"/>
              </a:defRPr>
            </a:pPr>
            <a:r>
              <a:t>❌</a:t>
            </a:r>
          </a:p>
        </p:txBody>
      </p:sp>
      <p:sp>
        <p:nvSpPr>
          <p:cNvPr id="78" name="Rectangle 77"/>
          <p:cNvSpPr/>
          <p:nvPr/>
        </p:nvSpPr>
        <p:spPr>
          <a:xfrm>
            <a:off x="548640" y="4224528"/>
            <a:ext cx="25603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080" y="4224528"/>
            <a:ext cx="2468880" cy="384048"/>
          </a:xfrm>
          <a:prstGeom prst="rect">
            <a:avLst/>
          </a:prstGeom>
          <a:noFill/>
        </p:spPr>
        <p:txBody>
          <a:bodyPr wrap="square"/>
          <a:lstStyle/>
          <a:p>
            <a:pPr algn="l">
              <a:defRPr sz="1100" b="1">
                <a:solidFill>
                  <a:srgbClr val="FFFFFF"/>
                </a:solidFill>
                <a:latin typeface="Calibri"/>
              </a:defRPr>
            </a:pPr>
            <a:r>
              <a:t>AI AutoFix</a:t>
            </a:r>
          </a:p>
        </p:txBody>
      </p:sp>
      <p:sp>
        <p:nvSpPr>
          <p:cNvPr id="80" name="Rectangle 79"/>
          <p:cNvSpPr/>
          <p:nvPr/>
        </p:nvSpPr>
        <p:spPr>
          <a:xfrm>
            <a:off x="3154680" y="4224528"/>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154680" y="4224528"/>
            <a:ext cx="1645920" cy="384048"/>
          </a:xfrm>
          <a:prstGeom prst="rect">
            <a:avLst/>
          </a:prstGeom>
          <a:noFill/>
        </p:spPr>
        <p:txBody>
          <a:bodyPr wrap="square"/>
          <a:lstStyle/>
          <a:p>
            <a:pPr algn="ctr">
              <a:defRPr sz="1200" b="1">
                <a:solidFill>
                  <a:srgbClr val="00E676"/>
                </a:solidFill>
                <a:latin typeface="Calibri"/>
              </a:defRPr>
            </a:pPr>
            <a:r>
              <a:t>✅</a:t>
            </a:r>
          </a:p>
        </p:txBody>
      </p:sp>
      <p:sp>
        <p:nvSpPr>
          <p:cNvPr id="82" name="Rectangle 81"/>
          <p:cNvSpPr/>
          <p:nvPr/>
        </p:nvSpPr>
        <p:spPr>
          <a:xfrm>
            <a:off x="4846320" y="4224528"/>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846320" y="4224528"/>
            <a:ext cx="1463040" cy="384048"/>
          </a:xfrm>
          <a:prstGeom prst="rect">
            <a:avLst/>
          </a:prstGeom>
          <a:noFill/>
        </p:spPr>
        <p:txBody>
          <a:bodyPr wrap="square"/>
          <a:lstStyle/>
          <a:p>
            <a:pPr algn="ctr">
              <a:defRPr sz="1200" b="0">
                <a:solidFill>
                  <a:srgbClr val="AAAAAA"/>
                </a:solidFill>
                <a:latin typeface="Calibri"/>
              </a:defRPr>
            </a:pPr>
            <a:r>
              <a:t>❌</a:t>
            </a:r>
          </a:p>
        </p:txBody>
      </p:sp>
      <p:sp>
        <p:nvSpPr>
          <p:cNvPr id="84" name="Rectangle 83"/>
          <p:cNvSpPr/>
          <p:nvPr/>
        </p:nvSpPr>
        <p:spPr>
          <a:xfrm>
            <a:off x="6355080" y="4224528"/>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355080" y="4224528"/>
            <a:ext cx="1463040" cy="384048"/>
          </a:xfrm>
          <a:prstGeom prst="rect">
            <a:avLst/>
          </a:prstGeom>
          <a:noFill/>
        </p:spPr>
        <p:txBody>
          <a:bodyPr wrap="square"/>
          <a:lstStyle/>
          <a:p>
            <a:pPr algn="ctr">
              <a:defRPr sz="1200" b="0">
                <a:solidFill>
                  <a:srgbClr val="AAAAAA"/>
                </a:solidFill>
                <a:latin typeface="Calibri"/>
              </a:defRPr>
            </a:pPr>
            <a:r>
              <a:t>✅</a:t>
            </a:r>
          </a:p>
        </p:txBody>
      </p:sp>
      <p:sp>
        <p:nvSpPr>
          <p:cNvPr id="86" name="Rectangle 85"/>
          <p:cNvSpPr/>
          <p:nvPr/>
        </p:nvSpPr>
        <p:spPr>
          <a:xfrm>
            <a:off x="7863840" y="4224528"/>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863840" y="4224528"/>
            <a:ext cx="1645920" cy="384048"/>
          </a:xfrm>
          <a:prstGeom prst="rect">
            <a:avLst/>
          </a:prstGeom>
          <a:noFill/>
        </p:spPr>
        <p:txBody>
          <a:bodyPr wrap="square"/>
          <a:lstStyle/>
          <a:p>
            <a:pPr algn="ctr">
              <a:defRPr sz="1200" b="0">
                <a:solidFill>
                  <a:srgbClr val="AAAAAA"/>
                </a:solidFill>
                <a:latin typeface="Calibri"/>
              </a:defRPr>
            </a:pPr>
            <a:r>
              <a:t>❌</a:t>
            </a:r>
          </a:p>
        </p:txBody>
      </p:sp>
      <p:sp>
        <p:nvSpPr>
          <p:cNvPr id="88" name="Rectangle 87"/>
          <p:cNvSpPr/>
          <p:nvPr/>
        </p:nvSpPr>
        <p:spPr>
          <a:xfrm>
            <a:off x="9555480" y="4224528"/>
            <a:ext cx="19202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555480" y="4224528"/>
            <a:ext cx="1920240" cy="384048"/>
          </a:xfrm>
          <a:prstGeom prst="rect">
            <a:avLst/>
          </a:prstGeom>
          <a:noFill/>
        </p:spPr>
        <p:txBody>
          <a:bodyPr wrap="square"/>
          <a:lstStyle/>
          <a:p>
            <a:pPr algn="ctr">
              <a:defRPr sz="1200" b="0">
                <a:solidFill>
                  <a:srgbClr val="AAAAAA"/>
                </a:solidFill>
                <a:latin typeface="Calibri"/>
              </a:defRPr>
            </a:pPr>
            <a:r>
              <a:t>⚠️</a:t>
            </a:r>
          </a:p>
        </p:txBody>
      </p:sp>
      <p:sp>
        <p:nvSpPr>
          <p:cNvPr id="90" name="Rectangle 89"/>
          <p:cNvSpPr/>
          <p:nvPr/>
        </p:nvSpPr>
        <p:spPr>
          <a:xfrm>
            <a:off x="548640" y="4626864"/>
            <a:ext cx="25603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40080" y="4626864"/>
            <a:ext cx="2468880" cy="384048"/>
          </a:xfrm>
          <a:prstGeom prst="rect">
            <a:avLst/>
          </a:prstGeom>
          <a:noFill/>
        </p:spPr>
        <p:txBody>
          <a:bodyPr wrap="square"/>
          <a:lstStyle/>
          <a:p>
            <a:pPr algn="l">
              <a:defRPr sz="1100" b="1">
                <a:solidFill>
                  <a:srgbClr val="FFFFFF"/>
                </a:solidFill>
                <a:latin typeface="Calibri"/>
              </a:defRPr>
            </a:pPr>
            <a:r>
              <a:t>Semantic Dedup</a:t>
            </a:r>
          </a:p>
        </p:txBody>
      </p:sp>
      <p:sp>
        <p:nvSpPr>
          <p:cNvPr id="92" name="Rectangle 91"/>
          <p:cNvSpPr/>
          <p:nvPr/>
        </p:nvSpPr>
        <p:spPr>
          <a:xfrm>
            <a:off x="3154680" y="4626864"/>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54680" y="4626864"/>
            <a:ext cx="1645920" cy="384048"/>
          </a:xfrm>
          <a:prstGeom prst="rect">
            <a:avLst/>
          </a:prstGeom>
          <a:noFill/>
        </p:spPr>
        <p:txBody>
          <a:bodyPr wrap="square"/>
          <a:lstStyle/>
          <a:p>
            <a:pPr algn="ctr">
              <a:defRPr sz="1200" b="1">
                <a:solidFill>
                  <a:srgbClr val="00E676"/>
                </a:solidFill>
                <a:latin typeface="Calibri"/>
              </a:defRPr>
            </a:pPr>
            <a:r>
              <a:t>✅</a:t>
            </a:r>
          </a:p>
        </p:txBody>
      </p:sp>
      <p:sp>
        <p:nvSpPr>
          <p:cNvPr id="94" name="Rectangle 93"/>
          <p:cNvSpPr/>
          <p:nvPr/>
        </p:nvSpPr>
        <p:spPr>
          <a:xfrm>
            <a:off x="4846320" y="4626864"/>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846320" y="4626864"/>
            <a:ext cx="1463040" cy="384048"/>
          </a:xfrm>
          <a:prstGeom prst="rect">
            <a:avLst/>
          </a:prstGeom>
          <a:noFill/>
        </p:spPr>
        <p:txBody>
          <a:bodyPr wrap="square"/>
          <a:lstStyle/>
          <a:p>
            <a:pPr algn="ctr">
              <a:defRPr sz="1200" b="0">
                <a:solidFill>
                  <a:srgbClr val="AAAAAA"/>
                </a:solidFill>
                <a:latin typeface="Calibri"/>
              </a:defRPr>
            </a:pPr>
            <a:r>
              <a:t>❌</a:t>
            </a:r>
          </a:p>
        </p:txBody>
      </p:sp>
      <p:sp>
        <p:nvSpPr>
          <p:cNvPr id="96" name="Rectangle 95"/>
          <p:cNvSpPr/>
          <p:nvPr/>
        </p:nvSpPr>
        <p:spPr>
          <a:xfrm>
            <a:off x="6355080" y="4626864"/>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355080" y="4626864"/>
            <a:ext cx="1463040" cy="384048"/>
          </a:xfrm>
          <a:prstGeom prst="rect">
            <a:avLst/>
          </a:prstGeom>
          <a:noFill/>
        </p:spPr>
        <p:txBody>
          <a:bodyPr wrap="square"/>
          <a:lstStyle/>
          <a:p>
            <a:pPr algn="ctr">
              <a:defRPr sz="1200" b="0">
                <a:solidFill>
                  <a:srgbClr val="AAAAAA"/>
                </a:solidFill>
                <a:latin typeface="Calibri"/>
              </a:defRPr>
            </a:pPr>
            <a:r>
              <a:t>❌</a:t>
            </a:r>
          </a:p>
        </p:txBody>
      </p:sp>
      <p:sp>
        <p:nvSpPr>
          <p:cNvPr id="98" name="Rectangle 97"/>
          <p:cNvSpPr/>
          <p:nvPr/>
        </p:nvSpPr>
        <p:spPr>
          <a:xfrm>
            <a:off x="7863840" y="4626864"/>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863840" y="4626864"/>
            <a:ext cx="1645920" cy="384048"/>
          </a:xfrm>
          <a:prstGeom prst="rect">
            <a:avLst/>
          </a:prstGeom>
          <a:noFill/>
        </p:spPr>
        <p:txBody>
          <a:bodyPr wrap="square"/>
          <a:lstStyle/>
          <a:p>
            <a:pPr algn="ctr">
              <a:defRPr sz="1200" b="0">
                <a:solidFill>
                  <a:srgbClr val="AAAAAA"/>
                </a:solidFill>
                <a:latin typeface="Calibri"/>
              </a:defRPr>
            </a:pPr>
            <a:r>
              <a:t>❌</a:t>
            </a:r>
          </a:p>
        </p:txBody>
      </p:sp>
      <p:sp>
        <p:nvSpPr>
          <p:cNvPr id="100" name="Rectangle 99"/>
          <p:cNvSpPr/>
          <p:nvPr/>
        </p:nvSpPr>
        <p:spPr>
          <a:xfrm>
            <a:off x="9555480" y="4626864"/>
            <a:ext cx="19202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555480" y="4626864"/>
            <a:ext cx="1920240" cy="384048"/>
          </a:xfrm>
          <a:prstGeom prst="rect">
            <a:avLst/>
          </a:prstGeom>
          <a:noFill/>
        </p:spPr>
        <p:txBody>
          <a:bodyPr wrap="square"/>
          <a:lstStyle/>
          <a:p>
            <a:pPr algn="ctr">
              <a:defRPr sz="1200" b="0">
                <a:solidFill>
                  <a:srgbClr val="AAAAAA"/>
                </a:solidFill>
                <a:latin typeface="Calibri"/>
              </a:defRPr>
            </a:pPr>
            <a:r>
              <a:t>❌</a:t>
            </a:r>
          </a:p>
        </p:txBody>
      </p:sp>
      <p:sp>
        <p:nvSpPr>
          <p:cNvPr id="102" name="Rectangle 101"/>
          <p:cNvSpPr/>
          <p:nvPr/>
        </p:nvSpPr>
        <p:spPr>
          <a:xfrm>
            <a:off x="548640" y="5029200"/>
            <a:ext cx="25603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40080" y="5029200"/>
            <a:ext cx="2468880" cy="384048"/>
          </a:xfrm>
          <a:prstGeom prst="rect">
            <a:avLst/>
          </a:prstGeom>
          <a:noFill/>
        </p:spPr>
        <p:txBody>
          <a:bodyPr wrap="square"/>
          <a:lstStyle/>
          <a:p>
            <a:pPr algn="l">
              <a:defRPr sz="1100" b="1">
                <a:solidFill>
                  <a:srgbClr val="FFFFFF"/>
                </a:solidFill>
                <a:latin typeface="Calibri"/>
              </a:defRPr>
            </a:pPr>
            <a:r>
              <a:t>PDF Reports</a:t>
            </a:r>
          </a:p>
        </p:txBody>
      </p:sp>
      <p:sp>
        <p:nvSpPr>
          <p:cNvPr id="104" name="Rectangle 103"/>
          <p:cNvSpPr/>
          <p:nvPr/>
        </p:nvSpPr>
        <p:spPr>
          <a:xfrm>
            <a:off x="3154680" y="5029200"/>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154680" y="5029200"/>
            <a:ext cx="1645920" cy="384048"/>
          </a:xfrm>
          <a:prstGeom prst="rect">
            <a:avLst/>
          </a:prstGeom>
          <a:noFill/>
        </p:spPr>
        <p:txBody>
          <a:bodyPr wrap="square"/>
          <a:lstStyle/>
          <a:p>
            <a:pPr algn="ctr">
              <a:defRPr sz="1200" b="1">
                <a:solidFill>
                  <a:srgbClr val="00E676"/>
                </a:solidFill>
                <a:latin typeface="Calibri"/>
              </a:defRPr>
            </a:pPr>
            <a:r>
              <a:t>✅</a:t>
            </a:r>
          </a:p>
        </p:txBody>
      </p:sp>
      <p:sp>
        <p:nvSpPr>
          <p:cNvPr id="106" name="Rectangle 105"/>
          <p:cNvSpPr/>
          <p:nvPr/>
        </p:nvSpPr>
        <p:spPr>
          <a:xfrm>
            <a:off x="4846320" y="5029200"/>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846320" y="5029200"/>
            <a:ext cx="1463040" cy="384048"/>
          </a:xfrm>
          <a:prstGeom prst="rect">
            <a:avLst/>
          </a:prstGeom>
          <a:noFill/>
        </p:spPr>
        <p:txBody>
          <a:bodyPr wrap="square"/>
          <a:lstStyle/>
          <a:p>
            <a:pPr algn="ctr">
              <a:defRPr sz="1200" b="0">
                <a:solidFill>
                  <a:srgbClr val="AAAAAA"/>
                </a:solidFill>
                <a:latin typeface="Calibri"/>
              </a:defRPr>
            </a:pPr>
            <a:r>
              <a:t>❌</a:t>
            </a:r>
          </a:p>
        </p:txBody>
      </p:sp>
      <p:sp>
        <p:nvSpPr>
          <p:cNvPr id="108" name="Rectangle 107"/>
          <p:cNvSpPr/>
          <p:nvPr/>
        </p:nvSpPr>
        <p:spPr>
          <a:xfrm>
            <a:off x="6355080" y="5029200"/>
            <a:ext cx="14630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355080" y="5029200"/>
            <a:ext cx="1463040" cy="384048"/>
          </a:xfrm>
          <a:prstGeom prst="rect">
            <a:avLst/>
          </a:prstGeom>
          <a:noFill/>
        </p:spPr>
        <p:txBody>
          <a:bodyPr wrap="square"/>
          <a:lstStyle/>
          <a:p>
            <a:pPr algn="ctr">
              <a:defRPr sz="1200" b="0">
                <a:solidFill>
                  <a:srgbClr val="AAAAAA"/>
                </a:solidFill>
                <a:latin typeface="Calibri"/>
              </a:defRPr>
            </a:pPr>
            <a:r>
              <a:t>✅</a:t>
            </a:r>
          </a:p>
        </p:txBody>
      </p:sp>
      <p:sp>
        <p:nvSpPr>
          <p:cNvPr id="110" name="Rectangle 109"/>
          <p:cNvSpPr/>
          <p:nvPr/>
        </p:nvSpPr>
        <p:spPr>
          <a:xfrm>
            <a:off x="7863840" y="5029200"/>
            <a:ext cx="164592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863840" y="5029200"/>
            <a:ext cx="1645920" cy="384048"/>
          </a:xfrm>
          <a:prstGeom prst="rect">
            <a:avLst/>
          </a:prstGeom>
          <a:noFill/>
        </p:spPr>
        <p:txBody>
          <a:bodyPr wrap="square"/>
          <a:lstStyle/>
          <a:p>
            <a:pPr algn="ctr">
              <a:defRPr sz="1200" b="0">
                <a:solidFill>
                  <a:srgbClr val="AAAAAA"/>
                </a:solidFill>
                <a:latin typeface="Calibri"/>
              </a:defRPr>
            </a:pPr>
            <a:r>
              <a:t>✅</a:t>
            </a:r>
          </a:p>
        </p:txBody>
      </p:sp>
      <p:sp>
        <p:nvSpPr>
          <p:cNvPr id="112" name="Rectangle 111"/>
          <p:cNvSpPr/>
          <p:nvPr/>
        </p:nvSpPr>
        <p:spPr>
          <a:xfrm>
            <a:off x="9555480" y="5029200"/>
            <a:ext cx="1920240" cy="384048"/>
          </a:xfrm>
          <a:prstGeom prst="rect">
            <a:avLst/>
          </a:prstGeom>
          <a:solidFill>
            <a:srgbClr val="0A0A0A"/>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555480" y="5029200"/>
            <a:ext cx="1920240" cy="384048"/>
          </a:xfrm>
          <a:prstGeom prst="rect">
            <a:avLst/>
          </a:prstGeom>
          <a:noFill/>
        </p:spPr>
        <p:txBody>
          <a:bodyPr wrap="square"/>
          <a:lstStyle/>
          <a:p>
            <a:pPr algn="ctr">
              <a:defRPr sz="1200" b="0">
                <a:solidFill>
                  <a:srgbClr val="AAAAAA"/>
                </a:solidFill>
                <a:latin typeface="Calibri"/>
              </a:defRPr>
            </a:pPr>
            <a:r>
              <a:t>❌</a:t>
            </a:r>
          </a:p>
        </p:txBody>
      </p:sp>
      <p:sp>
        <p:nvSpPr>
          <p:cNvPr id="114" name="Rectangle 113"/>
          <p:cNvSpPr/>
          <p:nvPr/>
        </p:nvSpPr>
        <p:spPr>
          <a:xfrm>
            <a:off x="548640" y="5431536"/>
            <a:ext cx="25603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40080" y="5431536"/>
            <a:ext cx="2468880" cy="384048"/>
          </a:xfrm>
          <a:prstGeom prst="rect">
            <a:avLst/>
          </a:prstGeom>
          <a:noFill/>
        </p:spPr>
        <p:txBody>
          <a:bodyPr wrap="square"/>
          <a:lstStyle/>
          <a:p>
            <a:pPr algn="l">
              <a:defRPr sz="1100" b="1">
                <a:solidFill>
                  <a:srgbClr val="FFFFFF"/>
                </a:solidFill>
                <a:latin typeface="Calibri"/>
              </a:defRPr>
            </a:pPr>
            <a:r>
              <a:t>FP Rate (research)</a:t>
            </a:r>
          </a:p>
        </p:txBody>
      </p:sp>
      <p:sp>
        <p:nvSpPr>
          <p:cNvPr id="116" name="Rectangle 115"/>
          <p:cNvSpPr/>
          <p:nvPr/>
        </p:nvSpPr>
        <p:spPr>
          <a:xfrm>
            <a:off x="3154680" y="5431536"/>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154680" y="5431536"/>
            <a:ext cx="1645920" cy="384048"/>
          </a:xfrm>
          <a:prstGeom prst="rect">
            <a:avLst/>
          </a:prstGeom>
          <a:noFill/>
        </p:spPr>
        <p:txBody>
          <a:bodyPr wrap="square"/>
          <a:lstStyle/>
          <a:p>
            <a:pPr algn="ctr">
              <a:defRPr sz="1200" b="1">
                <a:solidFill>
                  <a:srgbClr val="00E676"/>
                </a:solidFill>
                <a:latin typeface="Calibri"/>
              </a:defRPr>
            </a:pPr>
            <a:r>
              <a:t>Up to 91%*</a:t>
            </a:r>
          </a:p>
        </p:txBody>
      </p:sp>
      <p:sp>
        <p:nvSpPr>
          <p:cNvPr id="118" name="Rectangle 117"/>
          <p:cNvSpPr/>
          <p:nvPr/>
        </p:nvSpPr>
        <p:spPr>
          <a:xfrm>
            <a:off x="4846320" y="5431536"/>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46320" y="5431536"/>
            <a:ext cx="1463040" cy="384048"/>
          </a:xfrm>
          <a:prstGeom prst="rect">
            <a:avLst/>
          </a:prstGeom>
          <a:noFill/>
        </p:spPr>
        <p:txBody>
          <a:bodyPr wrap="square"/>
          <a:lstStyle/>
          <a:p>
            <a:pPr algn="ctr">
              <a:defRPr sz="1200" b="0">
                <a:solidFill>
                  <a:srgbClr val="AAAAAA"/>
                </a:solidFill>
                <a:latin typeface="Calibri"/>
              </a:defRPr>
            </a:pPr>
            <a:r>
              <a:t>70–90%*</a:t>
            </a:r>
          </a:p>
        </p:txBody>
      </p:sp>
      <p:sp>
        <p:nvSpPr>
          <p:cNvPr id="120" name="Rectangle 119"/>
          <p:cNvSpPr/>
          <p:nvPr/>
        </p:nvSpPr>
        <p:spPr>
          <a:xfrm>
            <a:off x="6355080" y="5431536"/>
            <a:ext cx="14630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355080" y="5431536"/>
            <a:ext cx="1463040" cy="384048"/>
          </a:xfrm>
          <a:prstGeom prst="rect">
            <a:avLst/>
          </a:prstGeom>
          <a:noFill/>
        </p:spPr>
        <p:txBody>
          <a:bodyPr wrap="square"/>
          <a:lstStyle/>
          <a:p>
            <a:pPr algn="ctr">
              <a:defRPr sz="1200" b="0">
                <a:solidFill>
                  <a:srgbClr val="AAAAAA"/>
                </a:solidFill>
                <a:latin typeface="Calibri"/>
              </a:defRPr>
            </a:pPr>
            <a:r>
              <a:t>40–60%*</a:t>
            </a:r>
          </a:p>
        </p:txBody>
      </p:sp>
      <p:sp>
        <p:nvSpPr>
          <p:cNvPr id="122" name="Rectangle 121"/>
          <p:cNvSpPr/>
          <p:nvPr/>
        </p:nvSpPr>
        <p:spPr>
          <a:xfrm>
            <a:off x="7863840" y="5431536"/>
            <a:ext cx="164592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863840" y="5431536"/>
            <a:ext cx="1645920" cy="384048"/>
          </a:xfrm>
          <a:prstGeom prst="rect">
            <a:avLst/>
          </a:prstGeom>
          <a:noFill/>
        </p:spPr>
        <p:txBody>
          <a:bodyPr wrap="square"/>
          <a:lstStyle/>
          <a:p>
            <a:pPr algn="ctr">
              <a:defRPr sz="1200" b="0">
                <a:solidFill>
                  <a:srgbClr val="AAAAAA"/>
                </a:solidFill>
                <a:latin typeface="Calibri"/>
              </a:defRPr>
            </a:pPr>
            <a:r>
              <a:t>50–70%*</a:t>
            </a:r>
          </a:p>
        </p:txBody>
      </p:sp>
      <p:sp>
        <p:nvSpPr>
          <p:cNvPr id="124" name="Rectangle 123"/>
          <p:cNvSpPr/>
          <p:nvPr/>
        </p:nvSpPr>
        <p:spPr>
          <a:xfrm>
            <a:off x="9555480" y="5431536"/>
            <a:ext cx="1920240" cy="384048"/>
          </a:xfrm>
          <a:prstGeom prst="rect">
            <a:avLst/>
          </a:prstGeom>
          <a:solidFill>
            <a:srgbClr val="111111"/>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555480" y="5431536"/>
            <a:ext cx="1920240" cy="384048"/>
          </a:xfrm>
          <a:prstGeom prst="rect">
            <a:avLst/>
          </a:prstGeom>
          <a:noFill/>
        </p:spPr>
        <p:txBody>
          <a:bodyPr wrap="square"/>
          <a:lstStyle/>
          <a:p>
            <a:pPr algn="ctr">
              <a:defRPr sz="1200" b="0">
                <a:solidFill>
                  <a:srgbClr val="AAAAAA"/>
                </a:solidFill>
                <a:latin typeface="Calibri"/>
              </a:defRPr>
            </a:pPr>
            <a:r>
              <a:t>30–50%*</a:t>
            </a:r>
          </a:p>
        </p:txBody>
      </p:sp>
      <p:sp>
        <p:nvSpPr>
          <p:cNvPr id="126" name="TextBox 125"/>
          <p:cNvSpPr txBox="1"/>
          <p:nvPr/>
        </p:nvSpPr>
        <p:spPr>
          <a:xfrm>
            <a:off x="548640" y="5852160"/>
            <a:ext cx="10972800" cy="274320"/>
          </a:xfrm>
          <a:prstGeom prst="rect">
            <a:avLst/>
          </a:prstGeom>
          <a:noFill/>
        </p:spPr>
        <p:txBody>
          <a:bodyPr wrap="square"/>
          <a:lstStyle/>
          <a:p>
            <a:pPr algn="l">
              <a:defRPr sz="900" b="0">
                <a:solidFill>
                  <a:srgbClr val="666666"/>
                </a:solidFill>
                <a:latin typeface="Calibri"/>
              </a:defRPr>
            </a:pPr>
            <a:r>
              <a:t>*FP rates without AI triage, per Ghost Security 2025, NIST SP 500-326. BugBunny's pipeline aims to dramatically reduce this.</a:t>
            </a:r>
          </a:p>
        </p:txBody>
      </p:sp>
      <p:sp>
        <p:nvSpPr>
          <p:cNvPr id="127" name="Rounded Rectangle 126"/>
          <p:cNvSpPr/>
          <p:nvPr/>
        </p:nvSpPr>
        <p:spPr>
          <a:xfrm>
            <a:off x="1828800" y="6126480"/>
            <a:ext cx="8503920" cy="32004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828800" y="6126480"/>
            <a:ext cx="8503920" cy="320040"/>
          </a:xfrm>
          <a:prstGeom prst="rect">
            <a:avLst/>
          </a:prstGeom>
          <a:noFill/>
        </p:spPr>
        <p:txBody>
          <a:bodyPr wrap="square"/>
          <a:lstStyle/>
          <a:p>
            <a:pPr algn="ctr">
              <a:defRPr sz="1300" b="1">
                <a:solidFill>
                  <a:srgbClr val="00E676"/>
                </a:solidFill>
                <a:latin typeface="Calibri"/>
              </a:defRPr>
            </a:pPr>
            <a:r>
              <a:t>BugBunny is the ONLY tool combining SAST + AI triage + targeted DAST + semantic dedup</a:t>
            </a:r>
          </a:p>
        </p:txBody>
      </p:sp>
      <p:sp>
        <p:nvSpPr>
          <p:cNvPr id="129" name="Rectangle 128"/>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31" name="TextBox 130"/>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548640" y="274320"/>
            <a:ext cx="1024128" cy="292608"/>
          </a:xfrm>
          <a:prstGeom prst="roundRect">
            <a:avLst>
              <a:gd name="adj" fmla="val 50000"/>
            </a:avLst>
          </a:prstGeom>
          <a:solidFill>
            <a:srgbClr val="00331A"/>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24128" cy="292608"/>
          </a:xfrm>
          <a:prstGeom prst="rect">
            <a:avLst/>
          </a:prstGeom>
          <a:noFill/>
        </p:spPr>
        <p:txBody>
          <a:bodyPr wrap="square"/>
          <a:lstStyle/>
          <a:p>
            <a:pPr algn="ctr">
              <a:defRPr sz="1000" b="1">
                <a:solidFill>
                  <a:srgbClr val="00E676"/>
                </a:solidFill>
                <a:latin typeface="Calibri"/>
              </a:defRPr>
            </a:pPr>
            <a:r>
              <a:t>IMPACT</a:t>
            </a:r>
          </a:p>
        </p:txBody>
      </p:sp>
      <p:sp>
        <p:nvSpPr>
          <p:cNvPr id="4" name="TextBox 3"/>
          <p:cNvSpPr txBox="1"/>
          <p:nvPr/>
        </p:nvSpPr>
        <p:spPr>
          <a:xfrm>
            <a:off x="548640" y="731520"/>
            <a:ext cx="10972800" cy="640080"/>
          </a:xfrm>
          <a:prstGeom prst="rect">
            <a:avLst/>
          </a:prstGeom>
          <a:noFill/>
        </p:spPr>
        <p:txBody>
          <a:bodyPr wrap="square"/>
          <a:lstStyle/>
          <a:p>
            <a:pPr algn="l">
              <a:defRPr sz="3600" b="1">
                <a:solidFill>
                  <a:srgbClr val="00E676"/>
                </a:solidFill>
                <a:latin typeface="Calibri"/>
              </a:defRPr>
            </a:pPr>
            <a:r>
              <a:t>By the Numbers</a:t>
            </a:r>
          </a:p>
        </p:txBody>
      </p:sp>
      <p:sp>
        <p:nvSpPr>
          <p:cNvPr id="5" name="TextBox 4"/>
          <p:cNvSpPr txBox="1"/>
          <p:nvPr/>
        </p:nvSpPr>
        <p:spPr>
          <a:xfrm>
            <a:off x="548640" y="1280160"/>
            <a:ext cx="10972800" cy="365760"/>
          </a:xfrm>
          <a:prstGeom prst="rect">
            <a:avLst/>
          </a:prstGeom>
          <a:noFill/>
        </p:spPr>
        <p:txBody>
          <a:bodyPr wrap="square"/>
          <a:lstStyle/>
          <a:p>
            <a:pPr algn="l">
              <a:defRPr sz="1600" b="0">
                <a:solidFill>
                  <a:srgbClr val="AAAAAA"/>
                </a:solidFill>
                <a:latin typeface="Calibri"/>
              </a:defRPr>
            </a:pPr>
            <a:r>
              <a:t>Results from our demo pipeline scan</a:t>
            </a:r>
          </a:p>
        </p:txBody>
      </p:sp>
      <p:sp>
        <p:nvSpPr>
          <p:cNvPr id="6" name="Rounded Rectangle 5"/>
          <p:cNvSpPr/>
          <p:nvPr/>
        </p:nvSpPr>
        <p:spPr>
          <a:xfrm>
            <a:off x="365760" y="1920240"/>
            <a:ext cx="2148840" cy="3200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86000"/>
            <a:ext cx="1965960" cy="914400"/>
          </a:xfrm>
          <a:prstGeom prst="rect">
            <a:avLst/>
          </a:prstGeom>
          <a:noFill/>
        </p:spPr>
        <p:txBody>
          <a:bodyPr wrap="square"/>
          <a:lstStyle/>
          <a:p>
            <a:pPr algn="ctr">
              <a:defRPr sz="4000" b="1">
                <a:solidFill>
                  <a:srgbClr val="00E676"/>
                </a:solidFill>
                <a:latin typeface="Calibri"/>
              </a:defRPr>
            </a:pPr>
            <a:r>
              <a:t>86%</a:t>
            </a:r>
          </a:p>
        </p:txBody>
      </p:sp>
      <p:sp>
        <p:nvSpPr>
          <p:cNvPr id="8" name="TextBox 7"/>
          <p:cNvSpPr txBox="1"/>
          <p:nvPr/>
        </p:nvSpPr>
        <p:spPr>
          <a:xfrm>
            <a:off x="457200" y="3291840"/>
            <a:ext cx="1965960" cy="731520"/>
          </a:xfrm>
          <a:prstGeom prst="rect">
            <a:avLst/>
          </a:prstGeom>
          <a:noFill/>
        </p:spPr>
        <p:txBody>
          <a:bodyPr wrap="square"/>
          <a:lstStyle/>
          <a:p>
            <a:pPr algn="ctr">
              <a:defRPr sz="1500" b="1">
                <a:solidFill>
                  <a:srgbClr val="FFFFFF"/>
                </a:solidFill>
                <a:latin typeface="Calibri"/>
              </a:defRPr>
            </a:pPr>
            <a:r>
              <a:t>Noise</a:t>
            </a:r>
            <a:br/>
            <a:r>
              <a:t>Removed</a:t>
            </a:r>
          </a:p>
        </p:txBody>
      </p:sp>
      <p:sp>
        <p:nvSpPr>
          <p:cNvPr id="9" name="TextBox 8"/>
          <p:cNvSpPr txBox="1"/>
          <p:nvPr/>
        </p:nvSpPr>
        <p:spPr>
          <a:xfrm>
            <a:off x="457200" y="4389120"/>
            <a:ext cx="1965960" cy="411480"/>
          </a:xfrm>
          <a:prstGeom prst="rect">
            <a:avLst/>
          </a:prstGeom>
          <a:noFill/>
        </p:spPr>
        <p:txBody>
          <a:bodyPr wrap="square"/>
          <a:lstStyle/>
          <a:p>
            <a:pPr algn="ctr">
              <a:defRPr sz="1100" b="0">
                <a:solidFill>
                  <a:srgbClr val="AAAAAA"/>
                </a:solidFill>
                <a:latin typeface="Calibri"/>
              </a:defRPr>
            </a:pPr>
            <a:r>
              <a:t>75 of 87 findings eliminated</a:t>
            </a:r>
          </a:p>
        </p:txBody>
      </p:sp>
      <p:sp>
        <p:nvSpPr>
          <p:cNvPr id="10" name="Rounded Rectangle 9"/>
          <p:cNvSpPr/>
          <p:nvPr/>
        </p:nvSpPr>
        <p:spPr>
          <a:xfrm>
            <a:off x="2697479" y="1920240"/>
            <a:ext cx="2148840" cy="3200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19" y="2286000"/>
            <a:ext cx="1965960" cy="914400"/>
          </a:xfrm>
          <a:prstGeom prst="rect">
            <a:avLst/>
          </a:prstGeom>
          <a:noFill/>
        </p:spPr>
        <p:txBody>
          <a:bodyPr wrap="square"/>
          <a:lstStyle/>
          <a:p>
            <a:pPr algn="ctr">
              <a:defRPr sz="4000" b="1">
                <a:solidFill>
                  <a:srgbClr val="00E676"/>
                </a:solidFill>
                <a:latin typeface="Calibri"/>
              </a:defRPr>
            </a:pPr>
            <a:r>
              <a:t>12</a:t>
            </a:r>
          </a:p>
        </p:txBody>
      </p:sp>
      <p:sp>
        <p:nvSpPr>
          <p:cNvPr id="12" name="TextBox 11"/>
          <p:cNvSpPr txBox="1"/>
          <p:nvPr/>
        </p:nvSpPr>
        <p:spPr>
          <a:xfrm>
            <a:off x="2788919" y="3291840"/>
            <a:ext cx="1965960" cy="731520"/>
          </a:xfrm>
          <a:prstGeom prst="rect">
            <a:avLst/>
          </a:prstGeom>
          <a:noFill/>
        </p:spPr>
        <p:txBody>
          <a:bodyPr wrap="square"/>
          <a:lstStyle/>
          <a:p>
            <a:pPr algn="ctr">
              <a:defRPr sz="1500" b="1">
                <a:solidFill>
                  <a:srgbClr val="FFFFFF"/>
                </a:solidFill>
                <a:latin typeface="Calibri"/>
              </a:defRPr>
            </a:pPr>
            <a:r>
              <a:t>Confirmed</a:t>
            </a:r>
            <a:br/>
            <a:r>
              <a:t>Vulnerabilities</a:t>
            </a:r>
          </a:p>
        </p:txBody>
      </p:sp>
      <p:sp>
        <p:nvSpPr>
          <p:cNvPr id="13" name="TextBox 12"/>
          <p:cNvSpPr txBox="1"/>
          <p:nvPr/>
        </p:nvSpPr>
        <p:spPr>
          <a:xfrm>
            <a:off x="2788919" y="4389120"/>
            <a:ext cx="1965960" cy="411480"/>
          </a:xfrm>
          <a:prstGeom prst="rect">
            <a:avLst/>
          </a:prstGeom>
          <a:noFill/>
        </p:spPr>
        <p:txBody>
          <a:bodyPr wrap="square"/>
          <a:lstStyle/>
          <a:p>
            <a:pPr algn="ctr">
              <a:defRPr sz="1100" b="0">
                <a:solidFill>
                  <a:srgbClr val="AAAAAA"/>
                </a:solidFill>
                <a:latin typeface="Calibri"/>
              </a:defRPr>
            </a:pPr>
            <a:r>
              <a:t>Each with AI reasoning</a:t>
            </a:r>
          </a:p>
        </p:txBody>
      </p:sp>
      <p:sp>
        <p:nvSpPr>
          <p:cNvPr id="14" name="Rounded Rectangle 13"/>
          <p:cNvSpPr/>
          <p:nvPr/>
        </p:nvSpPr>
        <p:spPr>
          <a:xfrm>
            <a:off x="5029200" y="1920240"/>
            <a:ext cx="2148840" cy="3200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2286000"/>
            <a:ext cx="1965960" cy="914400"/>
          </a:xfrm>
          <a:prstGeom prst="rect">
            <a:avLst/>
          </a:prstGeom>
          <a:noFill/>
        </p:spPr>
        <p:txBody>
          <a:bodyPr wrap="square"/>
          <a:lstStyle/>
          <a:p>
            <a:pPr algn="ctr">
              <a:defRPr sz="4000" b="1">
                <a:solidFill>
                  <a:srgbClr val="00E676"/>
                </a:solidFill>
                <a:latin typeface="Calibri"/>
              </a:defRPr>
            </a:pPr>
            <a:r>
              <a:t>7</a:t>
            </a:r>
          </a:p>
        </p:txBody>
      </p:sp>
      <p:sp>
        <p:nvSpPr>
          <p:cNvPr id="16" name="TextBox 15"/>
          <p:cNvSpPr txBox="1"/>
          <p:nvPr/>
        </p:nvSpPr>
        <p:spPr>
          <a:xfrm>
            <a:off x="5120640" y="3291840"/>
            <a:ext cx="1965960" cy="731520"/>
          </a:xfrm>
          <a:prstGeom prst="rect">
            <a:avLst/>
          </a:prstGeom>
          <a:noFill/>
        </p:spPr>
        <p:txBody>
          <a:bodyPr wrap="square"/>
          <a:lstStyle/>
          <a:p>
            <a:pPr algn="ctr">
              <a:defRPr sz="1500" b="1">
                <a:solidFill>
                  <a:srgbClr val="FFFFFF"/>
                </a:solidFill>
                <a:latin typeface="Calibri"/>
              </a:defRPr>
            </a:pPr>
            <a:r>
              <a:t>Pipeline</a:t>
            </a:r>
            <a:br/>
            <a:r>
              <a:t>Stages</a:t>
            </a:r>
          </a:p>
        </p:txBody>
      </p:sp>
      <p:sp>
        <p:nvSpPr>
          <p:cNvPr id="17" name="TextBox 16"/>
          <p:cNvSpPr txBox="1"/>
          <p:nvPr/>
        </p:nvSpPr>
        <p:spPr>
          <a:xfrm>
            <a:off x="5120640" y="4389120"/>
            <a:ext cx="1965960" cy="411480"/>
          </a:xfrm>
          <a:prstGeom prst="rect">
            <a:avLst/>
          </a:prstGeom>
          <a:noFill/>
        </p:spPr>
        <p:txBody>
          <a:bodyPr wrap="square"/>
          <a:lstStyle/>
          <a:p>
            <a:pPr algn="ctr">
              <a:defRPr sz="1100" b="0">
                <a:solidFill>
                  <a:srgbClr val="AAAAAA"/>
                </a:solidFill>
                <a:latin typeface="Calibri"/>
              </a:defRPr>
            </a:pPr>
            <a:r>
              <a:t>SAST to report</a:t>
            </a:r>
          </a:p>
        </p:txBody>
      </p:sp>
      <p:sp>
        <p:nvSpPr>
          <p:cNvPr id="18" name="Rounded Rectangle 17"/>
          <p:cNvSpPr/>
          <p:nvPr/>
        </p:nvSpPr>
        <p:spPr>
          <a:xfrm>
            <a:off x="7360919" y="1920240"/>
            <a:ext cx="2148840" cy="3200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59" y="2286000"/>
            <a:ext cx="1965960" cy="914400"/>
          </a:xfrm>
          <a:prstGeom prst="rect">
            <a:avLst/>
          </a:prstGeom>
          <a:noFill/>
        </p:spPr>
        <p:txBody>
          <a:bodyPr wrap="square"/>
          <a:lstStyle/>
          <a:p>
            <a:pPr algn="ctr">
              <a:defRPr sz="4000" b="1">
                <a:solidFill>
                  <a:srgbClr val="00E676"/>
                </a:solidFill>
                <a:latin typeface="Calibri"/>
              </a:defRPr>
            </a:pPr>
            <a:r>
              <a:t>&lt; 5 min</a:t>
            </a:r>
          </a:p>
        </p:txBody>
      </p:sp>
      <p:sp>
        <p:nvSpPr>
          <p:cNvPr id="20" name="TextBox 19"/>
          <p:cNvSpPr txBox="1"/>
          <p:nvPr/>
        </p:nvSpPr>
        <p:spPr>
          <a:xfrm>
            <a:off x="7452359" y="3291840"/>
            <a:ext cx="1965960" cy="731520"/>
          </a:xfrm>
          <a:prstGeom prst="rect">
            <a:avLst/>
          </a:prstGeom>
          <a:noFill/>
        </p:spPr>
        <p:txBody>
          <a:bodyPr wrap="square"/>
          <a:lstStyle/>
          <a:p>
            <a:pPr algn="ctr">
              <a:defRPr sz="1500" b="1">
                <a:solidFill>
                  <a:srgbClr val="FFFFFF"/>
                </a:solidFill>
                <a:latin typeface="Calibri"/>
              </a:defRPr>
            </a:pPr>
            <a:r>
              <a:t>End-to-End</a:t>
            </a:r>
            <a:br/>
            <a:r>
              <a:t>Scan Time</a:t>
            </a:r>
          </a:p>
        </p:txBody>
      </p:sp>
      <p:sp>
        <p:nvSpPr>
          <p:cNvPr id="21" name="TextBox 20"/>
          <p:cNvSpPr txBox="1"/>
          <p:nvPr/>
        </p:nvSpPr>
        <p:spPr>
          <a:xfrm>
            <a:off x="7452359" y="4389120"/>
            <a:ext cx="1965960" cy="411480"/>
          </a:xfrm>
          <a:prstGeom prst="rect">
            <a:avLst/>
          </a:prstGeom>
          <a:noFill/>
        </p:spPr>
        <p:txBody>
          <a:bodyPr wrap="square"/>
          <a:lstStyle/>
          <a:p>
            <a:pPr algn="ctr">
              <a:defRPr sz="1100" b="0">
                <a:solidFill>
                  <a:srgbClr val="AAAAAA"/>
                </a:solidFill>
                <a:latin typeface="Calibri"/>
              </a:defRPr>
            </a:pPr>
            <a:r>
              <a:t>Full pipeline</a:t>
            </a:r>
          </a:p>
        </p:txBody>
      </p:sp>
      <p:sp>
        <p:nvSpPr>
          <p:cNvPr id="22" name="Rounded Rectangle 21"/>
          <p:cNvSpPr/>
          <p:nvPr/>
        </p:nvSpPr>
        <p:spPr>
          <a:xfrm>
            <a:off x="9692640" y="1920240"/>
            <a:ext cx="2148840" cy="320040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2286000"/>
            <a:ext cx="1965960" cy="914400"/>
          </a:xfrm>
          <a:prstGeom prst="rect">
            <a:avLst/>
          </a:prstGeom>
          <a:noFill/>
        </p:spPr>
        <p:txBody>
          <a:bodyPr wrap="square"/>
          <a:lstStyle/>
          <a:p>
            <a:pPr algn="ctr">
              <a:defRPr sz="4000" b="1">
                <a:solidFill>
                  <a:srgbClr val="00E676"/>
                </a:solidFill>
                <a:latin typeface="Calibri"/>
              </a:defRPr>
            </a:pPr>
            <a:r>
              <a:t>3+ hrs</a:t>
            </a:r>
          </a:p>
        </p:txBody>
      </p:sp>
      <p:sp>
        <p:nvSpPr>
          <p:cNvPr id="24" name="TextBox 23"/>
          <p:cNvSpPr txBox="1"/>
          <p:nvPr/>
        </p:nvSpPr>
        <p:spPr>
          <a:xfrm>
            <a:off x="9784080" y="3291840"/>
            <a:ext cx="1965960" cy="731520"/>
          </a:xfrm>
          <a:prstGeom prst="rect">
            <a:avLst/>
          </a:prstGeom>
          <a:noFill/>
        </p:spPr>
        <p:txBody>
          <a:bodyPr wrap="square"/>
          <a:lstStyle/>
          <a:p>
            <a:pPr algn="ctr">
              <a:defRPr sz="1500" b="1">
                <a:solidFill>
                  <a:srgbClr val="FFFFFF"/>
                </a:solidFill>
                <a:latin typeface="Calibri"/>
              </a:defRPr>
            </a:pPr>
            <a:r>
              <a:t>Per FP</a:t>
            </a:r>
            <a:br/>
            <a:r>
              <a:t>Manual Review</a:t>
            </a:r>
          </a:p>
        </p:txBody>
      </p:sp>
      <p:sp>
        <p:nvSpPr>
          <p:cNvPr id="25" name="TextBox 24"/>
          <p:cNvSpPr txBox="1"/>
          <p:nvPr/>
        </p:nvSpPr>
        <p:spPr>
          <a:xfrm>
            <a:off x="9784080" y="4389120"/>
            <a:ext cx="1965960" cy="411480"/>
          </a:xfrm>
          <a:prstGeom prst="rect">
            <a:avLst/>
          </a:prstGeom>
          <a:noFill/>
        </p:spPr>
        <p:txBody>
          <a:bodyPr wrap="square"/>
          <a:lstStyle/>
          <a:p>
            <a:pPr algn="ctr">
              <a:defRPr sz="1100" b="0">
                <a:solidFill>
                  <a:srgbClr val="AAAAAA"/>
                </a:solidFill>
                <a:latin typeface="Calibri"/>
              </a:defRPr>
            </a:pPr>
            <a:r>
              <a:t>Contrast Security, 2021</a:t>
            </a:r>
          </a:p>
        </p:txBody>
      </p:sp>
      <p:sp>
        <p:nvSpPr>
          <p:cNvPr id="26" name="Rounded Rectangle 25"/>
          <p:cNvSpPr/>
          <p:nvPr/>
        </p:nvSpPr>
        <p:spPr>
          <a:xfrm>
            <a:off x="914400" y="5394960"/>
            <a:ext cx="10332720" cy="822960"/>
          </a:xfrm>
          <a:prstGeom prst="roundRect">
            <a:avLst>
              <a:gd name="adj" fmla="val 2000"/>
            </a:avLst>
          </a:prstGeom>
          <a:solidFill>
            <a:srgbClr val="111111"/>
          </a:solidFill>
          <a:ln w="1905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440680"/>
            <a:ext cx="9966960" cy="731520"/>
          </a:xfrm>
          <a:prstGeom prst="rect">
            <a:avLst/>
          </a:prstGeom>
          <a:noFill/>
        </p:spPr>
        <p:txBody>
          <a:bodyPr wrap="square"/>
          <a:lstStyle/>
          <a:p>
            <a:pPr algn="ctr">
              <a:spcBef>
                <a:spcPts val="0"/>
              </a:spcBef>
              <a:spcAft>
                <a:spcPts val="400"/>
              </a:spcAft>
              <a:defRPr sz="1300" b="0">
                <a:solidFill>
                  <a:srgbClr val="FFFFFF"/>
                </a:solidFill>
                <a:latin typeface="Calibri"/>
              </a:defRPr>
            </a:pPr>
            <a:r>
              <a:t>If Contrast Security's research holds (3+ hrs per false positive), eliminating 75 false positives</a:t>
            </a:r>
          </a:p>
          <a:p>
            <a:pPr algn="ctr">
              <a:spcBef>
                <a:spcPts val="0"/>
              </a:spcBef>
              <a:spcAft>
                <a:spcPts val="400"/>
              </a:spcAft>
              <a:defRPr sz="1500" b="1">
                <a:solidFill>
                  <a:srgbClr val="00E676"/>
                </a:solidFill>
                <a:latin typeface="Calibri"/>
              </a:defRPr>
            </a:pPr>
            <a:r>
              <a:t>saves 225+ hours of manual security review per scan cycle</a:t>
            </a:r>
          </a:p>
        </p:txBody>
      </p:sp>
      <p:sp>
        <p:nvSpPr>
          <p:cNvPr id="28" name="Rectangle 27"/>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30" name="TextBox 29"/>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184648" y="548640"/>
            <a:ext cx="1828800" cy="1828800"/>
          </a:xfrm>
          <a:prstGeom prst="rect">
            <a:avLst/>
          </a:prstGeom>
        </p:spPr>
      </p:pic>
      <p:sp>
        <p:nvSpPr>
          <p:cNvPr id="4" name="TextBox 3"/>
          <p:cNvSpPr txBox="1"/>
          <p:nvPr/>
        </p:nvSpPr>
        <p:spPr>
          <a:xfrm>
            <a:off x="914400" y="2560320"/>
            <a:ext cx="10362895" cy="731520"/>
          </a:xfrm>
          <a:prstGeom prst="rect">
            <a:avLst/>
          </a:prstGeom>
          <a:noFill/>
        </p:spPr>
        <p:txBody>
          <a:bodyPr wrap="square"/>
          <a:lstStyle/>
          <a:p>
            <a:pPr algn="ctr">
              <a:defRPr sz="4800" b="1">
                <a:solidFill>
                  <a:srgbClr val="00E676"/>
                </a:solidFill>
                <a:latin typeface="Calibri"/>
              </a:defRPr>
            </a:pPr>
            <a:r>
              <a:t>BugBunny</a:t>
            </a:r>
          </a:p>
        </p:txBody>
      </p:sp>
      <p:sp>
        <p:nvSpPr>
          <p:cNvPr id="5" name="TextBox 4"/>
          <p:cNvSpPr txBox="1"/>
          <p:nvPr/>
        </p:nvSpPr>
        <p:spPr>
          <a:xfrm>
            <a:off x="914400" y="3291840"/>
            <a:ext cx="10362895" cy="548640"/>
          </a:xfrm>
          <a:prstGeom prst="rect">
            <a:avLst/>
          </a:prstGeom>
          <a:noFill/>
        </p:spPr>
        <p:txBody>
          <a:bodyPr wrap="square"/>
          <a:lstStyle/>
          <a:p>
            <a:pPr algn="ctr">
              <a:defRPr sz="2600" b="1">
                <a:solidFill>
                  <a:srgbClr val="FFFFFF"/>
                </a:solidFill>
                <a:latin typeface="Calibri"/>
              </a:defRPr>
            </a:pPr>
            <a:r>
              <a:t>Static Analysis That Actually Works</a:t>
            </a:r>
          </a:p>
        </p:txBody>
      </p:sp>
      <p:sp>
        <p:nvSpPr>
          <p:cNvPr id="6" name="TextBox 5"/>
          <p:cNvSpPr txBox="1"/>
          <p:nvPr/>
        </p:nvSpPr>
        <p:spPr>
          <a:xfrm>
            <a:off x="914400" y="4023360"/>
            <a:ext cx="10362895" cy="365760"/>
          </a:xfrm>
          <a:prstGeom prst="rect">
            <a:avLst/>
          </a:prstGeom>
          <a:noFill/>
        </p:spPr>
        <p:txBody>
          <a:bodyPr wrap="square"/>
          <a:lstStyle/>
          <a:p>
            <a:pPr algn="ctr">
              <a:defRPr sz="1600" b="1">
                <a:solidFill>
                  <a:srgbClr val="00E676"/>
                </a:solidFill>
                <a:latin typeface="Calibri"/>
              </a:defRPr>
            </a:pPr>
            <a:r>
              <a:t>What's Next</a:t>
            </a:r>
          </a:p>
        </p:txBody>
      </p:sp>
      <p:sp>
        <p:nvSpPr>
          <p:cNvPr id="7" name="TextBox 6"/>
          <p:cNvSpPr txBox="1"/>
          <p:nvPr/>
        </p:nvSpPr>
        <p:spPr>
          <a:xfrm>
            <a:off x="2743200" y="4389120"/>
            <a:ext cx="6675120" cy="301752"/>
          </a:xfrm>
          <a:prstGeom prst="rect">
            <a:avLst/>
          </a:prstGeom>
          <a:noFill/>
        </p:spPr>
        <p:txBody>
          <a:bodyPr wrap="square"/>
          <a:lstStyle/>
          <a:p>
            <a:pPr algn="l">
              <a:defRPr sz="1300" b="0">
                <a:solidFill>
                  <a:srgbClr val="AAAAAA"/>
                </a:solidFill>
                <a:latin typeface="Calibri"/>
              </a:defRPr>
            </a:pPr>
            <a:r>
              <a:t>→  IDE plugins (VS Code, IntelliJ) for real-time scanning</a:t>
            </a:r>
          </a:p>
        </p:txBody>
      </p:sp>
      <p:sp>
        <p:nvSpPr>
          <p:cNvPr id="8" name="TextBox 7"/>
          <p:cNvSpPr txBox="1"/>
          <p:nvPr/>
        </p:nvSpPr>
        <p:spPr>
          <a:xfrm>
            <a:off x="2743200" y="4709159"/>
            <a:ext cx="6675120" cy="301752"/>
          </a:xfrm>
          <a:prstGeom prst="rect">
            <a:avLst/>
          </a:prstGeom>
          <a:noFill/>
        </p:spPr>
        <p:txBody>
          <a:bodyPr wrap="square"/>
          <a:lstStyle/>
          <a:p>
            <a:pPr algn="l">
              <a:defRPr sz="1300" b="0">
                <a:solidFill>
                  <a:srgbClr val="AAAAAA"/>
                </a:solidFill>
                <a:latin typeface="Calibri"/>
              </a:defRPr>
            </a:pPr>
            <a:r>
              <a:t>→  CI/CD pipeline integration (GitHub Actions, GitLab CI)</a:t>
            </a:r>
          </a:p>
        </p:txBody>
      </p:sp>
      <p:sp>
        <p:nvSpPr>
          <p:cNvPr id="9" name="TextBox 8"/>
          <p:cNvSpPr txBox="1"/>
          <p:nvPr/>
        </p:nvSpPr>
        <p:spPr>
          <a:xfrm>
            <a:off x="2743200" y="5029200"/>
            <a:ext cx="6675120" cy="301752"/>
          </a:xfrm>
          <a:prstGeom prst="rect">
            <a:avLst/>
          </a:prstGeom>
          <a:noFill/>
        </p:spPr>
        <p:txBody>
          <a:bodyPr wrap="square"/>
          <a:lstStyle/>
          <a:p>
            <a:pPr algn="l">
              <a:defRPr sz="1300" b="0">
                <a:solidFill>
                  <a:srgbClr val="AAAAAA"/>
                </a:solidFill>
                <a:latin typeface="Calibri"/>
              </a:defRPr>
            </a:pPr>
            <a:r>
              <a:t>→  Multi-repo organizational dashboards</a:t>
            </a:r>
          </a:p>
        </p:txBody>
      </p:sp>
      <p:sp>
        <p:nvSpPr>
          <p:cNvPr id="10" name="TextBox 9"/>
          <p:cNvSpPr txBox="1"/>
          <p:nvPr/>
        </p:nvSpPr>
        <p:spPr>
          <a:xfrm>
            <a:off x="2743200" y="5349240"/>
            <a:ext cx="6675120" cy="301752"/>
          </a:xfrm>
          <a:prstGeom prst="rect">
            <a:avLst/>
          </a:prstGeom>
          <a:noFill/>
        </p:spPr>
        <p:txBody>
          <a:bodyPr wrap="square"/>
          <a:lstStyle/>
          <a:p>
            <a:pPr algn="l">
              <a:defRPr sz="1300" b="0">
                <a:solidFill>
                  <a:srgbClr val="AAAAAA"/>
                </a:solidFill>
                <a:latin typeface="Calibri"/>
              </a:defRPr>
            </a:pPr>
            <a:r>
              <a:t>→  Custom rule engine for industry-specific compliance</a:t>
            </a:r>
          </a:p>
        </p:txBody>
      </p:sp>
      <p:sp>
        <p:nvSpPr>
          <p:cNvPr id="11" name="TextBox 10"/>
          <p:cNvSpPr txBox="1"/>
          <p:nvPr/>
        </p:nvSpPr>
        <p:spPr>
          <a:xfrm>
            <a:off x="914400" y="5760720"/>
            <a:ext cx="10362895" cy="457200"/>
          </a:xfrm>
          <a:prstGeom prst="rect">
            <a:avLst/>
          </a:prstGeom>
          <a:noFill/>
        </p:spPr>
        <p:txBody>
          <a:bodyPr wrap="square"/>
          <a:lstStyle/>
          <a:p>
            <a:pPr algn="ctr">
              <a:defRPr sz="2400" b="1">
                <a:solidFill>
                  <a:srgbClr val="FFFFFF"/>
                </a:solidFill>
                <a:latin typeface="Calibri"/>
              </a:defRPr>
            </a:pPr>
            <a:r>
              <a:t>Team CSIS</a:t>
            </a:r>
          </a:p>
        </p:txBody>
      </p:sp>
      <p:sp>
        <p:nvSpPr>
          <p:cNvPr id="12" name="Rounded Rectangle 11"/>
          <p:cNvSpPr/>
          <p:nvPr/>
        </p:nvSpPr>
        <p:spPr>
          <a:xfrm>
            <a:off x="4754880" y="6263640"/>
            <a:ext cx="2743200" cy="411480"/>
          </a:xfrm>
          <a:prstGeom prst="roundRect">
            <a:avLst>
              <a:gd name="adj" fmla="val 50000"/>
            </a:avLst>
          </a:prstGeom>
          <a:solidFill>
            <a:srgbClr val="00E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6263640"/>
            <a:ext cx="2743200" cy="411480"/>
          </a:xfrm>
          <a:prstGeom prst="rect">
            <a:avLst/>
          </a:prstGeom>
          <a:noFill/>
        </p:spPr>
        <p:txBody>
          <a:bodyPr wrap="square"/>
          <a:lstStyle/>
          <a:p>
            <a:pPr algn="ctr">
              <a:defRPr sz="1800" b="1">
                <a:solidFill>
                  <a:srgbClr val="000000"/>
                </a:solidFill>
                <a:latin typeface="Calibri"/>
              </a:defRPr>
            </a:pPr>
            <a:r>
              <a:t>Questions?</a:t>
            </a:r>
          </a:p>
        </p:txBody>
      </p:sp>
      <p:sp>
        <p:nvSpPr>
          <p:cNvPr id="14" name="Rectangle 13"/>
          <p:cNvSpPr/>
          <p:nvPr/>
        </p:nvSpPr>
        <p:spPr>
          <a:xfrm>
            <a:off x="0" y="6446520"/>
            <a:ext cx="12191695" cy="4114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73952"/>
            <a:ext cx="10972800" cy="320040"/>
          </a:xfrm>
          <a:prstGeom prst="rect">
            <a:avLst/>
          </a:prstGeom>
          <a:noFill/>
        </p:spPr>
        <p:txBody>
          <a:bodyPr wrap="square"/>
          <a:lstStyle/>
          <a:p>
            <a:pPr algn="ctr">
              <a:defRPr sz="1000" b="0">
                <a:solidFill>
                  <a:srgbClr val="AAAAAA"/>
                </a:solidFill>
                <a:latin typeface="Calibri"/>
              </a:defRPr>
            </a:pPr>
            <a:r>
              <a:t>Team CSIS  |  BugBunny  |  Unifonic AI Hackathon 2025</a:t>
            </a:r>
          </a:p>
        </p:txBody>
      </p:sp>
      <p:sp>
        <p:nvSpPr>
          <p:cNvPr id="16" name="TextBox 15"/>
          <p:cNvSpPr txBox="1"/>
          <p:nvPr/>
        </p:nvSpPr>
        <p:spPr>
          <a:xfrm>
            <a:off x="11430000" y="6473952"/>
            <a:ext cx="640080" cy="320040"/>
          </a:xfrm>
          <a:prstGeom prst="rect">
            <a:avLst/>
          </a:prstGeom>
          <a:noFill/>
        </p:spPr>
        <p:txBody>
          <a:bodyPr wrap="square"/>
          <a:lstStyle/>
          <a:p>
            <a:pPr algn="r">
              <a:defRPr sz="1000" b="0">
                <a:solidFill>
                  <a:srgbClr val="AAAAAA"/>
                </a:solidFill>
                <a:latin typeface="Calibri"/>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